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3"/>
  </p:notesMasterIdLst>
  <p:sldIdLst>
    <p:sldId id="256" r:id="rId2"/>
    <p:sldId id="273" r:id="rId3"/>
    <p:sldId id="271" r:id="rId4"/>
    <p:sldId id="257" r:id="rId5"/>
    <p:sldId id="258" r:id="rId6"/>
    <p:sldId id="274" r:id="rId7"/>
    <p:sldId id="277" r:id="rId8"/>
    <p:sldId id="259" r:id="rId9"/>
    <p:sldId id="260" r:id="rId10"/>
    <p:sldId id="275" r:id="rId11"/>
    <p:sldId id="276" r:id="rId12"/>
    <p:sldId id="266" r:id="rId13"/>
    <p:sldId id="268"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70" r:id="rId32"/>
  </p:sldIdLst>
  <p:sldSz cx="18288000" cy="10287000"/>
  <p:notesSz cx="6858000" cy="9144000"/>
  <p:embeddedFontLst>
    <p:embeddedFont>
      <p:font typeface="Museo Moderno Bold" panose="020B0604020202020204" charset="0"/>
      <p:regular r:id="rId34"/>
    </p:embeddedFont>
    <p:embeddedFont>
      <p:font typeface="Poppins Bold" panose="00000800000000000000" charset="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696" y="32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DEB004-4B5C-4454-B643-FCA38E57E97F}" type="datetimeFigureOut">
              <a:rPr lang="en-US" smtClean="0"/>
              <a:t>9/5/2026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7EED0E-2014-43BC-BE31-5AC18268270A}" type="slidenum">
              <a:rPr lang="en-US" smtClean="0"/>
              <a:t>‹#›</a:t>
            </a:fld>
            <a:endParaRPr lang="en-US"/>
          </a:p>
        </p:txBody>
      </p:sp>
    </p:spTree>
    <p:extLst>
      <p:ext uri="{BB962C8B-B14F-4D97-AF65-F5344CB8AC3E}">
        <p14:creationId xmlns:p14="http://schemas.microsoft.com/office/powerpoint/2010/main" val="2374576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81B3D-27E2-9FDE-8C88-9717437E71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48F4A2-61B1-D73C-1D91-EB59CFBD3B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9DB931-4631-5110-1F26-D1A4C11542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6C3006-1D17-A53D-8081-4DC16452A225}"/>
              </a:ext>
            </a:extLst>
          </p:cNvPr>
          <p:cNvSpPr>
            <a:spLocks noGrp="1"/>
          </p:cNvSpPr>
          <p:nvPr>
            <p:ph type="sldNum" sz="quarter" idx="5"/>
          </p:nvPr>
        </p:nvSpPr>
        <p:spPr/>
        <p:txBody>
          <a:bodyPr/>
          <a:lstStyle/>
          <a:p>
            <a:fld id="{177EED0E-2014-43BC-BE31-5AC18268270A}" type="slidenum">
              <a:rPr lang="en-US" smtClean="0"/>
              <a:t>2</a:t>
            </a:fld>
            <a:endParaRPr lang="en-US"/>
          </a:p>
        </p:txBody>
      </p:sp>
    </p:spTree>
    <p:extLst>
      <p:ext uri="{BB962C8B-B14F-4D97-AF65-F5344CB8AC3E}">
        <p14:creationId xmlns:p14="http://schemas.microsoft.com/office/powerpoint/2010/main" val="2502463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EED0E-2014-43BC-BE31-5AC18268270A}" type="slidenum">
              <a:rPr lang="en-US" smtClean="0"/>
              <a:t>3</a:t>
            </a:fld>
            <a:endParaRPr lang="en-US"/>
          </a:p>
        </p:txBody>
      </p:sp>
    </p:spTree>
    <p:extLst>
      <p:ext uri="{BB962C8B-B14F-4D97-AF65-F5344CB8AC3E}">
        <p14:creationId xmlns:p14="http://schemas.microsoft.com/office/powerpoint/2010/main" val="4177718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1. Structured Data</a:t>
            </a:r>
          </a:p>
          <a:p>
            <a:r>
              <a:rPr lang="en-US" sz="1200" kern="1200" dirty="0">
                <a:solidFill>
                  <a:schemeClr val="tx1"/>
                </a:solidFill>
                <a:effectLst/>
                <a:latin typeface="+mn-lt"/>
                <a:ea typeface="+mn-ea"/>
                <a:cs typeface="+mn-cs"/>
              </a:rPr>
              <a:t>Structured data is organized into predefined fields or columns. Examples include databases, spreadsheets, and CSV files. It is commonly used for classification, regression, prediction, and clustering.</a:t>
            </a:r>
          </a:p>
          <a:p>
            <a:r>
              <a:rPr lang="en-US" sz="1200" b="1" kern="1200" dirty="0">
                <a:solidFill>
                  <a:schemeClr val="tx1"/>
                </a:solidFill>
                <a:effectLst/>
                <a:latin typeface="+mn-lt"/>
                <a:ea typeface="+mn-ea"/>
                <a:cs typeface="+mn-cs"/>
              </a:rPr>
              <a:t>2. Unstructured Text Data</a:t>
            </a:r>
          </a:p>
          <a:p>
            <a:r>
              <a:rPr lang="en-US" sz="1200" kern="1200" dirty="0">
                <a:solidFill>
                  <a:schemeClr val="tx1"/>
                </a:solidFill>
                <a:effectLst/>
                <a:latin typeface="+mn-lt"/>
                <a:ea typeface="+mn-ea"/>
                <a:cs typeface="+mn-cs"/>
              </a:rPr>
              <a:t>Examples include survey responses, social media posts, student feedback, documents, news articles, and customer reviews. This type of data is commonly used in NLP.</a:t>
            </a:r>
          </a:p>
          <a:p>
            <a:r>
              <a:rPr lang="en-US" sz="1200" b="1" kern="1200" dirty="0">
                <a:solidFill>
                  <a:schemeClr val="tx1"/>
                </a:solidFill>
                <a:effectLst/>
                <a:latin typeface="+mn-lt"/>
                <a:ea typeface="+mn-ea"/>
                <a:cs typeface="+mn-cs"/>
              </a:rPr>
              <a:t>3. Semi-Structured Data</a:t>
            </a:r>
          </a:p>
          <a:p>
            <a:r>
              <a:rPr lang="en-US" sz="1200" kern="1200" dirty="0">
                <a:solidFill>
                  <a:schemeClr val="tx1"/>
                </a:solidFill>
                <a:effectLst/>
                <a:latin typeface="+mn-lt"/>
                <a:ea typeface="+mn-ea"/>
                <a:cs typeface="+mn-cs"/>
              </a:rPr>
              <a:t>Semi-structured data contains some organizational structure but does not follow a traditional relational database format. Examples include JSON, XML, API responses, and log files.</a:t>
            </a:r>
          </a:p>
          <a:p>
            <a:r>
              <a:rPr lang="en-US" sz="1200" b="1" kern="1200" dirty="0">
                <a:solidFill>
                  <a:schemeClr val="tx1"/>
                </a:solidFill>
                <a:effectLst/>
                <a:latin typeface="+mn-lt"/>
                <a:ea typeface="+mn-ea"/>
                <a:cs typeface="+mn-cs"/>
              </a:rPr>
              <a:t>4. Image Data</a:t>
            </a:r>
          </a:p>
          <a:p>
            <a:r>
              <a:rPr lang="en-US" sz="1200" kern="1200" dirty="0">
                <a:solidFill>
                  <a:schemeClr val="tx1"/>
                </a:solidFill>
                <a:effectLst/>
                <a:latin typeface="+mn-lt"/>
                <a:ea typeface="+mn-ea"/>
                <a:cs typeface="+mn-cs"/>
              </a:rPr>
              <a:t>Examples include plant leaf images, medical images, handwritten characters, and other visual data used in Computer Vision.</a:t>
            </a:r>
          </a:p>
          <a:p>
            <a:r>
              <a:rPr lang="en-US" sz="1200" b="1" kern="1200" dirty="0">
                <a:solidFill>
                  <a:schemeClr val="tx1"/>
                </a:solidFill>
                <a:effectLst/>
                <a:latin typeface="+mn-lt"/>
                <a:ea typeface="+mn-ea"/>
                <a:cs typeface="+mn-cs"/>
              </a:rPr>
              <a:t>5. Time-Series Data</a:t>
            </a:r>
          </a:p>
          <a:p>
            <a:r>
              <a:rPr lang="en-US" sz="1200" kern="1200" dirty="0">
                <a:solidFill>
                  <a:schemeClr val="tx1"/>
                </a:solidFill>
                <a:effectLst/>
                <a:latin typeface="+mn-lt"/>
                <a:ea typeface="+mn-ea"/>
                <a:cs typeface="+mn-cs"/>
              </a:rPr>
              <a:t>Time-series data is collected over time. Examples include daily rainfall, monthly enrollment, and temperature records. Common applications include forecasting, trend analysis, and anomaly detection.</a:t>
            </a:r>
          </a:p>
          <a:p>
            <a:endParaRPr lang="en-US" dirty="0"/>
          </a:p>
        </p:txBody>
      </p:sp>
      <p:sp>
        <p:nvSpPr>
          <p:cNvPr id="4" name="Slide Number Placeholder 3"/>
          <p:cNvSpPr>
            <a:spLocks noGrp="1"/>
          </p:cNvSpPr>
          <p:nvPr>
            <p:ph type="sldNum" sz="quarter" idx="5"/>
          </p:nvPr>
        </p:nvSpPr>
        <p:spPr/>
        <p:txBody>
          <a:bodyPr/>
          <a:lstStyle/>
          <a:p>
            <a:fld id="{177EED0E-2014-43BC-BE31-5AC18268270A}" type="slidenum">
              <a:rPr lang="en-US" smtClean="0"/>
              <a:t>12</a:t>
            </a:fld>
            <a:endParaRPr lang="en-US"/>
          </a:p>
        </p:txBody>
      </p:sp>
    </p:spTree>
    <p:extLst>
      <p:ext uri="{BB962C8B-B14F-4D97-AF65-F5344CB8AC3E}">
        <p14:creationId xmlns:p14="http://schemas.microsoft.com/office/powerpoint/2010/main" val="1839588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just">
              <a:lnSpc>
                <a:spcPct val="100000"/>
              </a:lnSpc>
              <a:spcBef>
                <a:spcPts val="1000"/>
              </a:spcBef>
              <a:buNone/>
            </a:pPr>
            <a:r>
              <a:rPr lang="en-US" sz="1200" b="1" dirty="0">
                <a:solidFill>
                  <a:schemeClr val="tx1"/>
                </a:solidFill>
                <a:effectLst/>
                <a:latin typeface="+mn-lt"/>
                <a:ea typeface="MS Gothic" panose="020B0609070205080204" pitchFamily="49" charset="-128"/>
                <a:cs typeface="Times New Roman" panose="02020603050405020304" pitchFamily="18" charset="0"/>
              </a:rPr>
              <a:t>A. Primary Data</a:t>
            </a:r>
          </a:p>
          <a:p>
            <a:pPr marL="0" marR="0" algn="just">
              <a:lnSpc>
                <a:spcPct val="100000"/>
              </a:lnSpc>
              <a:spcAft>
                <a:spcPts val="1000"/>
              </a:spcAft>
              <a:buNone/>
            </a:pPr>
            <a:r>
              <a:rPr lang="en-US" sz="1200" dirty="0">
                <a:effectLst/>
                <a:latin typeface="+mn-lt"/>
                <a:ea typeface="MS Mincho" panose="02020609040205080304" pitchFamily="49" charset="-128"/>
                <a:cs typeface="Times New Roman" panose="02020603050405020304" pitchFamily="18" charset="0"/>
              </a:rPr>
              <a:t>Primary data is collected directly by the researcher through surveys, interviews, observations, experiments, or sensors.</a:t>
            </a:r>
          </a:p>
          <a:p>
            <a:pPr marL="0" marR="0" algn="just">
              <a:lnSpc>
                <a:spcPct val="100000"/>
              </a:lnSpc>
              <a:spcBef>
                <a:spcPts val="1000"/>
              </a:spcBef>
              <a:buNone/>
            </a:pPr>
            <a:r>
              <a:rPr lang="en-US" sz="1200" b="1" dirty="0">
                <a:solidFill>
                  <a:schemeClr val="tx1"/>
                </a:solidFill>
                <a:effectLst/>
                <a:latin typeface="+mn-lt"/>
                <a:ea typeface="MS Gothic" panose="020B0609070205080204" pitchFamily="49" charset="-128"/>
                <a:cs typeface="Times New Roman" panose="02020603050405020304" pitchFamily="18" charset="0"/>
              </a:rPr>
              <a:t>B. Secondary Data</a:t>
            </a:r>
          </a:p>
          <a:p>
            <a:pPr marL="0" marR="0" algn="just">
              <a:lnSpc>
                <a:spcPct val="100000"/>
              </a:lnSpc>
              <a:spcAft>
                <a:spcPts val="1000"/>
              </a:spcAft>
              <a:buNone/>
            </a:pPr>
            <a:r>
              <a:rPr lang="en-US" sz="1200" dirty="0">
                <a:effectLst/>
                <a:latin typeface="+mn-lt"/>
                <a:ea typeface="MS Mincho" panose="02020609040205080304" pitchFamily="49" charset="-128"/>
                <a:cs typeface="Times New Roman" panose="02020603050405020304" pitchFamily="18" charset="0"/>
              </a:rPr>
              <a:t>Secondary data already exists and may come from institutional databases, government repositories, published datasets, research repositories, or public APIs.</a:t>
            </a:r>
          </a:p>
          <a:p>
            <a:pPr marL="0" marR="0" algn="just">
              <a:lnSpc>
                <a:spcPct val="100000"/>
              </a:lnSpc>
              <a:spcBef>
                <a:spcPts val="1000"/>
              </a:spcBef>
              <a:buNone/>
            </a:pPr>
            <a:r>
              <a:rPr lang="en-US" sz="1200" b="1" dirty="0">
                <a:solidFill>
                  <a:schemeClr val="tx1"/>
                </a:solidFill>
                <a:effectLst/>
                <a:latin typeface="+mn-lt"/>
                <a:ea typeface="MS Gothic" panose="020B0609070205080204" pitchFamily="49" charset="-128"/>
                <a:cs typeface="Times New Roman" panose="02020603050405020304" pitchFamily="18" charset="0"/>
              </a:rPr>
              <a:t>C. Existing Public Datasets</a:t>
            </a:r>
          </a:p>
          <a:p>
            <a:pPr marL="0" marR="0" algn="just">
              <a:lnSpc>
                <a:spcPct val="100000"/>
              </a:lnSpc>
              <a:spcAft>
                <a:spcPts val="1000"/>
              </a:spcAft>
              <a:buNone/>
            </a:pPr>
            <a:r>
              <a:rPr lang="en-US" sz="1200" dirty="0">
                <a:effectLst/>
                <a:latin typeface="+mn-lt"/>
                <a:ea typeface="MS Mincho" panose="02020609040205080304" pitchFamily="49" charset="-128"/>
                <a:cs typeface="Times New Roman" panose="02020603050405020304" pitchFamily="18" charset="0"/>
              </a:rPr>
              <a:t>Public datasets should be evaluated for source, license, quality, relevance, size, data collection context, and ethical restrictions. Public availability does not automatically make a dataset appropriate for every thesis.</a:t>
            </a:r>
            <a:endParaRPr lang="en-US" sz="800" dirty="0">
              <a:effectLst/>
              <a:latin typeface="Arial" panose="020B0604020202020204" pitchFamily="34" charset="0"/>
              <a:ea typeface="MS Mincho" panose="02020609040205080304" pitchFamily="49" charset="-128"/>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177EED0E-2014-43BC-BE31-5AC18268270A}" type="slidenum">
              <a:rPr lang="en-US" smtClean="0"/>
              <a:t>13</a:t>
            </a:fld>
            <a:endParaRPr lang="en-US"/>
          </a:p>
        </p:txBody>
      </p:sp>
    </p:spTree>
    <p:extLst>
      <p:ext uri="{BB962C8B-B14F-4D97-AF65-F5344CB8AC3E}">
        <p14:creationId xmlns:p14="http://schemas.microsoft.com/office/powerpoint/2010/main" val="1640680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1. Relevance</a:t>
            </a:r>
          </a:p>
          <a:p>
            <a:r>
              <a:rPr lang="en-US" sz="1200" dirty="0"/>
              <a:t>The data must directly relate to the research problem.</a:t>
            </a:r>
          </a:p>
          <a:p>
            <a:r>
              <a:rPr lang="en-US" sz="1200" b="1" dirty="0"/>
              <a:t>2. Sufficiency</a:t>
            </a:r>
          </a:p>
          <a:p>
            <a:r>
              <a:rPr lang="en-US" sz="1200" dirty="0"/>
              <a:t>There is no universal minimum dataset size. Students should consider whether they have sufficient and representative data for the proposed task.</a:t>
            </a:r>
          </a:p>
          <a:p>
            <a:r>
              <a:rPr lang="en-US" sz="1200" b="1" dirty="0"/>
              <a:t>3. Representativeness</a:t>
            </a:r>
          </a:p>
          <a:p>
            <a:r>
              <a:rPr lang="en-US" sz="1200" dirty="0"/>
              <a:t>The dataset should reasonably represent the population or situation being studied.</a:t>
            </a:r>
          </a:p>
          <a:p>
            <a:r>
              <a:rPr lang="en-US" sz="1200" b="1" dirty="0"/>
              <a:t>4. Accessibility</a:t>
            </a:r>
          </a:p>
          <a:p>
            <a:r>
              <a:rPr lang="en-US" sz="1200" dirty="0"/>
              <a:t>Students must determine whether the data can legally and practically be obtained, considering permissions, restrictions, and privacy requirements.</a:t>
            </a:r>
          </a:p>
          <a:p>
            <a:endParaRPr lang="en-US" dirty="0"/>
          </a:p>
        </p:txBody>
      </p:sp>
      <p:sp>
        <p:nvSpPr>
          <p:cNvPr id="4" name="Slide Number Placeholder 3"/>
          <p:cNvSpPr>
            <a:spLocks noGrp="1"/>
          </p:cNvSpPr>
          <p:nvPr>
            <p:ph type="sldNum" sz="quarter" idx="5"/>
          </p:nvPr>
        </p:nvSpPr>
        <p:spPr/>
        <p:txBody>
          <a:bodyPr/>
          <a:lstStyle/>
          <a:p>
            <a:fld id="{177EED0E-2014-43BC-BE31-5AC18268270A}" type="slidenum">
              <a:rPr lang="en-US" smtClean="0"/>
              <a:t>14</a:t>
            </a:fld>
            <a:endParaRPr lang="en-US"/>
          </a:p>
        </p:txBody>
      </p:sp>
    </p:spTree>
    <p:extLst>
      <p:ext uri="{BB962C8B-B14F-4D97-AF65-F5344CB8AC3E}">
        <p14:creationId xmlns:p14="http://schemas.microsoft.com/office/powerpoint/2010/main" val="7172102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Common Data Quality Problems</a:t>
            </a:r>
          </a:p>
          <a:p>
            <a:r>
              <a:rPr lang="en-US" sz="1200" b="1" dirty="0"/>
              <a:t>1. Missing Values</a:t>
            </a:r>
          </a:p>
          <a:p>
            <a:r>
              <a:rPr lang="en-US" sz="1200" dirty="0"/>
              <a:t>Missing values occur when information is absent. They may appear as blank cells, NULL, </a:t>
            </a:r>
            <a:r>
              <a:rPr lang="en-US" sz="1200" dirty="0" err="1"/>
              <a:t>NaN</a:t>
            </a:r>
            <a:r>
              <a:rPr lang="en-US" sz="1200" dirty="0"/>
              <a:t>, N/A, or Unknown.</a:t>
            </a:r>
          </a:p>
          <a:p>
            <a:r>
              <a:rPr lang="en-US" sz="1200" dirty="0"/>
              <a:t>Possible strategies include removing records, removing variables, or imputing values using approaches such as mean, median, or mode. The appropriate method depends on the nature and meaning of the data.</a:t>
            </a:r>
          </a:p>
          <a:p>
            <a:r>
              <a:rPr lang="en-US" sz="1200" b="1" dirty="0"/>
              <a:t>2. Duplicate Records</a:t>
            </a:r>
          </a:p>
          <a:p>
            <a:r>
              <a:rPr lang="en-US" sz="1200" dirty="0"/>
              <a:t>Duplicates may cause certain patterns to be overrepresented. Students should determine whether duplicates are accidental or legitimate repeated observations.</a:t>
            </a:r>
          </a:p>
          <a:p>
            <a:r>
              <a:rPr lang="en-US" sz="1200" b="1" dirty="0"/>
              <a:t>3. Inconsistent Data</a:t>
            </a:r>
          </a:p>
          <a:p>
            <a:r>
              <a:rPr lang="en-US" sz="1200" dirty="0"/>
              <a:t>The same category may be represented differently, such as Male, male, M, and MALE. Standardization may be necessary.</a:t>
            </a:r>
          </a:p>
          <a:p>
            <a:r>
              <a:rPr lang="en-US" sz="1200" b="1" dirty="0"/>
              <a:t>4. Incorrect Data Types</a:t>
            </a:r>
          </a:p>
          <a:p>
            <a:r>
              <a:rPr lang="en-US" sz="1200" dirty="0"/>
              <a:t>Data may be stored using inappropriate types. Students may need to convert strings to numerical values, dates, or appropriate categorical representations.</a:t>
            </a:r>
          </a:p>
          <a:p>
            <a:r>
              <a:rPr lang="en-US" sz="1200" b="1" dirty="0"/>
              <a:t>5. Outliers</a:t>
            </a:r>
          </a:p>
          <a:p>
            <a:r>
              <a:rPr lang="en-US" sz="1200" dirty="0"/>
              <a:t>Outliers are observations that differ substantially from other observations. They should not automatically be removed because unusual values may be meaningful rather than erroneous.</a:t>
            </a:r>
          </a:p>
          <a:p>
            <a:r>
              <a:rPr lang="en-US" sz="1200" b="1" dirty="0"/>
              <a:t>6. Noise</a:t>
            </a:r>
          </a:p>
          <a:p>
            <a:r>
              <a:rPr lang="en-US" sz="1200" dirty="0"/>
              <a:t>Noise refers to irrelevant or random information. In text, examples may include unnecessary symbols, repeated characters, HTML tags, or spam content.</a:t>
            </a:r>
          </a:p>
          <a:p>
            <a:endParaRPr lang="en-US" dirty="0"/>
          </a:p>
        </p:txBody>
      </p:sp>
      <p:sp>
        <p:nvSpPr>
          <p:cNvPr id="4" name="Slide Number Placeholder 3"/>
          <p:cNvSpPr>
            <a:spLocks noGrp="1"/>
          </p:cNvSpPr>
          <p:nvPr>
            <p:ph type="sldNum" sz="quarter" idx="5"/>
          </p:nvPr>
        </p:nvSpPr>
        <p:spPr/>
        <p:txBody>
          <a:bodyPr/>
          <a:lstStyle/>
          <a:p>
            <a:fld id="{177EED0E-2014-43BC-BE31-5AC18268270A}" type="slidenum">
              <a:rPr lang="en-US" smtClean="0"/>
              <a:t>17</a:t>
            </a:fld>
            <a:endParaRPr lang="en-US"/>
          </a:p>
        </p:txBody>
      </p:sp>
    </p:spTree>
    <p:extLst>
      <p:ext uri="{BB962C8B-B14F-4D97-AF65-F5344CB8AC3E}">
        <p14:creationId xmlns:p14="http://schemas.microsoft.com/office/powerpoint/2010/main" val="4255267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Basic Data Cleaning Workflow</a:t>
            </a:r>
          </a:p>
          <a:p>
            <a:pPr lvl="0"/>
            <a:r>
              <a:rPr lang="en-US" sz="1200" dirty="0"/>
              <a:t>Inspect the dataset: number of records, variables, and data types.</a:t>
            </a:r>
          </a:p>
          <a:p>
            <a:pPr lvl="0"/>
            <a:r>
              <a:rPr lang="en-US" sz="1200" dirty="0"/>
              <a:t>Identify missing values and determine their extent.</a:t>
            </a:r>
          </a:p>
          <a:p>
            <a:pPr lvl="0"/>
            <a:r>
              <a:rPr lang="en-US" sz="1200" dirty="0"/>
              <a:t>Identify duplicate records.</a:t>
            </a:r>
          </a:p>
          <a:p>
            <a:pPr lvl="0"/>
            <a:r>
              <a:rPr lang="en-US" sz="1200" dirty="0"/>
              <a:t>Check data consistency and formatting.</a:t>
            </a:r>
          </a:p>
          <a:p>
            <a:pPr lvl="0"/>
            <a:r>
              <a:rPr lang="en-US" sz="1200" dirty="0"/>
              <a:t>Identify invalid or impossible values.</a:t>
            </a:r>
          </a:p>
          <a:p>
            <a:pPr lvl="0"/>
            <a:r>
              <a:rPr lang="en-US" sz="1200" dirty="0"/>
              <a:t>Apply appropriate cleaning procedures.</a:t>
            </a:r>
          </a:p>
          <a:p>
            <a:pPr lvl="0"/>
            <a:r>
              <a:rPr lang="en-US" sz="1200" dirty="0"/>
              <a:t>Document every important cleaning decision.</a:t>
            </a:r>
          </a:p>
          <a:p>
            <a:endParaRPr lang="en-US" dirty="0"/>
          </a:p>
        </p:txBody>
      </p:sp>
      <p:sp>
        <p:nvSpPr>
          <p:cNvPr id="4" name="Slide Number Placeholder 3"/>
          <p:cNvSpPr>
            <a:spLocks noGrp="1"/>
          </p:cNvSpPr>
          <p:nvPr>
            <p:ph type="sldNum" sz="quarter" idx="5"/>
          </p:nvPr>
        </p:nvSpPr>
        <p:spPr/>
        <p:txBody>
          <a:bodyPr/>
          <a:lstStyle/>
          <a:p>
            <a:fld id="{177EED0E-2014-43BC-BE31-5AC18268270A}" type="slidenum">
              <a:rPr lang="en-US" smtClean="0"/>
              <a:t>18</a:t>
            </a:fld>
            <a:endParaRPr lang="en-US"/>
          </a:p>
        </p:txBody>
      </p:sp>
    </p:spTree>
    <p:extLst>
      <p:ext uri="{BB962C8B-B14F-4D97-AF65-F5344CB8AC3E}">
        <p14:creationId xmlns:p14="http://schemas.microsoft.com/office/powerpoint/2010/main" val="2454472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 name="Freeform 2"/>
          <p:cNvSpPr/>
          <p:nvPr/>
        </p:nvSpPr>
        <p:spPr>
          <a:xfrm>
            <a:off x="13744190" y="-4042349"/>
            <a:ext cx="6446938" cy="6458681"/>
          </a:xfrm>
          <a:custGeom>
            <a:avLst/>
            <a:gdLst/>
            <a:ahLst/>
            <a:cxnLst/>
            <a:rect l="l" t="t" r="r" b="b"/>
            <a:pathLst>
              <a:path w="6446938" h="6458681">
                <a:moveTo>
                  <a:pt x="0" y="0"/>
                </a:moveTo>
                <a:lnTo>
                  <a:pt x="6446937" y="0"/>
                </a:lnTo>
                <a:lnTo>
                  <a:pt x="6446937" y="6458681"/>
                </a:lnTo>
                <a:lnTo>
                  <a:pt x="0" y="645868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080828" y="4476186"/>
            <a:ext cx="6446938" cy="6458681"/>
          </a:xfrm>
          <a:custGeom>
            <a:avLst/>
            <a:gdLst/>
            <a:ahLst/>
            <a:cxnLst/>
            <a:rect l="l" t="t" r="r" b="b"/>
            <a:pathLst>
              <a:path w="6446938" h="6458681">
                <a:moveTo>
                  <a:pt x="0" y="0"/>
                </a:moveTo>
                <a:lnTo>
                  <a:pt x="6446938" y="0"/>
                </a:lnTo>
                <a:lnTo>
                  <a:pt x="6446938" y="6458681"/>
                </a:lnTo>
                <a:lnTo>
                  <a:pt x="0" y="645868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284054" y="199919"/>
            <a:ext cx="2825427" cy="2825427"/>
          </a:xfrm>
          <a:custGeom>
            <a:avLst/>
            <a:gdLst/>
            <a:ahLst/>
            <a:cxnLst/>
            <a:rect l="l" t="t" r="r" b="b"/>
            <a:pathLst>
              <a:path w="2825427" h="2825427">
                <a:moveTo>
                  <a:pt x="0" y="0"/>
                </a:moveTo>
                <a:lnTo>
                  <a:pt x="2825427" y="0"/>
                </a:lnTo>
                <a:lnTo>
                  <a:pt x="2825427" y="2825427"/>
                </a:lnTo>
                <a:lnTo>
                  <a:pt x="0" y="2825427"/>
                </a:lnTo>
                <a:lnTo>
                  <a:pt x="0" y="0"/>
                </a:lnTo>
                <a:close/>
              </a:path>
            </a:pathLst>
          </a:custGeom>
          <a:blipFill>
            <a:blip r:embed="rId3"/>
            <a:stretch>
              <a:fillRect/>
            </a:stretch>
          </a:blipFill>
        </p:spPr>
      </p:sp>
      <p:sp>
        <p:nvSpPr>
          <p:cNvPr id="7" name="TextBox 7"/>
          <p:cNvSpPr txBox="1"/>
          <p:nvPr/>
        </p:nvSpPr>
        <p:spPr>
          <a:xfrm>
            <a:off x="1028700" y="3739721"/>
            <a:ext cx="8115300" cy="4126130"/>
          </a:xfrm>
          <a:prstGeom prst="rect">
            <a:avLst/>
          </a:prstGeom>
        </p:spPr>
        <p:txBody>
          <a:bodyPr lIns="0" tIns="0" rIns="0" bIns="0" rtlCol="0" anchor="t">
            <a:spAutoFit/>
          </a:bodyPr>
          <a:lstStyle/>
          <a:p>
            <a:pPr algn="l">
              <a:lnSpc>
                <a:spcPts val="8099"/>
              </a:lnSpc>
            </a:pPr>
            <a:r>
              <a:rPr lang="en-US" sz="6000" b="1" dirty="0">
                <a:solidFill>
                  <a:srgbClr val="22588D"/>
                </a:solidFill>
                <a:latin typeface="Arial" panose="020B0604020202020204" pitchFamily="34" charset="0"/>
                <a:ea typeface="Museo Moderno Bold"/>
                <a:cs typeface="Arial" panose="020B0604020202020204" pitchFamily="34" charset="0"/>
                <a:sym typeface="Museo Moderno Bold"/>
              </a:rPr>
              <a:t>DATA COLLECTION, DATA CLEANING, AND EXPLORATORY DATA ANALYSIS</a:t>
            </a:r>
            <a:endParaRPr lang="en-US" sz="6600" b="1" dirty="0">
              <a:solidFill>
                <a:srgbClr val="22588D"/>
              </a:solidFill>
              <a:latin typeface="Arial" panose="020B0604020202020204" pitchFamily="34" charset="0"/>
              <a:ea typeface="Museo Moderno Bold"/>
              <a:cs typeface="Arial" panose="020B0604020202020204" pitchFamily="34" charset="0"/>
              <a:sym typeface="Museo Moderno Bold"/>
            </a:endParaRPr>
          </a:p>
        </p:txBody>
      </p:sp>
      <p:sp>
        <p:nvSpPr>
          <p:cNvPr id="9" name="TextBox 9"/>
          <p:cNvSpPr txBox="1"/>
          <p:nvPr/>
        </p:nvSpPr>
        <p:spPr>
          <a:xfrm>
            <a:off x="12628037" y="8816975"/>
            <a:ext cx="4631263" cy="441325"/>
          </a:xfrm>
          <a:prstGeom prst="rect">
            <a:avLst/>
          </a:prstGeom>
        </p:spPr>
        <p:txBody>
          <a:bodyPr lIns="0" tIns="0" rIns="0" bIns="0" rtlCol="0" anchor="t">
            <a:spAutoFit/>
          </a:bodyPr>
          <a:lstStyle/>
          <a:p>
            <a:pPr algn="r">
              <a:lnSpc>
                <a:spcPts val="3499"/>
              </a:lnSpc>
              <a:spcBef>
                <a:spcPct val="0"/>
              </a:spcBef>
            </a:pPr>
            <a:r>
              <a:rPr lang="en-US" sz="2499" b="1">
                <a:solidFill>
                  <a:srgbClr val="22588D"/>
                </a:solidFill>
                <a:latin typeface="Poppins Bold"/>
                <a:ea typeface="Poppins Bold"/>
                <a:cs typeface="Poppins Bold"/>
                <a:sym typeface="Poppins Bold"/>
              </a:rPr>
              <a:t>CHRISTIAN SY</a:t>
            </a:r>
          </a:p>
        </p:txBody>
      </p:sp>
      <p:pic>
        <p:nvPicPr>
          <p:cNvPr id="10" name="Picture 9" descr="Data collection Images - Free Download on Magnific (formerly ...">
            <a:extLst>
              <a:ext uri="{FF2B5EF4-FFF2-40B4-BE49-F238E27FC236}">
                <a16:creationId xmlns:a16="http://schemas.microsoft.com/office/drawing/2014/main" id="{CA71B596-92D2-5415-0748-7E1151994A6D}"/>
              </a:ext>
            </a:extLst>
          </p:cNvPr>
          <p:cNvPicPr>
            <a:picLocks noChangeAspect="1"/>
          </p:cNvPicPr>
          <p:nvPr/>
        </p:nvPicPr>
        <p:blipFill>
          <a:blip r:embed="rId4"/>
          <a:stretch>
            <a:fillRect/>
          </a:stretch>
        </p:blipFill>
        <p:spPr>
          <a:xfrm>
            <a:off x="10210800" y="2804024"/>
            <a:ext cx="9029700" cy="5625259"/>
          </a:xfrm>
          <a:prstGeom prst="flowChartAlternateProcess">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DD8A6-9E05-9614-FD3A-2952712EFFEA}"/>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C49A0D8-D2A5-F587-3F72-9E21794214A3}"/>
              </a:ext>
            </a:extLst>
          </p:cNvPr>
          <p:cNvSpPr txBox="1"/>
          <p:nvPr/>
        </p:nvSpPr>
        <p:spPr>
          <a:xfrm>
            <a:off x="873228" y="580822"/>
            <a:ext cx="11090172" cy="1038746"/>
          </a:xfrm>
          <a:prstGeom prst="rect">
            <a:avLst/>
          </a:prstGeom>
        </p:spPr>
        <p:txBody>
          <a:bodyPr wrap="square" lIns="0" tIns="0" rIns="0" bIns="0" rtlCol="0" anchor="t">
            <a:spAutoFit/>
          </a:bodyPr>
          <a:lstStyle/>
          <a:p>
            <a:pPr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Specific Learning Outcomes</a:t>
            </a:r>
          </a:p>
        </p:txBody>
      </p:sp>
      <p:sp>
        <p:nvSpPr>
          <p:cNvPr id="3" name="TextBox 3">
            <a:extLst>
              <a:ext uri="{FF2B5EF4-FFF2-40B4-BE49-F238E27FC236}">
                <a16:creationId xmlns:a16="http://schemas.microsoft.com/office/drawing/2014/main" id="{656BEE8F-11C6-386C-E7FE-343AB47C2045}"/>
              </a:ext>
            </a:extLst>
          </p:cNvPr>
          <p:cNvSpPr txBox="1"/>
          <p:nvPr/>
        </p:nvSpPr>
        <p:spPr>
          <a:xfrm>
            <a:off x="873228" y="1924593"/>
            <a:ext cx="9031442" cy="8309967"/>
          </a:xfrm>
          <a:prstGeom prst="rect">
            <a:avLst/>
          </a:prstGeom>
        </p:spPr>
        <p:txBody>
          <a:bodyPr lIns="0" tIns="0" rIns="0" bIns="0" rtlCol="0" anchor="t">
            <a:spAutoFit/>
          </a:bodyPr>
          <a:lstStyle/>
          <a:p>
            <a:r>
              <a:rPr lang="en-US" sz="3600" b="1" dirty="0"/>
              <a:t>Knowledge and Understanding</a:t>
            </a:r>
          </a:p>
          <a:p>
            <a:pPr marL="457200" lvl="0" indent="-457200">
              <a:buFont typeface="+mj-lt"/>
              <a:buAutoNum type="arabicPeriod"/>
            </a:pPr>
            <a:r>
              <a:rPr lang="en-US" sz="3600" dirty="0"/>
              <a:t>Explain the role of data collection, data cleaning, and exploratory data analysis in the Machine Learning and NLP development lifecycle.</a:t>
            </a:r>
          </a:p>
          <a:p>
            <a:pPr marL="457200" lvl="0" indent="-457200">
              <a:buFont typeface="+mj-lt"/>
              <a:buAutoNum type="arabicPeriod"/>
            </a:pPr>
            <a:r>
              <a:rPr lang="en-US" sz="3600" dirty="0"/>
              <a:t>Differentiate between primary and secondary data and identify appropriate sources of datasets for AI research.</a:t>
            </a:r>
          </a:p>
          <a:p>
            <a:pPr marL="457200" lvl="0" indent="-457200">
              <a:buFont typeface="+mj-lt"/>
              <a:buAutoNum type="arabicPeriod"/>
            </a:pPr>
            <a:r>
              <a:rPr lang="en-US" sz="3600" dirty="0"/>
              <a:t>Describe common data quality problems, including missing values, duplicate records, inconsistent values, noise, and outliers.</a:t>
            </a:r>
          </a:p>
          <a:p>
            <a:pPr marL="457200" lvl="0" indent="-457200">
              <a:buFont typeface="+mj-lt"/>
              <a:buAutoNum type="arabicPeriod"/>
            </a:pPr>
            <a:r>
              <a:rPr lang="en-US" sz="3600" dirty="0"/>
              <a:t>Explain the purpose of Exploratory Data Analysis in understanding dataset characteristics and identifying potential problems before model development.</a:t>
            </a:r>
          </a:p>
        </p:txBody>
      </p:sp>
      <p:sp>
        <p:nvSpPr>
          <p:cNvPr id="4" name="Freeform 4">
            <a:extLst>
              <a:ext uri="{FF2B5EF4-FFF2-40B4-BE49-F238E27FC236}">
                <a16:creationId xmlns:a16="http://schemas.microsoft.com/office/drawing/2014/main" id="{8D57B01D-B2D9-3A30-ACDF-03336DA715E8}"/>
              </a:ext>
            </a:extLst>
          </p:cNvPr>
          <p:cNvSpPr/>
          <p:nvPr/>
        </p:nvSpPr>
        <p:spPr>
          <a:xfrm>
            <a:off x="4957277" y="-4113214"/>
            <a:ext cx="6785337" cy="6797697"/>
          </a:xfrm>
          <a:custGeom>
            <a:avLst/>
            <a:gdLst/>
            <a:ahLst/>
            <a:cxnLst/>
            <a:rect l="l" t="t" r="r" b="b"/>
            <a:pathLst>
              <a:path w="6785337" h="6797697">
                <a:moveTo>
                  <a:pt x="0" y="0"/>
                </a:moveTo>
                <a:lnTo>
                  <a:pt x="6785337" y="0"/>
                </a:lnTo>
                <a:lnTo>
                  <a:pt x="6785337" y="6797697"/>
                </a:lnTo>
                <a:lnTo>
                  <a:pt x="0" y="6797697"/>
                </a:lnTo>
                <a:lnTo>
                  <a:pt x="0" y="0"/>
                </a:lnTo>
                <a:close/>
              </a:path>
            </a:pathLst>
          </a:custGeom>
          <a:blipFill>
            <a:blip>
              <a:extLst>
                <a:ext uri="{96DAC541-7B7A-43D3-8B79-37D633B846F1}">
                  <asvg:svgBlip xmlns:asvg="http://schemas.microsoft.com/office/drawing/2016/SVG/main" r:embed="rId3"/>
                </a:ext>
              </a:extLst>
            </a:blip>
            <a:stretch>
              <a:fillRect/>
            </a:stretch>
          </a:blipFill>
        </p:spPr>
      </p:sp>
      <p:pic>
        <p:nvPicPr>
          <p:cNvPr id="7" name="Picture 6" descr="What is data science and how does it work?">
            <a:extLst>
              <a:ext uri="{FF2B5EF4-FFF2-40B4-BE49-F238E27FC236}">
                <a16:creationId xmlns:a16="http://schemas.microsoft.com/office/drawing/2014/main" id="{89369D5F-62E4-80F9-25FC-DC59AFE99719}"/>
              </a:ext>
            </a:extLst>
          </p:cNvPr>
          <p:cNvPicPr>
            <a:picLocks noChangeAspect="1"/>
          </p:cNvPicPr>
          <p:nvPr/>
        </p:nvPicPr>
        <p:blipFill>
          <a:blip r:embed="rId4"/>
          <a:stretch>
            <a:fillRect/>
          </a:stretch>
        </p:blipFill>
        <p:spPr>
          <a:xfrm>
            <a:off x="10287000" y="2476500"/>
            <a:ext cx="7603042" cy="6266908"/>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extLst>
      <p:ext uri="{BB962C8B-B14F-4D97-AF65-F5344CB8AC3E}">
        <p14:creationId xmlns:p14="http://schemas.microsoft.com/office/powerpoint/2010/main" val="548768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53C17-6DC6-51D4-6685-31D9B0F726B9}"/>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5B9EE1F-9AC2-3EE5-8F64-5B2A66B4F647}"/>
              </a:ext>
            </a:extLst>
          </p:cNvPr>
          <p:cNvSpPr txBox="1"/>
          <p:nvPr/>
        </p:nvSpPr>
        <p:spPr>
          <a:xfrm>
            <a:off x="873228" y="580822"/>
            <a:ext cx="11090172" cy="1038746"/>
          </a:xfrm>
          <a:prstGeom prst="rect">
            <a:avLst/>
          </a:prstGeom>
        </p:spPr>
        <p:txBody>
          <a:bodyPr wrap="square" lIns="0" tIns="0" rIns="0" bIns="0" rtlCol="0" anchor="t">
            <a:spAutoFit/>
          </a:bodyPr>
          <a:lstStyle/>
          <a:p>
            <a:pPr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Specific Learning Outcomes</a:t>
            </a:r>
          </a:p>
        </p:txBody>
      </p:sp>
      <p:sp>
        <p:nvSpPr>
          <p:cNvPr id="3" name="TextBox 3">
            <a:extLst>
              <a:ext uri="{FF2B5EF4-FFF2-40B4-BE49-F238E27FC236}">
                <a16:creationId xmlns:a16="http://schemas.microsoft.com/office/drawing/2014/main" id="{FB1F692B-9D9F-6BE4-8777-DA2221349DEE}"/>
              </a:ext>
            </a:extLst>
          </p:cNvPr>
          <p:cNvSpPr txBox="1"/>
          <p:nvPr/>
        </p:nvSpPr>
        <p:spPr>
          <a:xfrm>
            <a:off x="873228" y="1924593"/>
            <a:ext cx="9031442" cy="7386638"/>
          </a:xfrm>
          <a:prstGeom prst="rect">
            <a:avLst/>
          </a:prstGeom>
        </p:spPr>
        <p:txBody>
          <a:bodyPr lIns="0" tIns="0" rIns="0" bIns="0" rtlCol="0" anchor="t">
            <a:spAutoFit/>
          </a:bodyPr>
          <a:lstStyle/>
          <a:p>
            <a:r>
              <a:rPr lang="en-US" sz="3200" b="1" dirty="0"/>
              <a:t>Application and Analysis</a:t>
            </a:r>
          </a:p>
          <a:p>
            <a:pPr marL="457200" lvl="0" indent="-457200">
              <a:buFont typeface="+mj-lt"/>
              <a:buAutoNum type="arabicPeriod"/>
            </a:pPr>
            <a:r>
              <a:rPr lang="en-US" sz="3200" dirty="0"/>
              <a:t>Identify the data requirements of their proposed thesis project.</a:t>
            </a:r>
          </a:p>
          <a:p>
            <a:pPr marL="457200" lvl="0" indent="-457200">
              <a:buFont typeface="+mj-lt"/>
              <a:buAutoNum type="arabicPeriod"/>
            </a:pPr>
            <a:r>
              <a:rPr lang="en-US" sz="3200" dirty="0"/>
              <a:t>Select an appropriate data collection method based on the research problem and proposed AI application.</a:t>
            </a:r>
          </a:p>
          <a:p>
            <a:pPr marL="457200" lvl="0" indent="-457200">
              <a:buFont typeface="+mj-lt"/>
              <a:buAutoNum type="arabicPeriod"/>
            </a:pPr>
            <a:r>
              <a:rPr lang="en-US" sz="3200" dirty="0"/>
              <a:t>Inspect and clean a dataset using appropriate preprocessing techniques.</a:t>
            </a:r>
          </a:p>
          <a:p>
            <a:pPr marL="457200" lvl="0" indent="-457200">
              <a:buFont typeface="+mj-lt"/>
              <a:buAutoNum type="arabicPeriod"/>
            </a:pPr>
            <a:r>
              <a:rPr lang="en-US" sz="3200" dirty="0"/>
              <a:t>Perform basic exploratory data analysis using descriptive statistics and visualizations.</a:t>
            </a:r>
          </a:p>
          <a:p>
            <a:pPr marL="457200" lvl="0" indent="-457200">
              <a:buFont typeface="+mj-lt"/>
              <a:buAutoNum type="arabicPeriod"/>
            </a:pPr>
            <a:r>
              <a:rPr lang="en-US" sz="3200" dirty="0"/>
              <a:t>Identify potential features, target variables, classes, or textual attributes relevant to their proposed ML or NLP task.</a:t>
            </a:r>
          </a:p>
          <a:p>
            <a:pPr marL="457200" lvl="0" indent="-457200">
              <a:buFont typeface="+mj-lt"/>
              <a:buAutoNum type="arabicPeriod"/>
            </a:pPr>
            <a:r>
              <a:rPr lang="en-US" sz="3200" dirty="0"/>
              <a:t>Analyze potential data quality, privacy, bias, and ethical issues associated with their dataset.</a:t>
            </a:r>
          </a:p>
        </p:txBody>
      </p:sp>
      <p:sp>
        <p:nvSpPr>
          <p:cNvPr id="4" name="Freeform 4">
            <a:extLst>
              <a:ext uri="{FF2B5EF4-FFF2-40B4-BE49-F238E27FC236}">
                <a16:creationId xmlns:a16="http://schemas.microsoft.com/office/drawing/2014/main" id="{8F86BC46-D358-669D-0A85-E95F8DF40179}"/>
              </a:ext>
            </a:extLst>
          </p:cNvPr>
          <p:cNvSpPr/>
          <p:nvPr/>
        </p:nvSpPr>
        <p:spPr>
          <a:xfrm>
            <a:off x="4957277" y="-4113214"/>
            <a:ext cx="6785337" cy="6797697"/>
          </a:xfrm>
          <a:custGeom>
            <a:avLst/>
            <a:gdLst/>
            <a:ahLst/>
            <a:cxnLst/>
            <a:rect l="l" t="t" r="r" b="b"/>
            <a:pathLst>
              <a:path w="6785337" h="6797697">
                <a:moveTo>
                  <a:pt x="0" y="0"/>
                </a:moveTo>
                <a:lnTo>
                  <a:pt x="6785337" y="0"/>
                </a:lnTo>
                <a:lnTo>
                  <a:pt x="6785337" y="6797697"/>
                </a:lnTo>
                <a:lnTo>
                  <a:pt x="0" y="6797697"/>
                </a:lnTo>
                <a:lnTo>
                  <a:pt x="0" y="0"/>
                </a:lnTo>
                <a:close/>
              </a:path>
            </a:pathLst>
          </a:custGeom>
          <a:blipFill>
            <a:blip>
              <a:extLst>
                <a:ext uri="{96DAC541-7B7A-43D3-8B79-37D633B846F1}">
                  <asvg:svgBlip xmlns:asvg="http://schemas.microsoft.com/office/drawing/2016/SVG/main" r:embed="rId3"/>
                </a:ext>
              </a:extLst>
            </a:blip>
            <a:stretch>
              <a:fillRect/>
            </a:stretch>
          </a:blipFill>
        </p:spPr>
      </p:sp>
      <p:pic>
        <p:nvPicPr>
          <p:cNvPr id="8" name="Picture 7" descr="What is data science and how does it work?">
            <a:extLst>
              <a:ext uri="{FF2B5EF4-FFF2-40B4-BE49-F238E27FC236}">
                <a16:creationId xmlns:a16="http://schemas.microsoft.com/office/drawing/2014/main" id="{4CFC2794-AFF7-49A9-7929-E6BA56A28075}"/>
              </a:ext>
            </a:extLst>
          </p:cNvPr>
          <p:cNvPicPr>
            <a:picLocks noChangeAspect="1"/>
          </p:cNvPicPr>
          <p:nvPr/>
        </p:nvPicPr>
        <p:blipFill>
          <a:blip r:embed="rId4"/>
          <a:stretch>
            <a:fillRect/>
          </a:stretch>
        </p:blipFill>
        <p:spPr>
          <a:xfrm>
            <a:off x="10287000" y="2476500"/>
            <a:ext cx="7603042" cy="6266908"/>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extLst>
      <p:ext uri="{BB962C8B-B14F-4D97-AF65-F5344CB8AC3E}">
        <p14:creationId xmlns:p14="http://schemas.microsoft.com/office/powerpoint/2010/main" val="3058083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 name="TextBox 2"/>
          <p:cNvSpPr txBox="1"/>
          <p:nvPr/>
        </p:nvSpPr>
        <p:spPr>
          <a:xfrm>
            <a:off x="873228" y="580822"/>
            <a:ext cx="7321246" cy="2115964"/>
          </a:xfrm>
          <a:prstGeom prst="rect">
            <a:avLst/>
          </a:prstGeom>
        </p:spPr>
        <p:txBody>
          <a:bodyPr lIns="0" tIns="0" rIns="0" bIns="0" rtlCol="0" anchor="t">
            <a:spAutoFit/>
          </a:bodyPr>
          <a:lstStyle/>
          <a:p>
            <a:pPr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Thesis-Oriented Outcome</a:t>
            </a:r>
          </a:p>
        </p:txBody>
      </p:sp>
      <p:sp>
        <p:nvSpPr>
          <p:cNvPr id="3" name="TextBox 3"/>
          <p:cNvSpPr txBox="1"/>
          <p:nvPr/>
        </p:nvSpPr>
        <p:spPr>
          <a:xfrm>
            <a:off x="873228" y="3314700"/>
            <a:ext cx="9031442" cy="3693319"/>
          </a:xfrm>
          <a:prstGeom prst="rect">
            <a:avLst/>
          </a:prstGeom>
        </p:spPr>
        <p:txBody>
          <a:bodyPr lIns="0" tIns="0" rIns="0" bIns="0" rtlCol="0" anchor="t">
            <a:spAutoFit/>
          </a:bodyPr>
          <a:lstStyle/>
          <a:p>
            <a:r>
              <a:rPr lang="en-US" sz="4800" dirty="0"/>
              <a:t>Develop a preliminary thesis dataset and data readiness report that can serve as the foundation for subsequent model development activities.</a:t>
            </a:r>
          </a:p>
        </p:txBody>
      </p:sp>
      <p:sp>
        <p:nvSpPr>
          <p:cNvPr id="4" name="Freeform 4"/>
          <p:cNvSpPr/>
          <p:nvPr/>
        </p:nvSpPr>
        <p:spPr>
          <a:xfrm>
            <a:off x="4957277" y="-4113214"/>
            <a:ext cx="6785337" cy="6797697"/>
          </a:xfrm>
          <a:custGeom>
            <a:avLst/>
            <a:gdLst/>
            <a:ahLst/>
            <a:cxnLst/>
            <a:rect l="l" t="t" r="r" b="b"/>
            <a:pathLst>
              <a:path w="6785337" h="6797697">
                <a:moveTo>
                  <a:pt x="0" y="0"/>
                </a:moveTo>
                <a:lnTo>
                  <a:pt x="6785337" y="0"/>
                </a:lnTo>
                <a:lnTo>
                  <a:pt x="6785337" y="6797697"/>
                </a:lnTo>
                <a:lnTo>
                  <a:pt x="0" y="6797697"/>
                </a:lnTo>
                <a:lnTo>
                  <a:pt x="0" y="0"/>
                </a:lnTo>
                <a:close/>
              </a:path>
            </a:pathLst>
          </a:custGeom>
          <a:blipFill>
            <a:blip>
              <a:extLst>
                <a:ext uri="{96DAC541-7B7A-43D3-8B79-37D633B846F1}">
                  <asvg:svgBlip xmlns:asvg="http://schemas.microsoft.com/office/drawing/2016/SVG/main" r:embed="rId2"/>
                </a:ext>
              </a:extLst>
            </a:blip>
            <a:stretch>
              <a:fillRect/>
            </a:stretch>
          </a:blipFill>
        </p:spPr>
      </p:sp>
      <p:pic>
        <p:nvPicPr>
          <p:cNvPr id="8" name="Picture 7" descr="What is data science and how does it work?">
            <a:extLst>
              <a:ext uri="{FF2B5EF4-FFF2-40B4-BE49-F238E27FC236}">
                <a16:creationId xmlns:a16="http://schemas.microsoft.com/office/drawing/2014/main" id="{F05DDC24-06A0-867E-E984-0C1BFA9964E8}"/>
              </a:ext>
            </a:extLst>
          </p:cNvPr>
          <p:cNvPicPr>
            <a:picLocks noChangeAspect="1"/>
          </p:cNvPicPr>
          <p:nvPr/>
        </p:nvPicPr>
        <p:blipFill>
          <a:blip r:embed="rId3"/>
          <a:stretch>
            <a:fillRect/>
          </a:stretch>
        </p:blipFill>
        <p:spPr>
          <a:xfrm>
            <a:off x="10287000" y="2476500"/>
            <a:ext cx="7603042" cy="6266908"/>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 name="TextBox 2"/>
          <p:cNvSpPr txBox="1"/>
          <p:nvPr/>
        </p:nvSpPr>
        <p:spPr>
          <a:xfrm>
            <a:off x="6100183" y="238742"/>
            <a:ext cx="7769646" cy="1038225"/>
          </a:xfrm>
          <a:prstGeom prst="rect">
            <a:avLst/>
          </a:prstGeom>
        </p:spPr>
        <p:txBody>
          <a:bodyPr lIns="0" tIns="0" rIns="0" bIns="0" rtlCol="0" anchor="t">
            <a:spAutoFit/>
          </a:bodyPr>
          <a:lstStyle/>
          <a:p>
            <a:pPr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Introduction</a:t>
            </a:r>
          </a:p>
        </p:txBody>
      </p:sp>
      <p:sp>
        <p:nvSpPr>
          <p:cNvPr id="3" name="TextBox 3"/>
          <p:cNvSpPr txBox="1"/>
          <p:nvPr/>
        </p:nvSpPr>
        <p:spPr>
          <a:xfrm>
            <a:off x="6100183" y="1200767"/>
            <a:ext cx="11493089" cy="5909310"/>
          </a:xfrm>
          <a:prstGeom prst="rect">
            <a:avLst/>
          </a:prstGeom>
        </p:spPr>
        <p:txBody>
          <a:bodyPr lIns="0" tIns="0" rIns="0" bIns="0" rtlCol="0" anchor="t">
            <a:spAutoFit/>
          </a:bodyPr>
          <a:lstStyle/>
          <a:p>
            <a:r>
              <a:rPr lang="en-US" sz="4800" dirty="0"/>
              <a:t>Machine Learning (ML) and Natural Language Processing (NLP) projects are fundamentally data-driven. Regardless of how advanced an algorithm is, the quality and appropriateness of its output depend heavily on the quality, relevance, and preparation of the data used for training, testing, analysis, or knowledge retrieval.</a:t>
            </a:r>
          </a:p>
        </p:txBody>
      </p:sp>
      <p:pic>
        <p:nvPicPr>
          <p:cNvPr id="6" name="Picture 5" descr="92,000+ Machine Learning Robot Stock Photos and Royalty-Free ...">
            <a:extLst>
              <a:ext uri="{FF2B5EF4-FFF2-40B4-BE49-F238E27FC236}">
                <a16:creationId xmlns:a16="http://schemas.microsoft.com/office/drawing/2014/main" id="{026743A6-DDBF-595E-2C15-D349D7D5E817}"/>
              </a:ext>
            </a:extLst>
          </p:cNvPr>
          <p:cNvPicPr>
            <a:picLocks noChangeAspect="1"/>
          </p:cNvPicPr>
          <p:nvPr/>
        </p:nvPicPr>
        <p:blipFill>
          <a:blip r:embed="rId2"/>
          <a:stretch>
            <a:fillRect/>
          </a:stretch>
        </p:blipFill>
        <p:spPr>
          <a:xfrm>
            <a:off x="-556960" y="-419100"/>
            <a:ext cx="5867400" cy="571076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A6ED3-C91B-4627-4630-8910828616F6}"/>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27FB718-43C3-7445-3FE4-2710E6E347A0}"/>
              </a:ext>
            </a:extLst>
          </p:cNvPr>
          <p:cNvSpPr txBox="1"/>
          <p:nvPr/>
        </p:nvSpPr>
        <p:spPr>
          <a:xfrm>
            <a:off x="6100183" y="238742"/>
            <a:ext cx="7769646" cy="1038225"/>
          </a:xfrm>
          <a:prstGeom prst="rect">
            <a:avLst/>
          </a:prstGeom>
        </p:spPr>
        <p:txBody>
          <a:bodyPr lIns="0" tIns="0" rIns="0" bIns="0" rtlCol="0" anchor="t">
            <a:spAutoFit/>
          </a:bodyPr>
          <a:lstStyle/>
          <a:p>
            <a:pPr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Introduction</a:t>
            </a:r>
          </a:p>
        </p:txBody>
      </p:sp>
      <p:sp>
        <p:nvSpPr>
          <p:cNvPr id="3" name="TextBox 3">
            <a:extLst>
              <a:ext uri="{FF2B5EF4-FFF2-40B4-BE49-F238E27FC236}">
                <a16:creationId xmlns:a16="http://schemas.microsoft.com/office/drawing/2014/main" id="{5D0E4150-0E4C-085B-AD08-BBFA8C481D42}"/>
              </a:ext>
            </a:extLst>
          </p:cNvPr>
          <p:cNvSpPr txBox="1"/>
          <p:nvPr/>
        </p:nvSpPr>
        <p:spPr>
          <a:xfrm>
            <a:off x="6100183" y="1200767"/>
            <a:ext cx="11493089" cy="5170646"/>
          </a:xfrm>
          <a:prstGeom prst="rect">
            <a:avLst/>
          </a:prstGeom>
        </p:spPr>
        <p:txBody>
          <a:bodyPr lIns="0" tIns="0" rIns="0" bIns="0" rtlCol="0" anchor="t">
            <a:spAutoFit/>
          </a:bodyPr>
          <a:lstStyle/>
          <a:p>
            <a:r>
              <a:rPr lang="en-US" sz="4800" dirty="0"/>
              <a:t>A common misconception among beginning AI researchers is that the most important part of an AI project is selecting a sophisticated algorithm. In practice, a substantial portion of AI development involves understanding, collecting, organizing, cleaning, and analyzing data.</a:t>
            </a:r>
          </a:p>
        </p:txBody>
      </p:sp>
      <p:pic>
        <p:nvPicPr>
          <p:cNvPr id="7" name="Picture 6" descr="92,000+ Machine Learning Robot Stock Photos and Royalty-Free ...">
            <a:extLst>
              <a:ext uri="{FF2B5EF4-FFF2-40B4-BE49-F238E27FC236}">
                <a16:creationId xmlns:a16="http://schemas.microsoft.com/office/drawing/2014/main" id="{388B2477-596E-CB64-6ACE-F886A8864C88}"/>
              </a:ext>
            </a:extLst>
          </p:cNvPr>
          <p:cNvPicPr>
            <a:picLocks noChangeAspect="1"/>
          </p:cNvPicPr>
          <p:nvPr/>
        </p:nvPicPr>
        <p:blipFill>
          <a:blip r:embed="rId2"/>
          <a:stretch>
            <a:fillRect/>
          </a:stretch>
        </p:blipFill>
        <p:spPr>
          <a:xfrm>
            <a:off x="-556960" y="-419100"/>
            <a:ext cx="5867400" cy="571076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09335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2F9A30-51E2-5850-D074-E68EBB71E2BF}"/>
              </a:ext>
            </a:extLst>
          </p:cNvPr>
          <p:cNvPicPr>
            <a:picLocks noChangeAspect="1"/>
          </p:cNvPicPr>
          <p:nvPr/>
        </p:nvPicPr>
        <p:blipFill>
          <a:blip r:embed="rId2"/>
          <a:stretch>
            <a:fillRect/>
          </a:stretch>
        </p:blipFill>
        <p:spPr>
          <a:xfrm>
            <a:off x="-683025" y="-342900"/>
            <a:ext cx="19397916" cy="10820400"/>
          </a:xfrm>
          <a:prstGeom prst="rect">
            <a:avLst/>
          </a:prstGeom>
        </p:spPr>
      </p:pic>
    </p:spTree>
    <p:extLst>
      <p:ext uri="{BB962C8B-B14F-4D97-AF65-F5344CB8AC3E}">
        <p14:creationId xmlns:p14="http://schemas.microsoft.com/office/powerpoint/2010/main" val="2439284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 name="Freeform 2"/>
          <p:cNvSpPr/>
          <p:nvPr/>
        </p:nvSpPr>
        <p:spPr>
          <a:xfrm>
            <a:off x="6464689" y="-6138134"/>
            <a:ext cx="10794611" cy="10814273"/>
          </a:xfrm>
          <a:custGeom>
            <a:avLst/>
            <a:gdLst/>
            <a:ahLst/>
            <a:cxnLst/>
            <a:rect l="l" t="t" r="r" b="b"/>
            <a:pathLst>
              <a:path w="10794611" h="10814273">
                <a:moveTo>
                  <a:pt x="0" y="0"/>
                </a:moveTo>
                <a:lnTo>
                  <a:pt x="10794611" y="0"/>
                </a:lnTo>
                <a:lnTo>
                  <a:pt x="10794611" y="10814273"/>
                </a:lnTo>
                <a:lnTo>
                  <a:pt x="0" y="10814273"/>
                </a:lnTo>
                <a:lnTo>
                  <a:pt x="0" y="0"/>
                </a:lnTo>
                <a:close/>
              </a:path>
            </a:pathLst>
          </a:custGeom>
          <a:blipFill>
            <a:blip>
              <a:extLst>
                <a:ext uri="{96DAC541-7B7A-43D3-8B79-37D633B846F1}">
                  <asvg:svgBlip xmlns:asvg="http://schemas.microsoft.com/office/drawing/2016/SVG/main" r:embed="rId2"/>
                </a:ext>
              </a:extLst>
            </a:blip>
            <a:stretch>
              <a:fillRect/>
            </a:stretch>
          </a:blipFill>
        </p:spPr>
      </p:sp>
      <p:pic>
        <p:nvPicPr>
          <p:cNvPr id="7" name="Picture 6">
            <a:extLst>
              <a:ext uri="{FF2B5EF4-FFF2-40B4-BE49-F238E27FC236}">
                <a16:creationId xmlns:a16="http://schemas.microsoft.com/office/drawing/2014/main" id="{590C857E-7DBE-150E-AFE4-8162CBE5920A}"/>
              </a:ext>
            </a:extLst>
          </p:cNvPr>
          <p:cNvPicPr>
            <a:picLocks noChangeAspect="1"/>
          </p:cNvPicPr>
          <p:nvPr/>
        </p:nvPicPr>
        <p:blipFill>
          <a:blip r:embed="rId3"/>
          <a:stretch>
            <a:fillRect/>
          </a:stretch>
        </p:blipFill>
        <p:spPr>
          <a:xfrm>
            <a:off x="609600" y="244929"/>
            <a:ext cx="6705600" cy="10058400"/>
          </a:xfrm>
          <a:prstGeom prst="rect">
            <a:avLst/>
          </a:prstGeom>
        </p:spPr>
      </p:pic>
      <p:sp>
        <p:nvSpPr>
          <p:cNvPr id="10" name="TextBox 5">
            <a:extLst>
              <a:ext uri="{FF2B5EF4-FFF2-40B4-BE49-F238E27FC236}">
                <a16:creationId xmlns:a16="http://schemas.microsoft.com/office/drawing/2014/main" id="{03659B7C-6E16-27E2-302D-09CBC2454A16}"/>
              </a:ext>
            </a:extLst>
          </p:cNvPr>
          <p:cNvSpPr txBox="1"/>
          <p:nvPr/>
        </p:nvSpPr>
        <p:spPr>
          <a:xfrm>
            <a:off x="9081534" y="3802599"/>
            <a:ext cx="7535001" cy="2115964"/>
          </a:xfrm>
          <a:prstGeom prst="rect">
            <a:avLst/>
          </a:prstGeom>
        </p:spPr>
        <p:txBody>
          <a:bodyPr wrap="square" lIns="0" tIns="0" rIns="0" bIns="0" rtlCol="0" anchor="t">
            <a:spAutoFit/>
          </a:bodyPr>
          <a:lstStyle/>
          <a:p>
            <a:pPr algn="ctr">
              <a:lnSpc>
                <a:spcPts val="8400"/>
              </a:lnSpc>
              <a:spcBef>
                <a:spcPct val="0"/>
              </a:spcBef>
            </a:pPr>
            <a:r>
              <a:rPr lang="en-US" sz="6000" b="1" dirty="0">
                <a:solidFill>
                  <a:srgbClr val="22588D"/>
                </a:solidFill>
                <a:latin typeface="Museo Moderno Bold"/>
                <a:ea typeface="Museo Moderno Bold"/>
                <a:cs typeface="Museo Moderno Bold"/>
                <a:sym typeface="Museo Moderno Bold"/>
              </a:rPr>
              <a:t>Overview of the </a:t>
            </a:r>
          </a:p>
          <a:p>
            <a:pPr algn="ctr">
              <a:lnSpc>
                <a:spcPts val="8400"/>
              </a:lnSpc>
              <a:spcBef>
                <a:spcPct val="0"/>
              </a:spcBef>
            </a:pPr>
            <a:r>
              <a:rPr lang="en-US" sz="6000" b="1" dirty="0">
                <a:solidFill>
                  <a:srgbClr val="22588D"/>
                </a:solidFill>
                <a:latin typeface="Museo Moderno Bold"/>
                <a:sym typeface="Museo Moderno Bold"/>
              </a:rPr>
              <a:t>AI Data Lifecycle</a:t>
            </a:r>
          </a:p>
        </p:txBody>
      </p:sp>
      <p:pic>
        <p:nvPicPr>
          <p:cNvPr id="11" name="Picture 10" descr="Customer Lifecycle Management&quot; Images – Browse 648 Stock Photos, Vectors,  and Video | Adobe Stock">
            <a:extLst>
              <a:ext uri="{FF2B5EF4-FFF2-40B4-BE49-F238E27FC236}">
                <a16:creationId xmlns:a16="http://schemas.microsoft.com/office/drawing/2014/main" id="{CABC7CF0-57A3-BD17-07AE-0DEF972BDD09}"/>
              </a:ext>
            </a:extLst>
          </p:cNvPr>
          <p:cNvPicPr>
            <a:picLocks noChangeAspect="1"/>
          </p:cNvPicPr>
          <p:nvPr/>
        </p:nvPicPr>
        <p:blipFill>
          <a:blip r:embed="rId4"/>
          <a:stretch>
            <a:fillRect/>
          </a:stretch>
        </p:blipFill>
        <p:spPr>
          <a:xfrm>
            <a:off x="7420956" y="6209029"/>
            <a:ext cx="10856158" cy="405837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 name="Freeform 2"/>
          <p:cNvSpPr/>
          <p:nvPr/>
        </p:nvSpPr>
        <p:spPr>
          <a:xfrm>
            <a:off x="10707159" y="-6035048"/>
            <a:ext cx="10704366"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637578" y="58747"/>
            <a:ext cx="10563822" cy="1038746"/>
          </a:xfrm>
          <a:prstGeom prst="rect">
            <a:avLst/>
          </a:prstGeom>
        </p:spPr>
        <p:txBody>
          <a:bodyPr wrap="square" lIns="0" tIns="0" rIns="0" bIns="0" rtlCol="0" anchor="t">
            <a:spAutoFit/>
          </a:bodyPr>
          <a:lstStyle/>
          <a:p>
            <a:pPr marL="0" lvl="0" indent="0" algn="ctr">
              <a:lnSpc>
                <a:spcPts val="8400"/>
              </a:lnSpc>
              <a:spcBef>
                <a:spcPct val="0"/>
              </a:spcBef>
            </a:pPr>
            <a:r>
              <a:rPr lang="en-US" sz="6000" b="1" dirty="0">
                <a:solidFill>
                  <a:srgbClr val="22588D"/>
                </a:solidFill>
                <a:latin typeface="Museo Moderno Bold"/>
                <a:ea typeface="Museo Moderno Bold"/>
                <a:cs typeface="Museo Moderno Bold"/>
                <a:sym typeface="Museo Moderno Bold"/>
              </a:rPr>
              <a:t>PART I: DATA COLLECTION</a:t>
            </a:r>
            <a:endParaRPr lang="en-US" sz="6000" b="1" u="none" strike="noStrike" dirty="0">
              <a:solidFill>
                <a:srgbClr val="22588D"/>
              </a:solidFill>
              <a:latin typeface="Museo Moderno Bold"/>
              <a:ea typeface="Museo Moderno Bold"/>
              <a:cs typeface="Museo Moderno Bold"/>
              <a:sym typeface="Museo Moderno Bold"/>
            </a:endParaRPr>
          </a:p>
        </p:txBody>
      </p:sp>
      <p:sp>
        <p:nvSpPr>
          <p:cNvPr id="17" name="TextBox 16">
            <a:extLst>
              <a:ext uri="{FF2B5EF4-FFF2-40B4-BE49-F238E27FC236}">
                <a16:creationId xmlns:a16="http://schemas.microsoft.com/office/drawing/2014/main" id="{BD493100-DD40-44B0-A701-C036A671B667}"/>
              </a:ext>
            </a:extLst>
          </p:cNvPr>
          <p:cNvSpPr txBox="1"/>
          <p:nvPr/>
        </p:nvSpPr>
        <p:spPr>
          <a:xfrm>
            <a:off x="341090" y="1485900"/>
            <a:ext cx="17489710" cy="4898777"/>
          </a:xfrm>
          <a:prstGeom prst="rect">
            <a:avLst/>
          </a:prstGeom>
          <a:noFill/>
        </p:spPr>
        <p:txBody>
          <a:bodyPr wrap="square">
            <a:spAutoFit/>
          </a:bodyPr>
          <a:lstStyle/>
          <a:p>
            <a:pPr marL="0" marR="0">
              <a:lnSpc>
                <a:spcPct val="100000"/>
              </a:lnSpc>
              <a:spcBef>
                <a:spcPts val="2400"/>
              </a:spcBef>
              <a:buNone/>
            </a:pPr>
            <a:r>
              <a:rPr lang="en-US" sz="4000" b="1" kern="0" dirty="0">
                <a:solidFill>
                  <a:schemeClr val="tx1"/>
                </a:solidFill>
                <a:effectLst/>
                <a:latin typeface="+mn-lt"/>
                <a:ea typeface="MS Gothic" panose="020B0609070205080204" pitchFamily="49" charset="-128"/>
                <a:cs typeface="Times New Roman" panose="02020603050405020304" pitchFamily="18" charset="0"/>
              </a:rPr>
              <a:t>Understanding Data Collection</a:t>
            </a:r>
          </a:p>
          <a:p>
            <a:pPr marL="0" marR="0" algn="just">
              <a:lnSpc>
                <a:spcPct val="100000"/>
              </a:lnSpc>
              <a:spcAft>
                <a:spcPts val="1000"/>
              </a:spcAft>
              <a:buNone/>
            </a:pPr>
            <a:r>
              <a:rPr lang="en-US" sz="4400" dirty="0">
                <a:effectLst/>
                <a:latin typeface="+mn-lt"/>
                <a:ea typeface="MS Mincho" panose="02020609040205080304" pitchFamily="49" charset="-128"/>
                <a:cs typeface="Times New Roman" panose="02020603050405020304" pitchFamily="18" charset="0"/>
              </a:rPr>
              <a:t>Data collection is the systematic process of gathering information required to answer a research question, develop a computational model, or support a decision-making process. In Machine Learning, data serves as the basis from which a model learns patterns.</a:t>
            </a:r>
          </a:p>
          <a:p>
            <a:pPr marL="0" marR="0" algn="just">
              <a:lnSpc>
                <a:spcPct val="100000"/>
              </a:lnSpc>
              <a:spcAft>
                <a:spcPts val="1000"/>
              </a:spcAft>
              <a:buNone/>
            </a:pPr>
            <a:r>
              <a:rPr lang="en-US" sz="4400" dirty="0">
                <a:effectLst/>
                <a:latin typeface="+mn-lt"/>
                <a:ea typeface="MS Mincho" panose="02020609040205080304" pitchFamily="49" charset="-128"/>
                <a:cs typeface="Times New Roman" panose="02020603050405020304" pitchFamily="18" charset="0"/>
              </a:rPr>
              <a:t>Before collecting data, students must first understand: What information does my proposed system need in order to perform its intended task?</a:t>
            </a:r>
            <a:endParaRPr lang="en-US" sz="2400" dirty="0">
              <a:effectLst/>
              <a:latin typeface="Arial" panose="020B0604020202020204" pitchFamily="34" charset="0"/>
              <a:ea typeface="MS Mincho" panose="02020609040205080304" pitchFamily="49" charset="-128"/>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42A6F-E512-304F-0915-2018CD48DB5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E686E12-3034-6378-0822-09A8A9C1E7D8}"/>
              </a:ext>
            </a:extLst>
          </p:cNvPr>
          <p:cNvSpPr/>
          <p:nvPr/>
        </p:nvSpPr>
        <p:spPr>
          <a:xfrm>
            <a:off x="10707159" y="-6035048"/>
            <a:ext cx="10704366"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06DAADC7-6ADD-6BD1-CF9B-5BE60B44DC6C}"/>
              </a:ext>
            </a:extLst>
          </p:cNvPr>
          <p:cNvSpPr txBox="1"/>
          <p:nvPr/>
        </p:nvSpPr>
        <p:spPr>
          <a:xfrm>
            <a:off x="637578" y="58747"/>
            <a:ext cx="10563822" cy="1038746"/>
          </a:xfrm>
          <a:prstGeom prst="rect">
            <a:avLst/>
          </a:prstGeom>
        </p:spPr>
        <p:txBody>
          <a:bodyPr wrap="square" lIns="0" tIns="0" rIns="0" bIns="0" rtlCol="0" anchor="t">
            <a:spAutoFit/>
          </a:bodyPr>
          <a:lstStyle/>
          <a:p>
            <a:pPr marL="0" lvl="0" indent="0" algn="ctr">
              <a:lnSpc>
                <a:spcPts val="8400"/>
              </a:lnSpc>
              <a:spcBef>
                <a:spcPct val="0"/>
              </a:spcBef>
            </a:pPr>
            <a:r>
              <a:rPr lang="en-US" sz="6000" b="1" dirty="0">
                <a:solidFill>
                  <a:srgbClr val="22588D"/>
                </a:solidFill>
                <a:latin typeface="Museo Moderno Bold"/>
                <a:ea typeface="Museo Moderno Bold"/>
                <a:cs typeface="Museo Moderno Bold"/>
                <a:sym typeface="Museo Moderno Bold"/>
              </a:rPr>
              <a:t>PART I: DATA COLLECTION</a:t>
            </a:r>
            <a:endParaRPr lang="en-US" sz="6000" b="1" u="none" strike="noStrike" dirty="0">
              <a:solidFill>
                <a:srgbClr val="22588D"/>
              </a:solidFill>
              <a:latin typeface="Museo Moderno Bold"/>
              <a:ea typeface="Museo Moderno Bold"/>
              <a:cs typeface="Museo Moderno Bold"/>
              <a:sym typeface="Museo Moderno Bold"/>
            </a:endParaRPr>
          </a:p>
        </p:txBody>
      </p:sp>
      <p:sp>
        <p:nvSpPr>
          <p:cNvPr id="17" name="TextBox 16">
            <a:extLst>
              <a:ext uri="{FF2B5EF4-FFF2-40B4-BE49-F238E27FC236}">
                <a16:creationId xmlns:a16="http://schemas.microsoft.com/office/drawing/2014/main" id="{6EA448E8-6CC9-0B5B-A2D8-28880A945374}"/>
              </a:ext>
            </a:extLst>
          </p:cNvPr>
          <p:cNvSpPr txBox="1"/>
          <p:nvPr/>
        </p:nvSpPr>
        <p:spPr>
          <a:xfrm>
            <a:off x="341090" y="1485900"/>
            <a:ext cx="17489710" cy="6247864"/>
          </a:xfrm>
          <a:prstGeom prst="rect">
            <a:avLst/>
          </a:prstGeom>
          <a:noFill/>
        </p:spPr>
        <p:txBody>
          <a:bodyPr wrap="square">
            <a:spAutoFit/>
          </a:bodyPr>
          <a:lstStyle/>
          <a:p>
            <a:r>
              <a:rPr lang="en-US" sz="4000" b="1" dirty="0"/>
              <a:t>Identifying Data Requirements</a:t>
            </a:r>
          </a:p>
          <a:p>
            <a:r>
              <a:rPr lang="en-US" sz="4000" dirty="0"/>
              <a:t>Students should not immediately collect any available dataset. They must first define their data requirements.</a:t>
            </a:r>
          </a:p>
          <a:p>
            <a:pPr marL="1028700" lvl="1" indent="-571500">
              <a:buFont typeface="Wingdings" panose="05000000000000000000" pitchFamily="2" charset="2"/>
              <a:buChar char="ü"/>
            </a:pPr>
            <a:r>
              <a:rPr lang="en-US" sz="4000" dirty="0"/>
              <a:t>What is the problem?</a:t>
            </a:r>
          </a:p>
          <a:p>
            <a:pPr marL="1028700" lvl="1" indent="-571500">
              <a:buFont typeface="Wingdings" panose="05000000000000000000" pitchFamily="2" charset="2"/>
              <a:buChar char="ü"/>
            </a:pPr>
            <a:r>
              <a:rPr lang="en-US" sz="4000" dirty="0"/>
              <a:t>What should the system do?</a:t>
            </a:r>
          </a:p>
          <a:p>
            <a:pPr marL="1028700" lvl="1" indent="-571500">
              <a:buFont typeface="Wingdings" panose="05000000000000000000" pitchFamily="2" charset="2"/>
              <a:buChar char="ü"/>
            </a:pPr>
            <a:r>
              <a:rPr lang="en-US" sz="4000" dirty="0"/>
              <a:t>What information might help make a prediction, classification, analysis, or decision?</a:t>
            </a:r>
          </a:p>
          <a:p>
            <a:pPr marL="1028700" lvl="1" indent="-571500">
              <a:buFont typeface="Wingdings" panose="05000000000000000000" pitchFamily="2" charset="2"/>
              <a:buChar char="ü"/>
            </a:pPr>
            <a:r>
              <a:rPr lang="en-US" sz="4000" dirty="0"/>
              <a:t>What should the model predict, classify, generate, or retrieve?</a:t>
            </a:r>
          </a:p>
          <a:p>
            <a:r>
              <a:rPr lang="en-US" sz="4000" dirty="0"/>
              <a:t>The predicted variable is commonly called the target variable, dependent variable, label, or output variable.</a:t>
            </a:r>
          </a:p>
        </p:txBody>
      </p:sp>
    </p:spTree>
    <p:extLst>
      <p:ext uri="{BB962C8B-B14F-4D97-AF65-F5344CB8AC3E}">
        <p14:creationId xmlns:p14="http://schemas.microsoft.com/office/powerpoint/2010/main" val="4200403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81AD8-CD61-E5FD-6539-E11F4984556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64D38C9-4A2D-CB9A-4CEF-0B0E83DB2E64}"/>
              </a:ext>
            </a:extLst>
          </p:cNvPr>
          <p:cNvSpPr/>
          <p:nvPr/>
        </p:nvSpPr>
        <p:spPr>
          <a:xfrm flipH="1" flipV="1">
            <a:off x="2286000" y="-6515100"/>
            <a:ext cx="17562366" cy="16383000"/>
          </a:xfrm>
          <a:custGeom>
            <a:avLst/>
            <a:gdLst/>
            <a:ahLst/>
            <a:cxnLst/>
            <a:rect l="l" t="t" r="r" b="b"/>
            <a:pathLst>
              <a:path w="10704366" h="10723864">
                <a:moveTo>
                  <a:pt x="10704366" y="10723864"/>
                </a:moveTo>
                <a:lnTo>
                  <a:pt x="0" y="10723864"/>
                </a:lnTo>
                <a:lnTo>
                  <a:pt x="0" y="0"/>
                </a:lnTo>
                <a:lnTo>
                  <a:pt x="10704366" y="0"/>
                </a:lnTo>
                <a:lnTo>
                  <a:pt x="10704366" y="10723864"/>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E33049B7-40F3-5B4E-0109-063A163A4568}"/>
              </a:ext>
            </a:extLst>
          </p:cNvPr>
          <p:cNvSpPr txBox="1"/>
          <p:nvPr/>
        </p:nvSpPr>
        <p:spPr>
          <a:xfrm>
            <a:off x="595274" y="-9525"/>
            <a:ext cx="14817190" cy="1038225"/>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Features and Target Variables</a:t>
            </a:r>
          </a:p>
        </p:txBody>
      </p:sp>
      <p:sp>
        <p:nvSpPr>
          <p:cNvPr id="8" name="TextBox 4">
            <a:extLst>
              <a:ext uri="{FF2B5EF4-FFF2-40B4-BE49-F238E27FC236}">
                <a16:creationId xmlns:a16="http://schemas.microsoft.com/office/drawing/2014/main" id="{A3A2B4C9-BDD5-757A-CB99-137DE72AFCEF}"/>
              </a:ext>
            </a:extLst>
          </p:cNvPr>
          <p:cNvSpPr txBox="1"/>
          <p:nvPr/>
        </p:nvSpPr>
        <p:spPr>
          <a:xfrm>
            <a:off x="595274" y="1181100"/>
            <a:ext cx="13425526" cy="5909310"/>
          </a:xfrm>
          <a:prstGeom prst="rect">
            <a:avLst/>
          </a:prstGeom>
        </p:spPr>
        <p:txBody>
          <a:bodyPr wrap="square" lIns="0" tIns="0" rIns="0" bIns="0" rtlCol="0" anchor="t">
            <a:spAutoFit/>
          </a:bodyPr>
          <a:lstStyle/>
          <a:p>
            <a:r>
              <a:rPr lang="en-US" sz="4800" dirty="0"/>
              <a:t>Features are input variables used by a Machine Learning model to identify patterns. The target variable is the value or category the model attempts to predict.</a:t>
            </a:r>
          </a:p>
          <a:p>
            <a:r>
              <a:rPr lang="en-US" sz="4800" dirty="0"/>
              <a:t>Students should be able to complete the statement: My proposed AI system will use __________ as input in order to predict/classify/generate/retrieve __________.</a:t>
            </a:r>
          </a:p>
        </p:txBody>
      </p:sp>
    </p:spTree>
    <p:extLst>
      <p:ext uri="{BB962C8B-B14F-4D97-AF65-F5344CB8AC3E}">
        <p14:creationId xmlns:p14="http://schemas.microsoft.com/office/powerpoint/2010/main" val="570758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0B48FE73-40DA-D9A8-E17F-FA76EE0CBAE2}"/>
              </a:ext>
            </a:extLst>
          </p:cNvPr>
          <p:cNvPicPr>
            <a:picLocks noChangeAspect="1"/>
          </p:cNvPicPr>
          <p:nvPr/>
        </p:nvPicPr>
        <p:blipFill>
          <a:blip r:embed="rId3"/>
          <a:stretch>
            <a:fillRect/>
          </a:stretch>
        </p:blipFill>
        <p:spPr>
          <a:xfrm>
            <a:off x="-457200" y="-190500"/>
            <a:ext cx="18988101" cy="1079862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 name="Freeform 2"/>
          <p:cNvSpPr/>
          <p:nvPr/>
        </p:nvSpPr>
        <p:spPr>
          <a:xfrm rot="-9572797" flipV="1">
            <a:off x="-5352183" y="-7112624"/>
            <a:ext cx="10704366" cy="10723864"/>
          </a:xfrm>
          <a:custGeom>
            <a:avLst/>
            <a:gdLst/>
            <a:ahLst/>
            <a:cxnLst/>
            <a:rect l="l" t="t" r="r" b="b"/>
            <a:pathLst>
              <a:path w="10704366" h="10723864">
                <a:moveTo>
                  <a:pt x="0" y="10723863"/>
                </a:moveTo>
                <a:lnTo>
                  <a:pt x="10704366" y="10723863"/>
                </a:lnTo>
                <a:lnTo>
                  <a:pt x="10704366" y="0"/>
                </a:lnTo>
                <a:lnTo>
                  <a:pt x="0" y="0"/>
                </a:lnTo>
                <a:lnTo>
                  <a:pt x="0" y="10723863"/>
                </a:lnTo>
                <a:close/>
              </a:path>
            </a:pathLst>
          </a:custGeom>
          <a:blipFill>
            <a:blip>
              <a:extLst>
                <a:ext uri="{96DAC541-7B7A-43D3-8B79-37D633B846F1}">
                  <asvg:svgBlip xmlns:asvg="http://schemas.microsoft.com/office/drawing/2016/SVG/main" r:embed="rId3"/>
                </a:ext>
              </a:extLst>
            </a:blip>
            <a:stretch>
              <a:fillRect/>
            </a:stretch>
          </a:blipFill>
        </p:spPr>
      </p:sp>
      <p:pic>
        <p:nvPicPr>
          <p:cNvPr id="13" name="Picture 12">
            <a:extLst>
              <a:ext uri="{FF2B5EF4-FFF2-40B4-BE49-F238E27FC236}">
                <a16:creationId xmlns:a16="http://schemas.microsoft.com/office/drawing/2014/main" id="{ACEA7814-326B-C370-7FD3-F064213D1BA6}"/>
              </a:ext>
            </a:extLst>
          </p:cNvPr>
          <p:cNvPicPr>
            <a:picLocks noChangeAspect="1"/>
          </p:cNvPicPr>
          <p:nvPr/>
        </p:nvPicPr>
        <p:blipFill>
          <a:blip r:embed="rId4">
            <a:clrChange>
              <a:clrFrom>
                <a:srgbClr val="FEFEFE"/>
              </a:clrFrom>
              <a:clrTo>
                <a:srgbClr val="FEFEFE">
                  <a:alpha val="0"/>
                </a:srgbClr>
              </a:clrTo>
            </a:clrChange>
            <a:extLst>
              <a:ext uri="{28A0092B-C50C-407E-A947-70E740481C1C}">
                <a14:useLocalDpi xmlns:a14="http://schemas.microsoft.com/office/drawing/2010/main" val="0"/>
              </a:ext>
            </a:extLst>
          </a:blip>
          <a:stretch>
            <a:fillRect/>
          </a:stretch>
        </p:blipFill>
        <p:spPr>
          <a:xfrm>
            <a:off x="685800" y="342900"/>
            <a:ext cx="16611600" cy="9753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8394B-8933-156F-4BE1-CE63709C19E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43BCA0C-C076-6B68-69FB-C47E5CEC49F9}"/>
              </a:ext>
            </a:extLst>
          </p:cNvPr>
          <p:cNvSpPr/>
          <p:nvPr/>
        </p:nvSpPr>
        <p:spPr>
          <a:xfrm rot="-9572797" flipV="1">
            <a:off x="-5352183" y="-7112624"/>
            <a:ext cx="10704366" cy="10723864"/>
          </a:xfrm>
          <a:custGeom>
            <a:avLst/>
            <a:gdLst/>
            <a:ahLst/>
            <a:cxnLst/>
            <a:rect l="l" t="t" r="r" b="b"/>
            <a:pathLst>
              <a:path w="10704366" h="10723864">
                <a:moveTo>
                  <a:pt x="0" y="10723863"/>
                </a:moveTo>
                <a:lnTo>
                  <a:pt x="10704366" y="10723863"/>
                </a:lnTo>
                <a:lnTo>
                  <a:pt x="10704366" y="0"/>
                </a:lnTo>
                <a:lnTo>
                  <a:pt x="0" y="0"/>
                </a:lnTo>
                <a:lnTo>
                  <a:pt x="0" y="10723863"/>
                </a:lnTo>
                <a:close/>
              </a:path>
            </a:pathLst>
          </a:custGeom>
          <a:blipFill>
            <a:blip>
              <a:extLst>
                <a:ext uri="{96DAC541-7B7A-43D3-8B79-37D633B846F1}">
                  <asvg:svgBlip xmlns:asvg="http://schemas.microsoft.com/office/drawing/2016/SVG/main" r:embed="rId3"/>
                </a:ext>
              </a:extLst>
            </a:blip>
            <a:stretch>
              <a:fillRect/>
            </a:stretch>
          </a:blipFill>
        </p:spPr>
      </p:sp>
      <p:pic>
        <p:nvPicPr>
          <p:cNvPr id="5" name="Picture 2">
            <a:extLst>
              <a:ext uri="{FF2B5EF4-FFF2-40B4-BE49-F238E27FC236}">
                <a16:creationId xmlns:a16="http://schemas.microsoft.com/office/drawing/2014/main" id="{D94C7591-EC1F-C2FC-490D-040A2B8EEB40}"/>
              </a:ext>
            </a:extLst>
          </p:cNvPr>
          <p:cNvPicPr>
            <a:picLocks noChangeAspect="1"/>
          </p:cNvPicPr>
          <p:nvPr/>
        </p:nvPicPr>
        <p:blipFill>
          <a:blip r:embed="rId4"/>
          <a:stretch>
            <a:fillRect/>
          </a:stretch>
        </p:blipFill>
        <p:spPr>
          <a:xfrm>
            <a:off x="-457200" y="-266700"/>
            <a:ext cx="19397916" cy="10820400"/>
          </a:xfrm>
          <a:prstGeom prst="rect">
            <a:avLst/>
          </a:prstGeom>
        </p:spPr>
      </p:pic>
    </p:spTree>
    <p:extLst>
      <p:ext uri="{BB962C8B-B14F-4D97-AF65-F5344CB8AC3E}">
        <p14:creationId xmlns:p14="http://schemas.microsoft.com/office/powerpoint/2010/main" val="5524647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49045-5881-7E72-2DFC-BA66B1B4256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9FB10F4-5C3B-578B-7F6B-D413CB4DE636}"/>
              </a:ext>
            </a:extLst>
          </p:cNvPr>
          <p:cNvSpPr/>
          <p:nvPr/>
        </p:nvSpPr>
        <p:spPr>
          <a:xfrm rot="-9572797" flipV="1">
            <a:off x="-5352183" y="-7112624"/>
            <a:ext cx="10704366" cy="10723864"/>
          </a:xfrm>
          <a:custGeom>
            <a:avLst/>
            <a:gdLst/>
            <a:ahLst/>
            <a:cxnLst/>
            <a:rect l="l" t="t" r="r" b="b"/>
            <a:pathLst>
              <a:path w="10704366" h="10723864">
                <a:moveTo>
                  <a:pt x="0" y="10723863"/>
                </a:moveTo>
                <a:lnTo>
                  <a:pt x="10704366" y="10723863"/>
                </a:lnTo>
                <a:lnTo>
                  <a:pt x="10704366" y="0"/>
                </a:lnTo>
                <a:lnTo>
                  <a:pt x="0" y="0"/>
                </a:lnTo>
                <a:lnTo>
                  <a:pt x="0" y="10723863"/>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78105588-73AA-8E6A-8039-275D2DDA28CA}"/>
              </a:ext>
            </a:extLst>
          </p:cNvPr>
          <p:cNvSpPr txBox="1"/>
          <p:nvPr/>
        </p:nvSpPr>
        <p:spPr>
          <a:xfrm>
            <a:off x="3697614" y="276227"/>
            <a:ext cx="10892771" cy="2115964"/>
          </a:xfrm>
          <a:prstGeom prst="rect">
            <a:avLst/>
          </a:prstGeom>
        </p:spPr>
        <p:txBody>
          <a:bodyPr lIns="0" tIns="0" rIns="0" bIns="0" rtlCol="0" anchor="t">
            <a:spAutoFit/>
          </a:bodyPr>
          <a:lstStyle/>
          <a:p>
            <a:pPr marL="0" lvl="0" indent="0" algn="ctr">
              <a:lnSpc>
                <a:spcPts val="8400"/>
              </a:lnSpc>
              <a:spcBef>
                <a:spcPct val="0"/>
              </a:spcBef>
            </a:pPr>
            <a:r>
              <a:rPr lang="en-US" sz="6000" b="1" dirty="0">
                <a:solidFill>
                  <a:srgbClr val="22588D"/>
                </a:solidFill>
                <a:latin typeface="Museo Moderno Bold"/>
                <a:ea typeface="Museo Moderno Bold"/>
                <a:cs typeface="Museo Moderno Bold"/>
                <a:sym typeface="Museo Moderno Bold"/>
              </a:rPr>
              <a:t>Data Privacy and Ethical Considerations</a:t>
            </a:r>
            <a:endParaRPr lang="en-US" sz="6000" b="1" u="none" strike="noStrike" dirty="0">
              <a:solidFill>
                <a:srgbClr val="22588D"/>
              </a:solidFill>
              <a:latin typeface="Museo Moderno Bold"/>
              <a:ea typeface="Museo Moderno Bold"/>
              <a:cs typeface="Museo Moderno Bold"/>
              <a:sym typeface="Museo Moderno Bold"/>
            </a:endParaRPr>
          </a:p>
        </p:txBody>
      </p:sp>
      <p:sp>
        <p:nvSpPr>
          <p:cNvPr id="11" name="TextBox 10">
            <a:extLst>
              <a:ext uri="{FF2B5EF4-FFF2-40B4-BE49-F238E27FC236}">
                <a16:creationId xmlns:a16="http://schemas.microsoft.com/office/drawing/2014/main" id="{FE1A7CB0-8C33-BF9B-B114-D1D350BEB9A7}"/>
              </a:ext>
            </a:extLst>
          </p:cNvPr>
          <p:cNvSpPr txBox="1"/>
          <p:nvPr/>
        </p:nvSpPr>
        <p:spPr>
          <a:xfrm>
            <a:off x="609600" y="2628900"/>
            <a:ext cx="16551198" cy="6740307"/>
          </a:xfrm>
          <a:prstGeom prst="rect">
            <a:avLst/>
          </a:prstGeom>
          <a:noFill/>
        </p:spPr>
        <p:txBody>
          <a:bodyPr wrap="square">
            <a:spAutoFit/>
          </a:bodyPr>
          <a:lstStyle/>
          <a:p>
            <a:pPr marL="685800" indent="-685800">
              <a:buFont typeface="Wingdings" panose="05000000000000000000" pitchFamily="2" charset="2"/>
              <a:buChar char="ü"/>
            </a:pPr>
            <a:r>
              <a:rPr lang="en-US" sz="5400" dirty="0"/>
              <a:t>AI researchers must consider privacy, consent, security, and potential bias. Personally identifiable information should not be collected unless it is necessary and properly authorized.</a:t>
            </a:r>
          </a:p>
          <a:p>
            <a:pPr marL="685800" indent="-685800">
              <a:buFont typeface="Wingdings" panose="05000000000000000000" pitchFamily="2" charset="2"/>
              <a:buChar char="ü"/>
            </a:pPr>
            <a:r>
              <a:rPr lang="en-US" sz="5400" dirty="0"/>
              <a:t>Researchers should consider anonymization, de-identification, data minimization, and secure storage.</a:t>
            </a:r>
          </a:p>
          <a:p>
            <a:pPr marL="685800" indent="-685800">
              <a:buFont typeface="Wingdings" panose="05000000000000000000" pitchFamily="2" charset="2"/>
              <a:buChar char="ü"/>
            </a:pPr>
            <a:r>
              <a:rPr lang="en-US" sz="5400" dirty="0"/>
              <a:t>A key principle is: Collect only the data necessary to achieve the purpose of the study.</a:t>
            </a:r>
          </a:p>
        </p:txBody>
      </p:sp>
    </p:spTree>
    <p:extLst>
      <p:ext uri="{BB962C8B-B14F-4D97-AF65-F5344CB8AC3E}">
        <p14:creationId xmlns:p14="http://schemas.microsoft.com/office/powerpoint/2010/main" val="3167030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564F2-ED45-54D7-203F-5C0E8158553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9CE4865-64D7-16FB-744D-83AD2EAA2DB2}"/>
              </a:ext>
            </a:extLst>
          </p:cNvPr>
          <p:cNvSpPr/>
          <p:nvPr/>
        </p:nvSpPr>
        <p:spPr>
          <a:xfrm flipH="1">
            <a:off x="9372600" y="1469571"/>
            <a:ext cx="10707159"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AF70E55F-8E6C-B385-6107-28D47208A2E6}"/>
              </a:ext>
            </a:extLst>
          </p:cNvPr>
          <p:cNvSpPr txBox="1"/>
          <p:nvPr/>
        </p:nvSpPr>
        <p:spPr>
          <a:xfrm>
            <a:off x="637578" y="58747"/>
            <a:ext cx="10563822" cy="1038746"/>
          </a:xfrm>
          <a:prstGeom prst="rect">
            <a:avLst/>
          </a:prstGeom>
        </p:spPr>
        <p:txBody>
          <a:bodyPr wrap="square" lIns="0" tIns="0" rIns="0" bIns="0" rtlCol="0" anchor="t">
            <a:spAutoFit/>
          </a:bodyPr>
          <a:lstStyle/>
          <a:p>
            <a:pPr marL="0" lvl="0" indent="0" algn="ctr">
              <a:lnSpc>
                <a:spcPts val="8400"/>
              </a:lnSpc>
              <a:spcBef>
                <a:spcPct val="0"/>
              </a:spcBef>
            </a:pPr>
            <a:r>
              <a:rPr lang="en-US" sz="6000" b="1" dirty="0">
                <a:solidFill>
                  <a:srgbClr val="22588D"/>
                </a:solidFill>
                <a:latin typeface="Museo Moderno Bold"/>
                <a:ea typeface="Museo Moderno Bold"/>
                <a:cs typeface="Museo Moderno Bold"/>
                <a:sym typeface="Museo Moderno Bold"/>
              </a:rPr>
              <a:t>PART 2: DATA CLEANING</a:t>
            </a:r>
            <a:endParaRPr lang="en-US" sz="6000" b="1" u="none" strike="noStrike" dirty="0">
              <a:solidFill>
                <a:srgbClr val="22588D"/>
              </a:solidFill>
              <a:latin typeface="Museo Moderno Bold"/>
              <a:ea typeface="Museo Moderno Bold"/>
              <a:cs typeface="Museo Moderno Bold"/>
              <a:sym typeface="Museo Moderno Bold"/>
            </a:endParaRPr>
          </a:p>
        </p:txBody>
      </p:sp>
      <p:sp>
        <p:nvSpPr>
          <p:cNvPr id="17" name="TextBox 16">
            <a:extLst>
              <a:ext uri="{FF2B5EF4-FFF2-40B4-BE49-F238E27FC236}">
                <a16:creationId xmlns:a16="http://schemas.microsoft.com/office/drawing/2014/main" id="{30B1211B-285C-80D8-98A2-4C4D3303A0F3}"/>
              </a:ext>
            </a:extLst>
          </p:cNvPr>
          <p:cNvSpPr txBox="1"/>
          <p:nvPr/>
        </p:nvSpPr>
        <p:spPr>
          <a:xfrm>
            <a:off x="341090" y="1485900"/>
            <a:ext cx="17489710" cy="5909310"/>
          </a:xfrm>
          <a:prstGeom prst="rect">
            <a:avLst/>
          </a:prstGeom>
          <a:noFill/>
        </p:spPr>
        <p:txBody>
          <a:bodyPr wrap="square">
            <a:spAutoFit/>
          </a:bodyPr>
          <a:lstStyle/>
          <a:p>
            <a:r>
              <a:rPr lang="en-US" sz="5400" b="1" dirty="0"/>
              <a:t>What is Data Cleaning?</a:t>
            </a:r>
          </a:p>
          <a:p>
            <a:r>
              <a:rPr lang="en-US" sz="5400" dirty="0"/>
              <a:t>Data cleaning is the process of identifying and correcting problems within a dataset. Real-world data commonly contains missing values, duplicate records, typographical errors, inconsistent formatting, incorrect data types, noise, outliers, and invalid values.</a:t>
            </a:r>
          </a:p>
          <a:p>
            <a:r>
              <a:rPr lang="en-US" sz="5400" dirty="0"/>
              <a:t>Poor-quality data can produce poor-quality models.</a:t>
            </a:r>
          </a:p>
        </p:txBody>
      </p:sp>
    </p:spTree>
    <p:extLst>
      <p:ext uri="{BB962C8B-B14F-4D97-AF65-F5344CB8AC3E}">
        <p14:creationId xmlns:p14="http://schemas.microsoft.com/office/powerpoint/2010/main" val="2882361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896AA-8488-DD78-6EAE-A146E30CBF2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797B85C-EEC6-09CF-CA47-E112973BBDF5}"/>
              </a:ext>
            </a:extLst>
          </p:cNvPr>
          <p:cNvSpPr/>
          <p:nvPr/>
        </p:nvSpPr>
        <p:spPr>
          <a:xfrm>
            <a:off x="10707159" y="-6035048"/>
            <a:ext cx="10704366"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 name="TextBox 3">
            <a:extLst>
              <a:ext uri="{FF2B5EF4-FFF2-40B4-BE49-F238E27FC236}">
                <a16:creationId xmlns:a16="http://schemas.microsoft.com/office/drawing/2014/main" id="{133A92DB-520B-A513-7284-27643FA3CCA1}"/>
              </a:ext>
            </a:extLst>
          </p:cNvPr>
          <p:cNvSpPr txBox="1"/>
          <p:nvPr/>
        </p:nvSpPr>
        <p:spPr>
          <a:xfrm>
            <a:off x="637578" y="58747"/>
            <a:ext cx="10563822" cy="1038746"/>
          </a:xfrm>
          <a:prstGeom prst="rect">
            <a:avLst/>
          </a:prstGeom>
        </p:spPr>
        <p:txBody>
          <a:bodyPr wrap="square" lIns="0" tIns="0" rIns="0" bIns="0" rtlCol="0" anchor="t">
            <a:spAutoFit/>
          </a:bodyPr>
          <a:lstStyle/>
          <a:p>
            <a:pPr marL="0" lvl="0" indent="0" algn="ctr">
              <a:lnSpc>
                <a:spcPts val="8400"/>
              </a:lnSpc>
              <a:spcBef>
                <a:spcPct val="0"/>
              </a:spcBef>
            </a:pPr>
            <a:r>
              <a:rPr lang="en-US" sz="6000" b="1" dirty="0">
                <a:solidFill>
                  <a:srgbClr val="22588D"/>
                </a:solidFill>
                <a:latin typeface="Museo Moderno Bold"/>
                <a:ea typeface="Museo Moderno Bold"/>
                <a:cs typeface="Museo Moderno Bold"/>
                <a:sym typeface="Museo Moderno Bold"/>
              </a:rPr>
              <a:t>PART 2: DATA CLEANING</a:t>
            </a:r>
            <a:endParaRPr lang="en-US" sz="6000" b="1" u="none" strike="noStrike" dirty="0">
              <a:solidFill>
                <a:srgbClr val="22588D"/>
              </a:solidFill>
              <a:latin typeface="Museo Moderno Bold"/>
              <a:ea typeface="Museo Moderno Bold"/>
              <a:cs typeface="Museo Moderno Bold"/>
              <a:sym typeface="Museo Moderno Bold"/>
            </a:endParaRPr>
          </a:p>
        </p:txBody>
      </p:sp>
      <p:pic>
        <p:nvPicPr>
          <p:cNvPr id="5" name="Picture 4">
            <a:extLst>
              <a:ext uri="{FF2B5EF4-FFF2-40B4-BE49-F238E27FC236}">
                <a16:creationId xmlns:a16="http://schemas.microsoft.com/office/drawing/2014/main" id="{0336295F-6ED0-384B-9BCC-53FCE6DAA6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00" y="1028700"/>
            <a:ext cx="16459200" cy="9363456"/>
          </a:xfrm>
          <a:prstGeom prst="rect">
            <a:avLst/>
          </a:prstGeom>
        </p:spPr>
      </p:pic>
    </p:spTree>
    <p:extLst>
      <p:ext uri="{BB962C8B-B14F-4D97-AF65-F5344CB8AC3E}">
        <p14:creationId xmlns:p14="http://schemas.microsoft.com/office/powerpoint/2010/main" val="3567965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5FE97-4979-2ECF-0C7E-38E4BF24672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444B12A-8273-02E1-0E73-A36A5DA06A26}"/>
              </a:ext>
            </a:extLst>
          </p:cNvPr>
          <p:cNvSpPr/>
          <p:nvPr/>
        </p:nvSpPr>
        <p:spPr>
          <a:xfrm>
            <a:off x="10707159" y="-6035048"/>
            <a:ext cx="10704366"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3"/>
                </a:ext>
              </a:extLst>
            </a:blip>
            <a:stretch>
              <a:fillRect/>
            </a:stretch>
          </a:blipFill>
        </p:spPr>
      </p:sp>
      <p:pic>
        <p:nvPicPr>
          <p:cNvPr id="5" name="Picture 4">
            <a:extLst>
              <a:ext uri="{FF2B5EF4-FFF2-40B4-BE49-F238E27FC236}">
                <a16:creationId xmlns:a16="http://schemas.microsoft.com/office/drawing/2014/main" id="{ABFFC9CA-AE82-4C06-42CA-141CC67719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28800" y="876300"/>
            <a:ext cx="14630400" cy="9753600"/>
          </a:xfrm>
          <a:prstGeom prst="rect">
            <a:avLst/>
          </a:prstGeom>
        </p:spPr>
      </p:pic>
      <p:sp>
        <p:nvSpPr>
          <p:cNvPr id="7" name="TextBox 3">
            <a:extLst>
              <a:ext uri="{FF2B5EF4-FFF2-40B4-BE49-F238E27FC236}">
                <a16:creationId xmlns:a16="http://schemas.microsoft.com/office/drawing/2014/main" id="{E64A8C7B-AC64-2EAE-B7CB-93FF44B2CA00}"/>
              </a:ext>
            </a:extLst>
          </p:cNvPr>
          <p:cNvSpPr txBox="1"/>
          <p:nvPr/>
        </p:nvSpPr>
        <p:spPr>
          <a:xfrm>
            <a:off x="637578" y="58747"/>
            <a:ext cx="10563822" cy="1038746"/>
          </a:xfrm>
          <a:prstGeom prst="rect">
            <a:avLst/>
          </a:prstGeom>
        </p:spPr>
        <p:txBody>
          <a:bodyPr wrap="square" lIns="0" tIns="0" rIns="0" bIns="0" rtlCol="0" anchor="t">
            <a:spAutoFit/>
          </a:bodyPr>
          <a:lstStyle/>
          <a:p>
            <a:pPr marL="0" lvl="0" indent="0" algn="ctr">
              <a:lnSpc>
                <a:spcPts val="8400"/>
              </a:lnSpc>
              <a:spcBef>
                <a:spcPct val="0"/>
              </a:spcBef>
            </a:pPr>
            <a:r>
              <a:rPr lang="en-US" sz="6000" b="1" dirty="0">
                <a:solidFill>
                  <a:srgbClr val="22588D"/>
                </a:solidFill>
                <a:latin typeface="Museo Moderno Bold"/>
                <a:ea typeface="Museo Moderno Bold"/>
                <a:cs typeface="Museo Moderno Bold"/>
                <a:sym typeface="Museo Moderno Bold"/>
              </a:rPr>
              <a:t>PART 2: DATA CLEANING</a:t>
            </a:r>
            <a:endParaRPr lang="en-US" sz="6000" b="1" u="none" strike="noStrike" dirty="0">
              <a:solidFill>
                <a:srgbClr val="22588D"/>
              </a:solidFill>
              <a:latin typeface="Museo Moderno Bold"/>
              <a:ea typeface="Museo Moderno Bold"/>
              <a:cs typeface="Museo Moderno Bold"/>
              <a:sym typeface="Museo Moderno Bold"/>
            </a:endParaRPr>
          </a:p>
        </p:txBody>
      </p:sp>
    </p:spTree>
    <p:extLst>
      <p:ext uri="{BB962C8B-B14F-4D97-AF65-F5344CB8AC3E}">
        <p14:creationId xmlns:p14="http://schemas.microsoft.com/office/powerpoint/2010/main" val="3211564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6B9B0-1209-7897-910F-81B1F398E19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EE0807F-BF27-4C05-7C65-34E004D30EC8}"/>
              </a:ext>
            </a:extLst>
          </p:cNvPr>
          <p:cNvSpPr/>
          <p:nvPr/>
        </p:nvSpPr>
        <p:spPr>
          <a:xfrm flipH="1">
            <a:off x="10744200" y="876300"/>
            <a:ext cx="8725959"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BFFD4B79-9F2D-6F14-A96A-5B77917471AA}"/>
              </a:ext>
            </a:extLst>
          </p:cNvPr>
          <p:cNvSpPr txBox="1"/>
          <p:nvPr/>
        </p:nvSpPr>
        <p:spPr>
          <a:xfrm>
            <a:off x="281263" y="16329"/>
            <a:ext cx="15745422"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PART 3: EXPLORATORY DATA ANALYSIS</a:t>
            </a:r>
            <a:endParaRPr lang="en-US" sz="6000" b="1" u="none" strike="noStrike" dirty="0">
              <a:solidFill>
                <a:srgbClr val="22588D"/>
              </a:solidFill>
              <a:latin typeface="Museo Moderno Bold"/>
              <a:ea typeface="Museo Moderno Bold"/>
              <a:cs typeface="Museo Moderno Bold"/>
              <a:sym typeface="Museo Moderno Bold"/>
            </a:endParaRPr>
          </a:p>
        </p:txBody>
      </p:sp>
      <p:sp>
        <p:nvSpPr>
          <p:cNvPr id="5" name="TextBox 4">
            <a:extLst>
              <a:ext uri="{FF2B5EF4-FFF2-40B4-BE49-F238E27FC236}">
                <a16:creationId xmlns:a16="http://schemas.microsoft.com/office/drawing/2014/main" id="{CAC992D9-E328-5A18-FEBA-302D4B342A60}"/>
              </a:ext>
            </a:extLst>
          </p:cNvPr>
          <p:cNvSpPr txBox="1"/>
          <p:nvPr/>
        </p:nvSpPr>
        <p:spPr>
          <a:xfrm>
            <a:off x="341090" y="1485900"/>
            <a:ext cx="17489710" cy="8402300"/>
          </a:xfrm>
          <a:prstGeom prst="rect">
            <a:avLst/>
          </a:prstGeom>
          <a:noFill/>
        </p:spPr>
        <p:txBody>
          <a:bodyPr wrap="square">
            <a:spAutoFit/>
          </a:bodyPr>
          <a:lstStyle/>
          <a:p>
            <a:r>
              <a:rPr lang="en-US" sz="5400" dirty="0"/>
              <a:t>Exploratory Data Analysis (EDA) is the process of examining, summarizing, and visualizing a dataset to better understand its characteristics before major model development.</a:t>
            </a:r>
          </a:p>
          <a:p>
            <a:endParaRPr lang="en-US" sz="5400" dirty="0"/>
          </a:p>
          <a:p>
            <a:r>
              <a:rPr lang="en-US" sz="5400" dirty="0"/>
              <a:t>EDA helps answer questions such as: </a:t>
            </a:r>
          </a:p>
          <a:p>
            <a:pPr marL="685800" indent="-685800">
              <a:buFont typeface="Wingdings" panose="05000000000000000000" pitchFamily="2" charset="2"/>
              <a:buChar char="ü"/>
            </a:pPr>
            <a:r>
              <a:rPr lang="en-US" sz="5400" dirty="0"/>
              <a:t>How is the data distributed?</a:t>
            </a:r>
          </a:p>
          <a:p>
            <a:pPr marL="685800" indent="-685800">
              <a:buFont typeface="Wingdings" panose="05000000000000000000" pitchFamily="2" charset="2"/>
              <a:buChar char="ü"/>
            </a:pPr>
            <a:r>
              <a:rPr lang="en-US" sz="5400" dirty="0"/>
              <a:t>Are there missing values? </a:t>
            </a:r>
          </a:p>
          <a:p>
            <a:pPr marL="685800" indent="-685800">
              <a:buFont typeface="Wingdings" panose="05000000000000000000" pitchFamily="2" charset="2"/>
              <a:buChar char="ü"/>
            </a:pPr>
            <a:r>
              <a:rPr lang="en-US" sz="5400" dirty="0"/>
              <a:t>Are classes balanced? </a:t>
            </a:r>
          </a:p>
          <a:p>
            <a:pPr marL="685800" indent="-685800">
              <a:buFont typeface="Wingdings" panose="05000000000000000000" pitchFamily="2" charset="2"/>
              <a:buChar char="ü"/>
            </a:pPr>
            <a:r>
              <a:rPr lang="en-US" sz="5400" dirty="0"/>
              <a:t>Are some variables related? </a:t>
            </a:r>
          </a:p>
          <a:p>
            <a:pPr marL="685800" indent="-685800">
              <a:buFont typeface="Wingdings" panose="05000000000000000000" pitchFamily="2" charset="2"/>
              <a:buChar char="ü"/>
            </a:pPr>
            <a:r>
              <a:rPr lang="en-US" sz="5400" dirty="0"/>
              <a:t>Are there unusual values?</a:t>
            </a:r>
          </a:p>
        </p:txBody>
      </p:sp>
    </p:spTree>
    <p:extLst>
      <p:ext uri="{BB962C8B-B14F-4D97-AF65-F5344CB8AC3E}">
        <p14:creationId xmlns:p14="http://schemas.microsoft.com/office/powerpoint/2010/main" val="26795610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A1175-8D80-D3D8-37CF-5EA5EA40E2C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5842A5E-1D64-3B42-0BD9-47263C178C84}"/>
              </a:ext>
            </a:extLst>
          </p:cNvPr>
          <p:cNvSpPr/>
          <p:nvPr/>
        </p:nvSpPr>
        <p:spPr>
          <a:xfrm flipH="1">
            <a:off x="10744200" y="876300"/>
            <a:ext cx="8725959"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0CF98AC6-C990-F98B-B832-622483A226CA}"/>
              </a:ext>
            </a:extLst>
          </p:cNvPr>
          <p:cNvSpPr txBox="1"/>
          <p:nvPr/>
        </p:nvSpPr>
        <p:spPr>
          <a:xfrm>
            <a:off x="281263" y="16329"/>
            <a:ext cx="15745422"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PART 3: EXPLORATORY DATA ANALYSIS</a:t>
            </a:r>
            <a:endParaRPr lang="en-US" sz="6000" b="1" u="none" strike="noStrike" dirty="0">
              <a:solidFill>
                <a:srgbClr val="22588D"/>
              </a:solidFill>
              <a:latin typeface="Museo Moderno Bold"/>
              <a:ea typeface="Museo Moderno Bold"/>
              <a:cs typeface="Museo Moderno Bold"/>
              <a:sym typeface="Museo Moderno Bold"/>
            </a:endParaRPr>
          </a:p>
        </p:txBody>
      </p:sp>
      <p:sp>
        <p:nvSpPr>
          <p:cNvPr id="5" name="TextBox 4">
            <a:extLst>
              <a:ext uri="{FF2B5EF4-FFF2-40B4-BE49-F238E27FC236}">
                <a16:creationId xmlns:a16="http://schemas.microsoft.com/office/drawing/2014/main" id="{EAC6E789-6FF9-F73C-682D-E6AAEA2EEE52}"/>
              </a:ext>
            </a:extLst>
          </p:cNvPr>
          <p:cNvSpPr txBox="1"/>
          <p:nvPr/>
        </p:nvSpPr>
        <p:spPr>
          <a:xfrm>
            <a:off x="341090" y="1485900"/>
            <a:ext cx="17489710" cy="5909310"/>
          </a:xfrm>
          <a:prstGeom prst="rect">
            <a:avLst/>
          </a:prstGeom>
          <a:noFill/>
        </p:spPr>
        <p:txBody>
          <a:bodyPr wrap="square">
            <a:spAutoFit/>
          </a:bodyPr>
          <a:lstStyle/>
          <a:p>
            <a:r>
              <a:rPr lang="en-US" sz="5400" dirty="0"/>
              <a:t>Why EDA is Important</a:t>
            </a:r>
          </a:p>
          <a:p>
            <a:r>
              <a:rPr lang="en-US" sz="5400" dirty="0"/>
              <a:t>EDA can reveal problems such as class imbalance. </a:t>
            </a:r>
          </a:p>
          <a:p>
            <a:endParaRPr lang="en-US" sz="5400" dirty="0"/>
          </a:p>
          <a:p>
            <a:r>
              <a:rPr lang="en-US" sz="5400" dirty="0"/>
              <a:t>For example, a dataset with 95% of observations in one class may produce misleadingly high accuracy if a model simply predicts the majority class. EDA helps researchers identify such problems before interpreting model performance.</a:t>
            </a:r>
          </a:p>
        </p:txBody>
      </p:sp>
    </p:spTree>
    <p:extLst>
      <p:ext uri="{BB962C8B-B14F-4D97-AF65-F5344CB8AC3E}">
        <p14:creationId xmlns:p14="http://schemas.microsoft.com/office/powerpoint/2010/main" val="1462171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E9909-B568-0709-C079-94FCB8F9AAB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D4C14F0-76E3-1EA7-EA54-0E32F5F48590}"/>
              </a:ext>
            </a:extLst>
          </p:cNvPr>
          <p:cNvSpPr/>
          <p:nvPr/>
        </p:nvSpPr>
        <p:spPr>
          <a:xfrm flipH="1">
            <a:off x="10744200" y="876300"/>
            <a:ext cx="8725959"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B22607CF-1D8B-6575-2A38-E4A30130C9AE}"/>
              </a:ext>
            </a:extLst>
          </p:cNvPr>
          <p:cNvSpPr txBox="1"/>
          <p:nvPr/>
        </p:nvSpPr>
        <p:spPr>
          <a:xfrm>
            <a:off x="281263" y="16329"/>
            <a:ext cx="15745422"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PART 3: EXPLORATORY DATA ANALYSIS</a:t>
            </a:r>
            <a:endParaRPr lang="en-US" sz="6000" b="1" u="none" strike="noStrike" dirty="0">
              <a:solidFill>
                <a:srgbClr val="22588D"/>
              </a:solidFill>
              <a:latin typeface="Museo Moderno Bold"/>
              <a:ea typeface="Museo Moderno Bold"/>
              <a:cs typeface="Museo Moderno Bold"/>
              <a:sym typeface="Museo Moderno Bold"/>
            </a:endParaRPr>
          </a:p>
        </p:txBody>
      </p:sp>
      <p:sp>
        <p:nvSpPr>
          <p:cNvPr id="5" name="TextBox 4">
            <a:extLst>
              <a:ext uri="{FF2B5EF4-FFF2-40B4-BE49-F238E27FC236}">
                <a16:creationId xmlns:a16="http://schemas.microsoft.com/office/drawing/2014/main" id="{CBA0298D-F068-9344-214E-372B79E4C86C}"/>
              </a:ext>
            </a:extLst>
          </p:cNvPr>
          <p:cNvSpPr txBox="1"/>
          <p:nvPr/>
        </p:nvSpPr>
        <p:spPr>
          <a:xfrm>
            <a:off x="341090" y="1485900"/>
            <a:ext cx="17489710" cy="7478970"/>
          </a:xfrm>
          <a:prstGeom prst="rect">
            <a:avLst/>
          </a:prstGeom>
          <a:noFill/>
        </p:spPr>
        <p:txBody>
          <a:bodyPr wrap="square">
            <a:spAutoFit/>
          </a:bodyPr>
          <a:lstStyle/>
          <a:p>
            <a:r>
              <a:rPr lang="en-US" sz="4800" b="1" dirty="0"/>
              <a:t>Descriptive Statistics</a:t>
            </a:r>
          </a:p>
          <a:p>
            <a:r>
              <a:rPr lang="en-US" sz="4800" b="1" dirty="0"/>
              <a:t>Mean</a:t>
            </a:r>
          </a:p>
          <a:p>
            <a:r>
              <a:rPr lang="en-US" sz="4800" dirty="0"/>
              <a:t>The mean is the average value.</a:t>
            </a:r>
          </a:p>
          <a:p>
            <a:r>
              <a:rPr lang="en-US" sz="4800" b="1" dirty="0"/>
              <a:t>Median</a:t>
            </a:r>
          </a:p>
          <a:p>
            <a:r>
              <a:rPr lang="en-US" sz="4800" dirty="0"/>
              <a:t>The median is the middle value after arranging observations.</a:t>
            </a:r>
          </a:p>
          <a:p>
            <a:r>
              <a:rPr lang="en-US" sz="4800" b="1" dirty="0"/>
              <a:t>Mode</a:t>
            </a:r>
          </a:p>
          <a:p>
            <a:r>
              <a:rPr lang="en-US" sz="4800" dirty="0"/>
              <a:t>The mode is the most frequently occurring value.</a:t>
            </a:r>
          </a:p>
          <a:p>
            <a:r>
              <a:rPr lang="en-US" sz="4800" b="1" dirty="0"/>
              <a:t>Minimum and Maximum</a:t>
            </a:r>
          </a:p>
          <a:p>
            <a:r>
              <a:rPr lang="en-US" sz="4800" dirty="0"/>
              <a:t>These values help identify the range of observations and may reveal unexpected values.</a:t>
            </a:r>
          </a:p>
        </p:txBody>
      </p:sp>
    </p:spTree>
    <p:extLst>
      <p:ext uri="{BB962C8B-B14F-4D97-AF65-F5344CB8AC3E}">
        <p14:creationId xmlns:p14="http://schemas.microsoft.com/office/powerpoint/2010/main" val="1316767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681B8-8181-8AD5-A59D-54D84DA55A9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18012A9-E4A3-9C94-5B40-D4C03545863D}"/>
              </a:ext>
            </a:extLst>
          </p:cNvPr>
          <p:cNvSpPr/>
          <p:nvPr/>
        </p:nvSpPr>
        <p:spPr>
          <a:xfrm flipH="1">
            <a:off x="10744200" y="876300"/>
            <a:ext cx="8725959"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68D42278-7C16-1991-050E-725CCF921161}"/>
              </a:ext>
            </a:extLst>
          </p:cNvPr>
          <p:cNvSpPr txBox="1"/>
          <p:nvPr/>
        </p:nvSpPr>
        <p:spPr>
          <a:xfrm>
            <a:off x="281263" y="16329"/>
            <a:ext cx="15745422"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PART 3: EXPLORATORY DATA ANALYSIS</a:t>
            </a:r>
            <a:endParaRPr lang="en-US" sz="6000" b="1" u="none" strike="noStrike" dirty="0">
              <a:solidFill>
                <a:srgbClr val="22588D"/>
              </a:solidFill>
              <a:latin typeface="Museo Moderno Bold"/>
              <a:ea typeface="Museo Moderno Bold"/>
              <a:cs typeface="Museo Moderno Bold"/>
              <a:sym typeface="Museo Moderno Bold"/>
            </a:endParaRPr>
          </a:p>
        </p:txBody>
      </p:sp>
      <p:sp>
        <p:nvSpPr>
          <p:cNvPr id="5" name="TextBox 4">
            <a:extLst>
              <a:ext uri="{FF2B5EF4-FFF2-40B4-BE49-F238E27FC236}">
                <a16:creationId xmlns:a16="http://schemas.microsoft.com/office/drawing/2014/main" id="{C794B6F7-199D-C068-1AE3-354B07F7FC62}"/>
              </a:ext>
            </a:extLst>
          </p:cNvPr>
          <p:cNvSpPr txBox="1"/>
          <p:nvPr/>
        </p:nvSpPr>
        <p:spPr>
          <a:xfrm>
            <a:off x="341090" y="1485900"/>
            <a:ext cx="17489710" cy="7478970"/>
          </a:xfrm>
          <a:prstGeom prst="rect">
            <a:avLst/>
          </a:prstGeom>
          <a:noFill/>
        </p:spPr>
        <p:txBody>
          <a:bodyPr wrap="square">
            <a:spAutoFit/>
          </a:bodyPr>
          <a:lstStyle/>
          <a:p>
            <a:r>
              <a:rPr lang="en-US" sz="4000" b="1" dirty="0"/>
              <a:t>Data Visualization</a:t>
            </a:r>
          </a:p>
          <a:p>
            <a:r>
              <a:rPr lang="en-US" sz="4000" b="1" dirty="0"/>
              <a:t>1. Bar Chart</a:t>
            </a:r>
          </a:p>
          <a:p>
            <a:r>
              <a:rPr lang="en-US" sz="4000" dirty="0"/>
              <a:t>Useful for categorical data and class distributions.</a:t>
            </a:r>
          </a:p>
          <a:p>
            <a:r>
              <a:rPr lang="en-US" sz="4000" b="1" dirty="0"/>
              <a:t>2. Histogram</a:t>
            </a:r>
          </a:p>
          <a:p>
            <a:r>
              <a:rPr lang="en-US" sz="4000" dirty="0"/>
              <a:t>Useful for understanding the distribution of numerical variables.</a:t>
            </a:r>
          </a:p>
          <a:p>
            <a:r>
              <a:rPr lang="en-US" sz="4000" b="1" dirty="0"/>
              <a:t>3. Box Plot</a:t>
            </a:r>
          </a:p>
          <a:p>
            <a:r>
              <a:rPr lang="en-US" sz="4000" dirty="0"/>
              <a:t>Useful for identifying potential outliers and understanding data spread.</a:t>
            </a:r>
          </a:p>
          <a:p>
            <a:r>
              <a:rPr lang="en-US" sz="4000" b="1" dirty="0"/>
              <a:t>4. Scatter Plot</a:t>
            </a:r>
          </a:p>
          <a:p>
            <a:r>
              <a:rPr lang="en-US" sz="4000" dirty="0"/>
              <a:t>Useful for examining relationships between two numerical variables.</a:t>
            </a:r>
          </a:p>
          <a:p>
            <a:r>
              <a:rPr lang="en-US" sz="4000" b="1" dirty="0"/>
              <a:t>5. Correlation Matrix</a:t>
            </a:r>
          </a:p>
          <a:p>
            <a:r>
              <a:rPr lang="en-US" sz="4000" dirty="0"/>
              <a:t>Used to examine relationships among numerical variables. Correlation does not automatically imply causation.</a:t>
            </a:r>
          </a:p>
        </p:txBody>
      </p:sp>
    </p:spTree>
    <p:extLst>
      <p:ext uri="{BB962C8B-B14F-4D97-AF65-F5344CB8AC3E}">
        <p14:creationId xmlns:p14="http://schemas.microsoft.com/office/powerpoint/2010/main" val="14824192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40F37-9EAB-E557-72AF-B14BDA42D8B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4969375-0CCA-8878-7764-1A10C1AD7D94}"/>
              </a:ext>
            </a:extLst>
          </p:cNvPr>
          <p:cNvSpPr/>
          <p:nvPr/>
        </p:nvSpPr>
        <p:spPr>
          <a:xfrm flipH="1">
            <a:off x="10744200" y="876300"/>
            <a:ext cx="8725959"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DDC85AE6-C79E-3750-F545-2EDF355504CD}"/>
              </a:ext>
            </a:extLst>
          </p:cNvPr>
          <p:cNvSpPr txBox="1"/>
          <p:nvPr/>
        </p:nvSpPr>
        <p:spPr>
          <a:xfrm>
            <a:off x="281263" y="16329"/>
            <a:ext cx="15745422"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PART 4: EXPLORATORY DATA ANALYSIS</a:t>
            </a:r>
            <a:endParaRPr lang="en-US" sz="6000" b="1" u="none" strike="noStrike" dirty="0">
              <a:solidFill>
                <a:srgbClr val="22588D"/>
              </a:solidFill>
              <a:latin typeface="Museo Moderno Bold"/>
              <a:ea typeface="Museo Moderno Bold"/>
              <a:cs typeface="Museo Moderno Bold"/>
              <a:sym typeface="Museo Moderno Bold"/>
            </a:endParaRPr>
          </a:p>
        </p:txBody>
      </p:sp>
      <p:sp>
        <p:nvSpPr>
          <p:cNvPr id="5" name="TextBox 4">
            <a:extLst>
              <a:ext uri="{FF2B5EF4-FFF2-40B4-BE49-F238E27FC236}">
                <a16:creationId xmlns:a16="http://schemas.microsoft.com/office/drawing/2014/main" id="{AF19DDA8-19F4-67F0-25A8-8F32774A0FE7}"/>
              </a:ext>
            </a:extLst>
          </p:cNvPr>
          <p:cNvSpPr txBox="1"/>
          <p:nvPr/>
        </p:nvSpPr>
        <p:spPr>
          <a:xfrm>
            <a:off x="341090" y="1485900"/>
            <a:ext cx="17489710" cy="4708981"/>
          </a:xfrm>
          <a:prstGeom prst="rect">
            <a:avLst/>
          </a:prstGeom>
          <a:noFill/>
        </p:spPr>
        <p:txBody>
          <a:bodyPr wrap="square">
            <a:spAutoFit/>
          </a:bodyPr>
          <a:lstStyle/>
          <a:p>
            <a:r>
              <a:rPr lang="en-US" sz="6000" b="1" dirty="0"/>
              <a:t>Class Distribution</a:t>
            </a:r>
          </a:p>
          <a:p>
            <a:r>
              <a:rPr lang="en-US" sz="6000" dirty="0"/>
              <a:t>For classification problems, students must examine how observations are distributed among classes. Class imbalance can affect model performance and make accuracy alone misleading.</a:t>
            </a:r>
          </a:p>
        </p:txBody>
      </p:sp>
    </p:spTree>
    <p:extLst>
      <p:ext uri="{BB962C8B-B14F-4D97-AF65-F5344CB8AC3E}">
        <p14:creationId xmlns:p14="http://schemas.microsoft.com/office/powerpoint/2010/main" val="16056808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C9CE9-3297-C5DD-6A2A-8CCEB45F891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7A3EDD1-05E3-5EDD-BE7D-DAEA6015E03C}"/>
              </a:ext>
            </a:extLst>
          </p:cNvPr>
          <p:cNvSpPr/>
          <p:nvPr/>
        </p:nvSpPr>
        <p:spPr>
          <a:xfrm flipH="1">
            <a:off x="10744200" y="876300"/>
            <a:ext cx="8725959"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5FC5597D-A732-C76F-6E63-0434642EBF82}"/>
              </a:ext>
            </a:extLst>
          </p:cNvPr>
          <p:cNvSpPr txBox="1"/>
          <p:nvPr/>
        </p:nvSpPr>
        <p:spPr>
          <a:xfrm>
            <a:off x="281263" y="16329"/>
            <a:ext cx="15745422"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PART 4: EDA FOR NLP DATA</a:t>
            </a:r>
            <a:endParaRPr lang="en-US" sz="6000" b="1" u="none" strike="noStrike" dirty="0">
              <a:solidFill>
                <a:srgbClr val="22588D"/>
              </a:solidFill>
              <a:latin typeface="Museo Moderno Bold"/>
              <a:ea typeface="Museo Moderno Bold"/>
              <a:cs typeface="Museo Moderno Bold"/>
              <a:sym typeface="Museo Moderno Bold"/>
            </a:endParaRPr>
          </a:p>
        </p:txBody>
      </p:sp>
      <p:sp>
        <p:nvSpPr>
          <p:cNvPr id="5" name="TextBox 4">
            <a:extLst>
              <a:ext uri="{FF2B5EF4-FFF2-40B4-BE49-F238E27FC236}">
                <a16:creationId xmlns:a16="http://schemas.microsoft.com/office/drawing/2014/main" id="{B148ACC3-40C0-4DCA-9174-CF3269E7D8BF}"/>
              </a:ext>
            </a:extLst>
          </p:cNvPr>
          <p:cNvSpPr txBox="1"/>
          <p:nvPr/>
        </p:nvSpPr>
        <p:spPr>
          <a:xfrm>
            <a:off x="341090" y="1485900"/>
            <a:ext cx="17489710" cy="8217634"/>
          </a:xfrm>
          <a:prstGeom prst="rect">
            <a:avLst/>
          </a:prstGeom>
          <a:noFill/>
        </p:spPr>
        <p:txBody>
          <a:bodyPr wrap="square">
            <a:spAutoFit/>
          </a:bodyPr>
          <a:lstStyle/>
          <a:p>
            <a:r>
              <a:rPr lang="en-US" sz="4800" b="1" dirty="0"/>
              <a:t>Exploratory Analysis of Textual Data</a:t>
            </a:r>
          </a:p>
          <a:p>
            <a:pPr marL="571500" indent="-571500">
              <a:buFont typeface="Wingdings" panose="05000000000000000000" pitchFamily="2" charset="2"/>
              <a:buChar char="ü"/>
            </a:pPr>
            <a:r>
              <a:rPr lang="en-US" sz="4800" dirty="0"/>
              <a:t>For NLP datasets, students should examine the number of documents, text length, empty responses, duplicate texts, frequently occurring words, language use, and class distribution.</a:t>
            </a:r>
          </a:p>
          <a:p>
            <a:pPr marL="571500" indent="-571500">
              <a:buFont typeface="Wingdings" panose="05000000000000000000" pitchFamily="2" charset="2"/>
              <a:buChar char="ü"/>
            </a:pPr>
            <a:r>
              <a:rPr lang="en-US" sz="4800" dirty="0"/>
              <a:t>Possible exploratory measures include character counts, word counts, sentence counts, and frequency analysis.</a:t>
            </a:r>
          </a:p>
          <a:p>
            <a:pPr marL="571500" indent="-571500">
              <a:buFont typeface="Wingdings" panose="05000000000000000000" pitchFamily="2" charset="2"/>
              <a:buChar char="ü"/>
            </a:pPr>
            <a:r>
              <a:rPr lang="en-US" sz="4800" dirty="0"/>
              <a:t>Text preprocessing may include lowercasing, removing unnecessary spaces, handling URLs, and removing duplicate texts. More advanced preprocessing such as tokenization, stop-word removal, stemming, and lemmatization should depend on the research objective and model.</a:t>
            </a:r>
          </a:p>
        </p:txBody>
      </p:sp>
    </p:spTree>
    <p:extLst>
      <p:ext uri="{BB962C8B-B14F-4D97-AF65-F5344CB8AC3E}">
        <p14:creationId xmlns:p14="http://schemas.microsoft.com/office/powerpoint/2010/main" val="26371611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8BE4F-FF0D-8842-C787-ACBC58057D8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7545EB6-5A5A-71FE-13D2-111BC40331A5}"/>
              </a:ext>
            </a:extLst>
          </p:cNvPr>
          <p:cNvSpPr/>
          <p:nvPr/>
        </p:nvSpPr>
        <p:spPr>
          <a:xfrm flipH="1">
            <a:off x="10744200" y="876300"/>
            <a:ext cx="8725959"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2F0F273E-1AE1-461F-4C4B-A019DD9466A0}"/>
              </a:ext>
            </a:extLst>
          </p:cNvPr>
          <p:cNvSpPr txBox="1"/>
          <p:nvPr/>
        </p:nvSpPr>
        <p:spPr>
          <a:xfrm>
            <a:off x="281263" y="16329"/>
            <a:ext cx="15745422"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PART 4: EDA FOR NLP DATA</a:t>
            </a:r>
            <a:endParaRPr lang="en-US" sz="6000" b="1" u="none" strike="noStrike" dirty="0">
              <a:solidFill>
                <a:srgbClr val="22588D"/>
              </a:solidFill>
              <a:latin typeface="Museo Moderno Bold"/>
              <a:ea typeface="Museo Moderno Bold"/>
              <a:cs typeface="Museo Moderno Bold"/>
              <a:sym typeface="Museo Moderno Bold"/>
            </a:endParaRPr>
          </a:p>
        </p:txBody>
      </p:sp>
      <p:sp>
        <p:nvSpPr>
          <p:cNvPr id="5" name="TextBox 4">
            <a:extLst>
              <a:ext uri="{FF2B5EF4-FFF2-40B4-BE49-F238E27FC236}">
                <a16:creationId xmlns:a16="http://schemas.microsoft.com/office/drawing/2014/main" id="{095A42E2-2944-96FD-DE75-874DDFC379C8}"/>
              </a:ext>
            </a:extLst>
          </p:cNvPr>
          <p:cNvSpPr txBox="1"/>
          <p:nvPr/>
        </p:nvSpPr>
        <p:spPr>
          <a:xfrm>
            <a:off x="341090" y="1485900"/>
            <a:ext cx="17489710" cy="3785652"/>
          </a:xfrm>
          <a:prstGeom prst="rect">
            <a:avLst/>
          </a:prstGeom>
          <a:noFill/>
        </p:spPr>
        <p:txBody>
          <a:bodyPr wrap="square">
            <a:spAutoFit/>
          </a:bodyPr>
          <a:lstStyle/>
          <a:p>
            <a:r>
              <a:rPr lang="en-US" sz="4800" b="1" dirty="0"/>
              <a:t>The Iterative Relationship Between Collection, Cleaning, and EDA</a:t>
            </a:r>
          </a:p>
          <a:p>
            <a:r>
              <a:rPr lang="en-US" sz="4800" dirty="0"/>
              <a:t>These processes are interconnected. A researcher may collect data, discover quality problems during cleaning, perform EDA, identify class imbalance, and then return to the data collection stage to obtain additional representative observations.</a:t>
            </a:r>
          </a:p>
        </p:txBody>
      </p:sp>
    </p:spTree>
    <p:extLst>
      <p:ext uri="{BB962C8B-B14F-4D97-AF65-F5344CB8AC3E}">
        <p14:creationId xmlns:p14="http://schemas.microsoft.com/office/powerpoint/2010/main" val="40928734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3AFC8-E2C6-07DD-FDFC-451213AEB58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005874B-BCC9-6AB8-9C0E-9389DA1950FC}"/>
              </a:ext>
            </a:extLst>
          </p:cNvPr>
          <p:cNvSpPr/>
          <p:nvPr/>
        </p:nvSpPr>
        <p:spPr>
          <a:xfrm flipH="1">
            <a:off x="10744200" y="876300"/>
            <a:ext cx="8725959"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10EC4C17-39FE-6E51-371F-B1277C15100F}"/>
              </a:ext>
            </a:extLst>
          </p:cNvPr>
          <p:cNvSpPr txBox="1"/>
          <p:nvPr/>
        </p:nvSpPr>
        <p:spPr>
          <a:xfrm>
            <a:off x="281262" y="16329"/>
            <a:ext cx="17016137"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Common Mistakes Students Should Avoid</a:t>
            </a:r>
          </a:p>
        </p:txBody>
      </p:sp>
      <p:sp>
        <p:nvSpPr>
          <p:cNvPr id="5" name="TextBox 4">
            <a:extLst>
              <a:ext uri="{FF2B5EF4-FFF2-40B4-BE49-F238E27FC236}">
                <a16:creationId xmlns:a16="http://schemas.microsoft.com/office/drawing/2014/main" id="{898DF5A5-360F-3C20-7F1E-F6FD871862C1}"/>
              </a:ext>
            </a:extLst>
          </p:cNvPr>
          <p:cNvSpPr txBox="1"/>
          <p:nvPr/>
        </p:nvSpPr>
        <p:spPr>
          <a:xfrm>
            <a:off x="341090" y="1485900"/>
            <a:ext cx="17489710" cy="5262979"/>
          </a:xfrm>
          <a:prstGeom prst="rect">
            <a:avLst/>
          </a:prstGeom>
          <a:noFill/>
        </p:spPr>
        <p:txBody>
          <a:bodyPr wrap="square">
            <a:spAutoFit/>
          </a:bodyPr>
          <a:lstStyle/>
          <a:p>
            <a:pPr marL="1143000" lvl="1" indent="-685800">
              <a:buFont typeface="Wingdings" panose="05000000000000000000" pitchFamily="2" charset="2"/>
              <a:buChar char="Ø"/>
            </a:pPr>
            <a:r>
              <a:rPr lang="en-US" sz="4800" dirty="0"/>
              <a:t>Collecting data without a clear purpose.</a:t>
            </a:r>
          </a:p>
          <a:p>
            <a:pPr marL="1143000" lvl="1" indent="-685800">
              <a:buFont typeface="Wingdings" panose="05000000000000000000" pitchFamily="2" charset="2"/>
              <a:buChar char="Ø"/>
            </a:pPr>
            <a:r>
              <a:rPr lang="en-US" sz="4800" dirty="0"/>
              <a:t>Selecting an algorithm before understanding the problem and data.</a:t>
            </a:r>
          </a:p>
          <a:p>
            <a:pPr marL="1143000" lvl="1" indent="-685800">
              <a:buFont typeface="Wingdings" panose="05000000000000000000" pitchFamily="2" charset="2"/>
              <a:buChar char="Ø"/>
            </a:pPr>
            <a:r>
              <a:rPr lang="en-US" sz="4800" dirty="0"/>
              <a:t>Automatically deleting all missing data.</a:t>
            </a:r>
          </a:p>
          <a:p>
            <a:pPr marL="1143000" lvl="1" indent="-685800">
              <a:buFont typeface="Wingdings" panose="05000000000000000000" pitchFamily="2" charset="2"/>
              <a:buChar char="Ø"/>
            </a:pPr>
            <a:r>
              <a:rPr lang="en-US" sz="4800" dirty="0"/>
              <a:t>Treating all outliers as errors.</a:t>
            </a:r>
          </a:p>
          <a:p>
            <a:pPr marL="1143000" lvl="1" indent="-685800">
              <a:buFont typeface="Wingdings" panose="05000000000000000000" pitchFamily="2" charset="2"/>
              <a:buChar char="Ø"/>
            </a:pPr>
            <a:r>
              <a:rPr lang="en-US" sz="4800" dirty="0"/>
              <a:t>Ignoring class imbalance.</a:t>
            </a:r>
          </a:p>
          <a:p>
            <a:pPr marL="1143000" lvl="1" indent="-685800">
              <a:buFont typeface="Wingdings" panose="05000000000000000000" pitchFamily="2" charset="2"/>
              <a:buChar char="Ø"/>
            </a:pPr>
            <a:r>
              <a:rPr lang="en-US" sz="4800" dirty="0"/>
              <a:t>Cleaning data without documentation.</a:t>
            </a:r>
          </a:p>
        </p:txBody>
      </p:sp>
    </p:spTree>
    <p:extLst>
      <p:ext uri="{BB962C8B-B14F-4D97-AF65-F5344CB8AC3E}">
        <p14:creationId xmlns:p14="http://schemas.microsoft.com/office/powerpoint/2010/main" val="17523038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BF597-9018-26AA-C12C-FFFD5918D52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A4E6127-B810-3F50-C981-5C1630B29DCE}"/>
              </a:ext>
            </a:extLst>
          </p:cNvPr>
          <p:cNvSpPr/>
          <p:nvPr/>
        </p:nvSpPr>
        <p:spPr>
          <a:xfrm flipH="1">
            <a:off x="10744200" y="876300"/>
            <a:ext cx="8725959"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D7B9081B-5934-5ACB-3138-CE79E363412E}"/>
              </a:ext>
            </a:extLst>
          </p:cNvPr>
          <p:cNvSpPr txBox="1"/>
          <p:nvPr/>
        </p:nvSpPr>
        <p:spPr>
          <a:xfrm>
            <a:off x="281262" y="16329"/>
            <a:ext cx="17016137"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Class Discussion Questions</a:t>
            </a:r>
          </a:p>
        </p:txBody>
      </p:sp>
      <p:sp>
        <p:nvSpPr>
          <p:cNvPr id="5" name="TextBox 4">
            <a:extLst>
              <a:ext uri="{FF2B5EF4-FFF2-40B4-BE49-F238E27FC236}">
                <a16:creationId xmlns:a16="http://schemas.microsoft.com/office/drawing/2014/main" id="{738EE273-255A-2C96-008F-B2A1199012E3}"/>
              </a:ext>
            </a:extLst>
          </p:cNvPr>
          <p:cNvSpPr txBox="1"/>
          <p:nvPr/>
        </p:nvSpPr>
        <p:spPr>
          <a:xfrm>
            <a:off x="341090" y="1485900"/>
            <a:ext cx="17489710" cy="7478970"/>
          </a:xfrm>
          <a:prstGeom prst="rect">
            <a:avLst/>
          </a:prstGeom>
          <a:noFill/>
        </p:spPr>
        <p:txBody>
          <a:bodyPr wrap="square">
            <a:spAutoFit/>
          </a:bodyPr>
          <a:lstStyle/>
          <a:p>
            <a:pPr marL="1371600" lvl="1" indent="-914400">
              <a:buFont typeface="+mj-lt"/>
              <a:buAutoNum type="arabicPeriod"/>
            </a:pPr>
            <a:r>
              <a:rPr lang="en-US" sz="4800" dirty="0"/>
              <a:t>What data does your proposed system actually need to perform its intended function?</a:t>
            </a:r>
          </a:p>
          <a:p>
            <a:pPr marL="1371600" lvl="1" indent="-914400">
              <a:buFont typeface="+mj-lt"/>
              <a:buAutoNum type="arabicPeriod"/>
            </a:pPr>
            <a:r>
              <a:rPr lang="en-US" sz="4800" dirty="0"/>
              <a:t>Where will you obtain this data?</a:t>
            </a:r>
          </a:p>
          <a:p>
            <a:pPr marL="1371600" lvl="1" indent="-914400">
              <a:buFont typeface="+mj-lt"/>
              <a:buAutoNum type="arabicPeriod"/>
            </a:pPr>
            <a:r>
              <a:rPr lang="en-US" sz="4800" dirty="0"/>
              <a:t>Do you have permission to access and use the data?</a:t>
            </a:r>
          </a:p>
          <a:p>
            <a:pPr marL="1371600" lvl="1" indent="-914400">
              <a:buFont typeface="+mj-lt"/>
              <a:buAutoNum type="arabicPeriod"/>
            </a:pPr>
            <a:r>
              <a:rPr lang="en-US" sz="4800" dirty="0"/>
              <a:t>What will your model use as input?</a:t>
            </a:r>
          </a:p>
          <a:p>
            <a:pPr marL="1371600" lvl="1" indent="-914400">
              <a:buFont typeface="+mj-lt"/>
              <a:buAutoNum type="arabicPeriod"/>
            </a:pPr>
            <a:r>
              <a:rPr lang="en-US" sz="4800" dirty="0"/>
              <a:t>What should your model predict, classify, generate, or retrieve?</a:t>
            </a:r>
          </a:p>
          <a:p>
            <a:pPr marL="1371600" lvl="1" indent="-914400">
              <a:buFont typeface="+mj-lt"/>
              <a:buAutoNum type="arabicPeriod"/>
            </a:pPr>
            <a:r>
              <a:rPr lang="en-US" sz="4800" dirty="0"/>
              <a:t>What happens if a substantial portion of your dataset contains missing values?</a:t>
            </a:r>
          </a:p>
          <a:p>
            <a:pPr marL="1371600" lvl="1" indent="-914400">
              <a:buFont typeface="+mj-lt"/>
              <a:buAutoNum type="arabicPeriod"/>
            </a:pPr>
            <a:r>
              <a:rPr lang="en-US" sz="4800" dirty="0"/>
              <a:t>How would you know whether your dataset is biased or unbalanced?</a:t>
            </a:r>
          </a:p>
        </p:txBody>
      </p:sp>
    </p:spTree>
    <p:extLst>
      <p:ext uri="{BB962C8B-B14F-4D97-AF65-F5344CB8AC3E}">
        <p14:creationId xmlns:p14="http://schemas.microsoft.com/office/powerpoint/2010/main" val="13691646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0805F-5543-DB64-975A-0367240242D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E59C05-75BE-B237-549F-6B4DD8086CBD}"/>
              </a:ext>
            </a:extLst>
          </p:cNvPr>
          <p:cNvSpPr/>
          <p:nvPr/>
        </p:nvSpPr>
        <p:spPr>
          <a:xfrm flipH="1">
            <a:off x="10744200" y="876300"/>
            <a:ext cx="8725959"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DD6004F5-B0DC-D612-6617-53083ED97E4A}"/>
              </a:ext>
            </a:extLst>
          </p:cNvPr>
          <p:cNvSpPr txBox="1"/>
          <p:nvPr/>
        </p:nvSpPr>
        <p:spPr>
          <a:xfrm>
            <a:off x="281262" y="16329"/>
            <a:ext cx="17016137"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Week 3 Lecture Post-Requirement</a:t>
            </a:r>
          </a:p>
        </p:txBody>
      </p:sp>
      <p:sp>
        <p:nvSpPr>
          <p:cNvPr id="5" name="TextBox 4">
            <a:extLst>
              <a:ext uri="{FF2B5EF4-FFF2-40B4-BE49-F238E27FC236}">
                <a16:creationId xmlns:a16="http://schemas.microsoft.com/office/drawing/2014/main" id="{0A67F554-A331-7C22-4FF8-3507FD7C2A76}"/>
              </a:ext>
            </a:extLst>
          </p:cNvPr>
          <p:cNvSpPr txBox="1"/>
          <p:nvPr/>
        </p:nvSpPr>
        <p:spPr>
          <a:xfrm>
            <a:off x="341090" y="1485900"/>
            <a:ext cx="17489710" cy="8217634"/>
          </a:xfrm>
          <a:prstGeom prst="rect">
            <a:avLst/>
          </a:prstGeom>
          <a:noFill/>
        </p:spPr>
        <p:txBody>
          <a:bodyPr wrap="square">
            <a:spAutoFit/>
          </a:bodyPr>
          <a:lstStyle/>
          <a:p>
            <a:r>
              <a:rPr lang="en-US" sz="4800" b="1" dirty="0"/>
              <a:t>Thesis Dataset Readiness Assessment</a:t>
            </a:r>
          </a:p>
          <a:p>
            <a:r>
              <a:rPr lang="en-US" sz="4800" dirty="0"/>
              <a:t>Each group will prepare a preliminary assessment of the data required for their proposed thesis.</a:t>
            </a:r>
          </a:p>
          <a:p>
            <a:pPr lvl="0"/>
            <a:r>
              <a:rPr lang="en-US" sz="4800" dirty="0"/>
              <a:t>A. Thesis Title</a:t>
            </a:r>
          </a:p>
          <a:p>
            <a:pPr lvl="0"/>
            <a:r>
              <a:rPr lang="en-US" sz="4800" dirty="0"/>
              <a:t>B. Proposed AI/Computational Problem</a:t>
            </a:r>
          </a:p>
          <a:p>
            <a:pPr lvl="0"/>
            <a:r>
              <a:rPr lang="en-US" sz="4800" dirty="0"/>
              <a:t>C. Required Dataset</a:t>
            </a:r>
          </a:p>
          <a:p>
            <a:pPr lvl="0"/>
            <a:r>
              <a:rPr lang="en-US" sz="4800" dirty="0"/>
              <a:t>D. Data Source</a:t>
            </a:r>
          </a:p>
          <a:p>
            <a:pPr lvl="0"/>
            <a:r>
              <a:rPr lang="en-US" sz="4800" dirty="0"/>
              <a:t>E. Initial Features or Input Variables</a:t>
            </a:r>
          </a:p>
          <a:p>
            <a:pPr lvl="0"/>
            <a:r>
              <a:rPr lang="en-US" sz="4800" dirty="0"/>
              <a:t>F. Target Variable or Expected Output</a:t>
            </a:r>
          </a:p>
          <a:p>
            <a:pPr lvl="0"/>
            <a:r>
              <a:rPr lang="en-US" sz="4800" dirty="0"/>
              <a:t>G. Potential Data Issues</a:t>
            </a:r>
          </a:p>
          <a:p>
            <a:pPr lvl="0"/>
            <a:r>
              <a:rPr lang="en-US" sz="4800" dirty="0"/>
              <a:t>H. Data Ethics and Privacy Statement</a:t>
            </a:r>
          </a:p>
        </p:txBody>
      </p:sp>
    </p:spTree>
    <p:extLst>
      <p:ext uri="{BB962C8B-B14F-4D97-AF65-F5344CB8AC3E}">
        <p14:creationId xmlns:p14="http://schemas.microsoft.com/office/powerpoint/2010/main" val="3359671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34635-81C4-E150-7955-06B8CC92CAA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729C5BE-FE51-50EA-34EF-D289CD6539BF}"/>
              </a:ext>
            </a:extLst>
          </p:cNvPr>
          <p:cNvSpPr/>
          <p:nvPr/>
        </p:nvSpPr>
        <p:spPr>
          <a:xfrm flipH="1">
            <a:off x="10744200" y="876300"/>
            <a:ext cx="8725959"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96048B12-44AE-9503-1D7B-B038051AAD6E}"/>
              </a:ext>
            </a:extLst>
          </p:cNvPr>
          <p:cNvSpPr txBox="1"/>
          <p:nvPr/>
        </p:nvSpPr>
        <p:spPr>
          <a:xfrm>
            <a:off x="281262" y="16329"/>
            <a:ext cx="17016137"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Key Takeaways</a:t>
            </a:r>
          </a:p>
        </p:txBody>
      </p:sp>
      <p:sp>
        <p:nvSpPr>
          <p:cNvPr id="5" name="TextBox 4">
            <a:extLst>
              <a:ext uri="{FF2B5EF4-FFF2-40B4-BE49-F238E27FC236}">
                <a16:creationId xmlns:a16="http://schemas.microsoft.com/office/drawing/2014/main" id="{3D7C96A6-988E-4DA5-A83C-81E59D8DF010}"/>
              </a:ext>
            </a:extLst>
          </p:cNvPr>
          <p:cNvSpPr txBox="1"/>
          <p:nvPr/>
        </p:nvSpPr>
        <p:spPr>
          <a:xfrm>
            <a:off x="341090" y="1485900"/>
            <a:ext cx="17489710" cy="6186309"/>
          </a:xfrm>
          <a:prstGeom prst="rect">
            <a:avLst/>
          </a:prstGeom>
          <a:noFill/>
        </p:spPr>
        <p:txBody>
          <a:bodyPr wrap="square">
            <a:spAutoFit/>
          </a:bodyPr>
          <a:lstStyle/>
          <a:p>
            <a:pPr marL="742950" lvl="0" indent="-742950">
              <a:buFont typeface="+mj-lt"/>
              <a:buAutoNum type="arabicPeriod"/>
            </a:pPr>
            <a:r>
              <a:rPr lang="en-US" sz="4400" dirty="0"/>
              <a:t>Start with the research problem rather than immediately selecting an algorithm.</a:t>
            </a:r>
          </a:p>
          <a:p>
            <a:pPr marL="742950" lvl="0" indent="-742950">
              <a:buFont typeface="+mj-lt"/>
              <a:buAutoNum type="arabicPeriod"/>
            </a:pPr>
            <a:r>
              <a:rPr lang="en-US" sz="4400" dirty="0"/>
              <a:t>Define the data requirements needed to address the problem.</a:t>
            </a:r>
          </a:p>
          <a:p>
            <a:pPr marL="742950" lvl="0" indent="-742950">
              <a:buFont typeface="+mj-lt"/>
              <a:buAutoNum type="arabicPeriod"/>
            </a:pPr>
            <a:r>
              <a:rPr lang="en-US" sz="4400" dirty="0"/>
              <a:t>Data quality matters because incorrect, biased, missing, or poorly labeled data can affect model performance.</a:t>
            </a:r>
          </a:p>
          <a:p>
            <a:pPr marL="742950" lvl="0" indent="-742950">
              <a:buFont typeface="+mj-lt"/>
              <a:buAutoNum type="arabicPeriod"/>
            </a:pPr>
            <a:r>
              <a:rPr lang="en-US" sz="4400" dirty="0"/>
              <a:t>Explore the data before modeling to understand its characteristics and limitations.</a:t>
            </a:r>
          </a:p>
          <a:p>
            <a:pPr marL="742950" lvl="0" indent="-742950">
              <a:buFont typeface="+mj-lt"/>
              <a:buAutoNum type="arabicPeriod"/>
            </a:pPr>
            <a:r>
              <a:rPr lang="en-US" sz="4400" dirty="0"/>
              <a:t>Document the complete process for research reproducibility and thesis writing.</a:t>
            </a:r>
          </a:p>
        </p:txBody>
      </p:sp>
    </p:spTree>
    <p:extLst>
      <p:ext uri="{BB962C8B-B14F-4D97-AF65-F5344CB8AC3E}">
        <p14:creationId xmlns:p14="http://schemas.microsoft.com/office/powerpoint/2010/main" val="410416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5715C-748B-EA3C-C8ED-C29B0005986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70644C1-FC89-C1DF-C38B-F2BEC21FCCD6}"/>
              </a:ext>
            </a:extLst>
          </p:cNvPr>
          <p:cNvSpPr/>
          <p:nvPr/>
        </p:nvSpPr>
        <p:spPr>
          <a:xfrm flipH="1">
            <a:off x="10744200" y="876300"/>
            <a:ext cx="8725959"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TextBox 4">
            <a:extLst>
              <a:ext uri="{FF2B5EF4-FFF2-40B4-BE49-F238E27FC236}">
                <a16:creationId xmlns:a16="http://schemas.microsoft.com/office/drawing/2014/main" id="{F1771277-2135-1194-57A4-9394E4D5C21E}"/>
              </a:ext>
            </a:extLst>
          </p:cNvPr>
          <p:cNvSpPr txBox="1"/>
          <p:nvPr/>
        </p:nvSpPr>
        <p:spPr>
          <a:xfrm>
            <a:off x="341090" y="1485900"/>
            <a:ext cx="17489710" cy="7201972"/>
          </a:xfrm>
          <a:prstGeom prst="rect">
            <a:avLst/>
          </a:prstGeom>
          <a:noFill/>
        </p:spPr>
        <p:txBody>
          <a:bodyPr wrap="square">
            <a:spAutoFit/>
          </a:bodyPr>
          <a:lstStyle/>
          <a:p>
            <a:pPr algn="ctr"/>
            <a:r>
              <a:rPr lang="en-US" sz="6600" i="1" dirty="0"/>
              <a:t>"A Machine Learning model does not begin with an algorithm. It begins with a problem and the data needed to understand that problem. Before asking which model performs best, a researcher must first understand what the data represents, where it came from, and whether it is suitable for the task."</a:t>
            </a:r>
            <a:endParaRPr lang="en-US" sz="6600" dirty="0"/>
          </a:p>
        </p:txBody>
      </p:sp>
    </p:spTree>
    <p:extLst>
      <p:ext uri="{BB962C8B-B14F-4D97-AF65-F5344CB8AC3E}">
        <p14:creationId xmlns:p14="http://schemas.microsoft.com/office/powerpoint/2010/main" val="11071876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 name="Freeform 2"/>
          <p:cNvSpPr/>
          <p:nvPr/>
        </p:nvSpPr>
        <p:spPr>
          <a:xfrm>
            <a:off x="-1066800" y="-1096249"/>
            <a:ext cx="12268200" cy="12030949"/>
          </a:xfrm>
          <a:custGeom>
            <a:avLst/>
            <a:gdLst/>
            <a:ahLst/>
            <a:cxnLst/>
            <a:rect l="l" t="t" r="r" b="b"/>
            <a:pathLst>
              <a:path w="6446938" h="6458681">
                <a:moveTo>
                  <a:pt x="0" y="0"/>
                </a:moveTo>
                <a:lnTo>
                  <a:pt x="6446937" y="0"/>
                </a:lnTo>
                <a:lnTo>
                  <a:pt x="6446937" y="6458681"/>
                </a:lnTo>
                <a:lnTo>
                  <a:pt x="0" y="645868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10130692" y="4267097"/>
            <a:ext cx="7128608" cy="1095335"/>
          </a:xfrm>
          <a:prstGeom prst="rect">
            <a:avLst/>
          </a:prstGeom>
        </p:spPr>
        <p:txBody>
          <a:bodyPr lIns="0" tIns="0" rIns="0" bIns="0" rtlCol="0" anchor="t">
            <a:spAutoFit/>
          </a:bodyPr>
          <a:lstStyle/>
          <a:p>
            <a:pPr marL="0" lvl="0" indent="0" algn="l">
              <a:lnSpc>
                <a:spcPts val="8099"/>
              </a:lnSpc>
              <a:spcBef>
                <a:spcPct val="0"/>
              </a:spcBef>
            </a:pPr>
            <a:r>
              <a:rPr lang="en-US" sz="8998" b="1" u="none" strike="noStrike">
                <a:solidFill>
                  <a:srgbClr val="22588D"/>
                </a:solidFill>
                <a:latin typeface="Museo Moderno Bold"/>
                <a:ea typeface="Museo Moderno Bold"/>
                <a:cs typeface="Museo Moderno Bold"/>
                <a:sym typeface="Museo Moderno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969</TotalTime>
  <Words>2051</Words>
  <Application>Microsoft Office PowerPoint</Application>
  <PresentationFormat>Custom</PresentationFormat>
  <Paragraphs>183</Paragraphs>
  <Slides>31</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Museo Moderno Bold</vt:lpstr>
      <vt:lpstr>Calibri</vt:lpstr>
      <vt:lpstr>Poppins Bold</vt:lpstr>
      <vt:lpstr>Wingdings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Elective 3</dc:title>
  <dc:creator>Chicco_Sy</dc:creator>
  <cp:lastModifiedBy>Christian Sy</cp:lastModifiedBy>
  <cp:revision>5</cp:revision>
  <dcterms:created xsi:type="dcterms:W3CDTF">2006-08-16T00:00:00Z</dcterms:created>
  <dcterms:modified xsi:type="dcterms:W3CDTF">2026-09-06T04:54:01Z</dcterms:modified>
  <dc:identifier>DAHRrE2kD1o</dc:identifier>
</cp:coreProperties>
</file>