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0"/>
  </p:notesMasterIdLst>
  <p:sldIdLst>
    <p:sldId id="256" r:id="rId2"/>
    <p:sldId id="273" r:id="rId3"/>
    <p:sldId id="271" r:id="rId4"/>
    <p:sldId id="257" r:id="rId5"/>
    <p:sldId id="258" r:id="rId6"/>
    <p:sldId id="274" r:id="rId7"/>
    <p:sldId id="259" r:id="rId8"/>
    <p:sldId id="295" r:id="rId9"/>
    <p:sldId id="260" r:id="rId10"/>
    <p:sldId id="275" r:id="rId11"/>
    <p:sldId id="297" r:id="rId12"/>
    <p:sldId id="298" r:id="rId13"/>
    <p:sldId id="296" r:id="rId14"/>
    <p:sldId id="299" r:id="rId15"/>
    <p:sldId id="276" r:id="rId16"/>
    <p:sldId id="300" r:id="rId17"/>
    <p:sldId id="301" r:id="rId18"/>
    <p:sldId id="302" r:id="rId19"/>
    <p:sldId id="303" r:id="rId20"/>
    <p:sldId id="304" r:id="rId21"/>
    <p:sldId id="305" r:id="rId22"/>
    <p:sldId id="306" r:id="rId23"/>
    <p:sldId id="307" r:id="rId24"/>
    <p:sldId id="335" r:id="rId25"/>
    <p:sldId id="308" r:id="rId26"/>
    <p:sldId id="309" r:id="rId27"/>
    <p:sldId id="334" r:id="rId28"/>
    <p:sldId id="310" r:id="rId29"/>
    <p:sldId id="311" r:id="rId30"/>
    <p:sldId id="312" r:id="rId31"/>
    <p:sldId id="313" r:id="rId32"/>
    <p:sldId id="314" r:id="rId33"/>
    <p:sldId id="315" r:id="rId34"/>
    <p:sldId id="316" r:id="rId35"/>
    <p:sldId id="317" r:id="rId36"/>
    <p:sldId id="318" r:id="rId37"/>
    <p:sldId id="319" r:id="rId38"/>
    <p:sldId id="320" r:id="rId39"/>
    <p:sldId id="321" r:id="rId40"/>
    <p:sldId id="322" r:id="rId41"/>
    <p:sldId id="323" r:id="rId42"/>
    <p:sldId id="291" r:id="rId43"/>
    <p:sldId id="324" r:id="rId44"/>
    <p:sldId id="325" r:id="rId45"/>
    <p:sldId id="292" r:id="rId46"/>
    <p:sldId id="293" r:id="rId47"/>
    <p:sldId id="326" r:id="rId48"/>
    <p:sldId id="327" r:id="rId49"/>
    <p:sldId id="328" r:id="rId50"/>
    <p:sldId id="337" r:id="rId51"/>
    <p:sldId id="338" r:id="rId52"/>
    <p:sldId id="336" r:id="rId53"/>
    <p:sldId id="329" r:id="rId54"/>
    <p:sldId id="330" r:id="rId55"/>
    <p:sldId id="331" r:id="rId56"/>
    <p:sldId id="332" r:id="rId57"/>
    <p:sldId id="333" r:id="rId58"/>
    <p:sldId id="270" r:id="rId59"/>
  </p:sldIdLst>
  <p:sldSz cx="18288000" cy="10287000"/>
  <p:notesSz cx="6858000" cy="9144000"/>
  <p:embeddedFontLst>
    <p:embeddedFont>
      <p:font typeface="Museo Moderno Bold" panose="020B0604020202020204" charset="0"/>
      <p:regular r:id="rId61"/>
    </p:embeddedFont>
    <p:embeddedFont>
      <p:font typeface="Poppins Bold" panose="020B0604020202020204" charset="0"/>
      <p:regular r:id="rId6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0833" autoAdjust="0"/>
  </p:normalViewPr>
  <p:slideViewPr>
    <p:cSldViewPr>
      <p:cViewPr>
        <p:scale>
          <a:sx n="50" d="100"/>
          <a:sy n="50" d="100"/>
        </p:scale>
        <p:origin x="696" y="2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DEB004-4B5C-4454-B643-FCA38E57E97F}" type="datetimeFigureOut">
              <a:rPr lang="en-US" smtClean="0"/>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7EED0E-2014-43BC-BE31-5AC18268270A}" type="slidenum">
              <a:rPr lang="en-US" smtClean="0"/>
              <a:t>‹#›</a:t>
            </a:fld>
            <a:endParaRPr lang="en-US"/>
          </a:p>
        </p:txBody>
      </p:sp>
    </p:spTree>
    <p:extLst>
      <p:ext uri="{BB962C8B-B14F-4D97-AF65-F5344CB8AC3E}">
        <p14:creationId xmlns:p14="http://schemas.microsoft.com/office/powerpoint/2010/main" val="2374576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81B3D-27E2-9FDE-8C88-9717437E71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48F4A2-61B1-D73C-1D91-EB59CFBD3B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9DB931-4631-5110-1F26-D1A4C11542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6C3006-1D17-A53D-8081-4DC16452A225}"/>
              </a:ext>
            </a:extLst>
          </p:cNvPr>
          <p:cNvSpPr>
            <a:spLocks noGrp="1"/>
          </p:cNvSpPr>
          <p:nvPr>
            <p:ph type="sldNum" sz="quarter" idx="5"/>
          </p:nvPr>
        </p:nvSpPr>
        <p:spPr/>
        <p:txBody>
          <a:bodyPr/>
          <a:lstStyle/>
          <a:p>
            <a:fld id="{177EED0E-2014-43BC-BE31-5AC18268270A}" type="slidenum">
              <a:rPr lang="en-US" smtClean="0"/>
              <a:t>2</a:t>
            </a:fld>
            <a:endParaRPr lang="en-US"/>
          </a:p>
        </p:txBody>
      </p:sp>
    </p:spTree>
    <p:extLst>
      <p:ext uri="{BB962C8B-B14F-4D97-AF65-F5344CB8AC3E}">
        <p14:creationId xmlns:p14="http://schemas.microsoft.com/office/powerpoint/2010/main" val="2502463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EED0E-2014-43BC-BE31-5AC18268270A}" type="slidenum">
              <a:rPr lang="en-US" smtClean="0"/>
              <a:t>3</a:t>
            </a:fld>
            <a:endParaRPr lang="en-US"/>
          </a:p>
        </p:txBody>
      </p:sp>
    </p:spTree>
    <p:extLst>
      <p:ext uri="{BB962C8B-B14F-4D97-AF65-F5344CB8AC3E}">
        <p14:creationId xmlns:p14="http://schemas.microsoft.com/office/powerpoint/2010/main" val="4177718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EED0E-2014-43BC-BE31-5AC18268270A}" type="slidenum">
              <a:rPr lang="en-US" smtClean="0"/>
              <a:t>9</a:t>
            </a:fld>
            <a:endParaRPr lang="en-US"/>
          </a:p>
        </p:txBody>
      </p:sp>
    </p:spTree>
    <p:extLst>
      <p:ext uri="{BB962C8B-B14F-4D97-AF65-F5344CB8AC3E}">
        <p14:creationId xmlns:p14="http://schemas.microsoft.com/office/powerpoint/2010/main" val="3213672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EED0E-2014-43BC-BE31-5AC18268270A}" type="slidenum">
              <a:rPr lang="en-US" smtClean="0"/>
              <a:t>14</a:t>
            </a:fld>
            <a:endParaRPr lang="en-US"/>
          </a:p>
        </p:txBody>
      </p:sp>
    </p:spTree>
    <p:extLst>
      <p:ext uri="{BB962C8B-B14F-4D97-AF65-F5344CB8AC3E}">
        <p14:creationId xmlns:p14="http://schemas.microsoft.com/office/powerpoint/2010/main" val="17322850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EED0E-2014-43BC-BE31-5AC18268270A}" type="slidenum">
              <a:rPr lang="en-US" smtClean="0"/>
              <a:t>30</a:t>
            </a:fld>
            <a:endParaRPr lang="en-US"/>
          </a:p>
        </p:txBody>
      </p:sp>
    </p:spTree>
    <p:extLst>
      <p:ext uri="{BB962C8B-B14F-4D97-AF65-F5344CB8AC3E}">
        <p14:creationId xmlns:p14="http://schemas.microsoft.com/office/powerpoint/2010/main" val="1905041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 name="Freeform 2"/>
          <p:cNvSpPr/>
          <p:nvPr/>
        </p:nvSpPr>
        <p:spPr>
          <a:xfrm>
            <a:off x="13744190" y="-4042349"/>
            <a:ext cx="6446938" cy="6458681"/>
          </a:xfrm>
          <a:custGeom>
            <a:avLst/>
            <a:gdLst/>
            <a:ahLst/>
            <a:cxnLst/>
            <a:rect l="l" t="t" r="r" b="b"/>
            <a:pathLst>
              <a:path w="6446938" h="6458681">
                <a:moveTo>
                  <a:pt x="0" y="0"/>
                </a:moveTo>
                <a:lnTo>
                  <a:pt x="6446937" y="0"/>
                </a:lnTo>
                <a:lnTo>
                  <a:pt x="6446937" y="6458681"/>
                </a:lnTo>
                <a:lnTo>
                  <a:pt x="0" y="645868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080828" y="4476186"/>
            <a:ext cx="6446938" cy="6458681"/>
          </a:xfrm>
          <a:custGeom>
            <a:avLst/>
            <a:gdLst/>
            <a:ahLst/>
            <a:cxnLst/>
            <a:rect l="l" t="t" r="r" b="b"/>
            <a:pathLst>
              <a:path w="6446938" h="6458681">
                <a:moveTo>
                  <a:pt x="0" y="0"/>
                </a:moveTo>
                <a:lnTo>
                  <a:pt x="6446938" y="0"/>
                </a:lnTo>
                <a:lnTo>
                  <a:pt x="6446938" y="6458681"/>
                </a:lnTo>
                <a:lnTo>
                  <a:pt x="0" y="645868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284054" y="199919"/>
            <a:ext cx="2825427" cy="2825427"/>
          </a:xfrm>
          <a:custGeom>
            <a:avLst/>
            <a:gdLst/>
            <a:ahLst/>
            <a:cxnLst/>
            <a:rect l="l" t="t" r="r" b="b"/>
            <a:pathLst>
              <a:path w="2825427" h="2825427">
                <a:moveTo>
                  <a:pt x="0" y="0"/>
                </a:moveTo>
                <a:lnTo>
                  <a:pt x="2825427" y="0"/>
                </a:lnTo>
                <a:lnTo>
                  <a:pt x="2825427" y="2825427"/>
                </a:lnTo>
                <a:lnTo>
                  <a:pt x="0" y="2825427"/>
                </a:lnTo>
                <a:lnTo>
                  <a:pt x="0" y="0"/>
                </a:lnTo>
                <a:close/>
              </a:path>
            </a:pathLst>
          </a:custGeom>
          <a:blipFill>
            <a:blip r:embed="rId3"/>
            <a:stretch>
              <a:fillRect/>
            </a:stretch>
          </a:blipFill>
        </p:spPr>
      </p:sp>
      <p:sp>
        <p:nvSpPr>
          <p:cNvPr id="7" name="TextBox 7"/>
          <p:cNvSpPr txBox="1"/>
          <p:nvPr/>
        </p:nvSpPr>
        <p:spPr>
          <a:xfrm>
            <a:off x="1028700" y="3739721"/>
            <a:ext cx="9029700" cy="4070473"/>
          </a:xfrm>
          <a:prstGeom prst="rect">
            <a:avLst/>
          </a:prstGeom>
        </p:spPr>
        <p:txBody>
          <a:bodyPr wrap="square" lIns="0" tIns="0" rIns="0" bIns="0" rtlCol="0" anchor="t">
            <a:spAutoFit/>
          </a:bodyPr>
          <a:lstStyle/>
          <a:p>
            <a:pPr algn="l">
              <a:lnSpc>
                <a:spcPts val="8099"/>
              </a:lnSpc>
            </a:pPr>
            <a:r>
              <a:rPr lang="en-US" sz="6000" b="1" dirty="0">
                <a:solidFill>
                  <a:srgbClr val="22588D"/>
                </a:solidFill>
                <a:latin typeface="Arial" panose="020B0604020202020204" pitchFamily="34" charset="0"/>
                <a:ea typeface="Museo Moderno Bold"/>
                <a:cs typeface="Arial" panose="020B0604020202020204" pitchFamily="34" charset="0"/>
                <a:sym typeface="Museo Moderno Bold"/>
              </a:rPr>
              <a:t>INTRODUCTION TO MACHINE LEARNING AND BASELINE MODEL DEVELOPMENT</a:t>
            </a:r>
            <a:endParaRPr lang="en-US" sz="6600" b="1" dirty="0">
              <a:solidFill>
                <a:srgbClr val="22588D"/>
              </a:solidFill>
              <a:latin typeface="Arial" panose="020B0604020202020204" pitchFamily="34" charset="0"/>
              <a:ea typeface="Museo Moderno Bold"/>
              <a:cs typeface="Arial" panose="020B0604020202020204" pitchFamily="34" charset="0"/>
              <a:sym typeface="Museo Moderno Bold"/>
            </a:endParaRPr>
          </a:p>
        </p:txBody>
      </p:sp>
      <p:sp>
        <p:nvSpPr>
          <p:cNvPr id="9" name="TextBox 9"/>
          <p:cNvSpPr txBox="1"/>
          <p:nvPr/>
        </p:nvSpPr>
        <p:spPr>
          <a:xfrm>
            <a:off x="12628037" y="8816975"/>
            <a:ext cx="4631263" cy="441325"/>
          </a:xfrm>
          <a:prstGeom prst="rect">
            <a:avLst/>
          </a:prstGeom>
        </p:spPr>
        <p:txBody>
          <a:bodyPr lIns="0" tIns="0" rIns="0" bIns="0" rtlCol="0" anchor="t">
            <a:spAutoFit/>
          </a:bodyPr>
          <a:lstStyle/>
          <a:p>
            <a:pPr algn="r">
              <a:lnSpc>
                <a:spcPts val="3499"/>
              </a:lnSpc>
              <a:spcBef>
                <a:spcPct val="0"/>
              </a:spcBef>
            </a:pPr>
            <a:r>
              <a:rPr lang="en-US" sz="2499" b="1">
                <a:solidFill>
                  <a:srgbClr val="22588D"/>
                </a:solidFill>
                <a:latin typeface="Poppins Bold"/>
                <a:ea typeface="Poppins Bold"/>
                <a:cs typeface="Poppins Bold"/>
                <a:sym typeface="Poppins Bold"/>
              </a:rPr>
              <a:t>CHRISTIAN SY</a:t>
            </a:r>
          </a:p>
        </p:txBody>
      </p:sp>
      <p:pic>
        <p:nvPicPr>
          <p:cNvPr id="3" name="Picture 2" descr="Understanding the Core Concept of Machine Learning">
            <a:extLst>
              <a:ext uri="{FF2B5EF4-FFF2-40B4-BE49-F238E27FC236}">
                <a16:creationId xmlns:a16="http://schemas.microsoft.com/office/drawing/2014/main" id="{632045AA-4CC7-6534-8E17-DD7908E67163}"/>
              </a:ext>
            </a:extLst>
          </p:cNvPr>
          <p:cNvPicPr>
            <a:picLocks noChangeAspect="1"/>
          </p:cNvPicPr>
          <p:nvPr/>
        </p:nvPicPr>
        <p:blipFill>
          <a:blip r:embed="rId4"/>
          <a:stretch>
            <a:fillRect/>
          </a:stretch>
        </p:blipFill>
        <p:spPr>
          <a:xfrm>
            <a:off x="9829800" y="1790700"/>
            <a:ext cx="9752381" cy="6380952"/>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DD8A6-9E05-9614-FD3A-2952712EFFEA}"/>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C49A0D8-D2A5-F587-3F72-9E21794214A3}"/>
              </a:ext>
            </a:extLst>
          </p:cNvPr>
          <p:cNvSpPr txBox="1"/>
          <p:nvPr/>
        </p:nvSpPr>
        <p:spPr>
          <a:xfrm>
            <a:off x="873228" y="580822"/>
            <a:ext cx="11090172" cy="1038746"/>
          </a:xfrm>
          <a:prstGeom prst="rect">
            <a:avLst/>
          </a:prstGeom>
        </p:spPr>
        <p:txBody>
          <a:bodyPr wrap="square" lIns="0" tIns="0" rIns="0" bIns="0" rtlCol="0" anchor="t">
            <a:spAutoFit/>
          </a:bodyPr>
          <a:lstStyle/>
          <a:p>
            <a:pPr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Specific Learning Outcomes</a:t>
            </a:r>
          </a:p>
        </p:txBody>
      </p:sp>
      <p:sp>
        <p:nvSpPr>
          <p:cNvPr id="3" name="TextBox 3">
            <a:extLst>
              <a:ext uri="{FF2B5EF4-FFF2-40B4-BE49-F238E27FC236}">
                <a16:creationId xmlns:a16="http://schemas.microsoft.com/office/drawing/2014/main" id="{656BEE8F-11C6-386C-E7FE-343AB47C2045}"/>
              </a:ext>
            </a:extLst>
          </p:cNvPr>
          <p:cNvSpPr txBox="1"/>
          <p:nvPr/>
        </p:nvSpPr>
        <p:spPr>
          <a:xfrm>
            <a:off x="685800" y="1790700"/>
            <a:ext cx="9031442" cy="7201972"/>
          </a:xfrm>
          <a:prstGeom prst="rect">
            <a:avLst/>
          </a:prstGeom>
        </p:spPr>
        <p:txBody>
          <a:bodyPr lIns="0" tIns="0" rIns="0" bIns="0" rtlCol="0" anchor="t">
            <a:spAutoFit/>
          </a:bodyPr>
          <a:lstStyle/>
          <a:p>
            <a:r>
              <a:rPr lang="en-US" sz="3600" b="1" dirty="0"/>
              <a:t>Knowledge and Understanding</a:t>
            </a:r>
          </a:p>
          <a:p>
            <a:pPr marL="457200" lvl="0" indent="-457200">
              <a:buFont typeface="+mj-lt"/>
              <a:buAutoNum type="arabicPeriod"/>
            </a:pPr>
            <a:r>
              <a:rPr lang="en-US" sz="3600" dirty="0"/>
              <a:t>Explain the fundamental concepts and basic workflow of Machine Learning.</a:t>
            </a:r>
          </a:p>
          <a:p>
            <a:pPr marL="457200" lvl="0" indent="-457200">
              <a:buFont typeface="+mj-lt"/>
              <a:buAutoNum type="arabicPeriod"/>
            </a:pPr>
            <a:r>
              <a:rPr lang="en-US" sz="3600" dirty="0"/>
              <a:t>Differentiate supervised, unsupervised, and reinforcement learning at a conceptual level.</a:t>
            </a:r>
          </a:p>
          <a:p>
            <a:pPr marL="457200" lvl="0" indent="-457200">
              <a:buFont typeface="+mj-lt"/>
              <a:buAutoNum type="arabicPeriod"/>
            </a:pPr>
            <a:r>
              <a:rPr lang="en-US" sz="3600" dirty="0"/>
              <a:t>Distinguish between classification and regression problems.</a:t>
            </a:r>
          </a:p>
          <a:p>
            <a:pPr marL="457200" lvl="0" indent="-457200">
              <a:buFont typeface="+mj-lt"/>
              <a:buAutoNum type="arabicPeriod"/>
            </a:pPr>
            <a:r>
              <a:rPr lang="en-US" sz="3600" dirty="0"/>
              <a:t>Define the purpose and characteristics of a baseline model.</a:t>
            </a:r>
          </a:p>
          <a:p>
            <a:pPr marL="457200" lvl="0" indent="-457200">
              <a:buFont typeface="+mj-lt"/>
              <a:buAutoNum type="arabicPeriod"/>
            </a:pPr>
            <a:r>
              <a:rPr lang="en-US" sz="3600" dirty="0"/>
              <a:t>Explain the roles of features, labels, training data, validation data, and test data.</a:t>
            </a:r>
          </a:p>
          <a:p>
            <a:pPr marL="457200" lvl="0" indent="-457200">
              <a:buFont typeface="+mj-lt"/>
              <a:buAutoNum type="arabicPeriod"/>
            </a:pPr>
            <a:r>
              <a:rPr lang="en-US" sz="3600" dirty="0"/>
              <a:t>Describe overfitting, underfitting, and data leakage in introductory terms.</a:t>
            </a:r>
          </a:p>
        </p:txBody>
      </p:sp>
      <p:sp>
        <p:nvSpPr>
          <p:cNvPr id="4" name="Freeform 4">
            <a:extLst>
              <a:ext uri="{FF2B5EF4-FFF2-40B4-BE49-F238E27FC236}">
                <a16:creationId xmlns:a16="http://schemas.microsoft.com/office/drawing/2014/main" id="{8D57B01D-B2D9-3A30-ACDF-03336DA715E8}"/>
              </a:ext>
            </a:extLst>
          </p:cNvPr>
          <p:cNvSpPr/>
          <p:nvPr/>
        </p:nvSpPr>
        <p:spPr>
          <a:xfrm>
            <a:off x="4957277" y="-4113214"/>
            <a:ext cx="6785337" cy="6797697"/>
          </a:xfrm>
          <a:custGeom>
            <a:avLst/>
            <a:gdLst/>
            <a:ahLst/>
            <a:cxnLst/>
            <a:rect l="l" t="t" r="r" b="b"/>
            <a:pathLst>
              <a:path w="6785337" h="6797697">
                <a:moveTo>
                  <a:pt x="0" y="0"/>
                </a:moveTo>
                <a:lnTo>
                  <a:pt x="6785337" y="0"/>
                </a:lnTo>
                <a:lnTo>
                  <a:pt x="6785337" y="6797697"/>
                </a:lnTo>
                <a:lnTo>
                  <a:pt x="0" y="6797697"/>
                </a:lnTo>
                <a:lnTo>
                  <a:pt x="0" y="0"/>
                </a:lnTo>
                <a:close/>
              </a:path>
            </a:pathLst>
          </a:custGeom>
          <a:blipFill>
            <a:blip>
              <a:extLst>
                <a:ext uri="{96DAC541-7B7A-43D3-8B79-37D633B846F1}">
                  <asvg:svgBlip xmlns:asvg="http://schemas.microsoft.com/office/drawing/2016/SVG/main" r:embed="rId3"/>
                </a:ext>
              </a:extLst>
            </a:blip>
            <a:stretch>
              <a:fillRect/>
            </a:stretch>
          </a:blipFill>
        </p:spPr>
      </p:sp>
      <p:pic>
        <p:nvPicPr>
          <p:cNvPr id="7" name="Picture 6" descr="What is data science and how does it work?">
            <a:extLst>
              <a:ext uri="{FF2B5EF4-FFF2-40B4-BE49-F238E27FC236}">
                <a16:creationId xmlns:a16="http://schemas.microsoft.com/office/drawing/2014/main" id="{89369D5F-62E4-80F9-25FC-DC59AFE99719}"/>
              </a:ext>
            </a:extLst>
          </p:cNvPr>
          <p:cNvPicPr>
            <a:picLocks noChangeAspect="1"/>
          </p:cNvPicPr>
          <p:nvPr/>
        </p:nvPicPr>
        <p:blipFill>
          <a:blip r:embed="rId4"/>
          <a:stretch>
            <a:fillRect/>
          </a:stretch>
        </p:blipFill>
        <p:spPr>
          <a:xfrm>
            <a:off x="10287000" y="2476500"/>
            <a:ext cx="7603042" cy="6266908"/>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extLst>
      <p:ext uri="{BB962C8B-B14F-4D97-AF65-F5344CB8AC3E}">
        <p14:creationId xmlns:p14="http://schemas.microsoft.com/office/powerpoint/2010/main" val="548768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53C17-6DC6-51D4-6685-31D9B0F726B9}"/>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5B9EE1F-9AC2-3EE5-8F64-5B2A66B4F647}"/>
              </a:ext>
            </a:extLst>
          </p:cNvPr>
          <p:cNvSpPr txBox="1"/>
          <p:nvPr/>
        </p:nvSpPr>
        <p:spPr>
          <a:xfrm>
            <a:off x="873228" y="580822"/>
            <a:ext cx="11090172" cy="1038746"/>
          </a:xfrm>
          <a:prstGeom prst="rect">
            <a:avLst/>
          </a:prstGeom>
        </p:spPr>
        <p:txBody>
          <a:bodyPr wrap="square" lIns="0" tIns="0" rIns="0" bIns="0" rtlCol="0" anchor="t">
            <a:spAutoFit/>
          </a:bodyPr>
          <a:lstStyle/>
          <a:p>
            <a:pPr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Specific Learning Outcomes</a:t>
            </a:r>
          </a:p>
        </p:txBody>
      </p:sp>
      <p:sp>
        <p:nvSpPr>
          <p:cNvPr id="3" name="TextBox 3">
            <a:extLst>
              <a:ext uri="{FF2B5EF4-FFF2-40B4-BE49-F238E27FC236}">
                <a16:creationId xmlns:a16="http://schemas.microsoft.com/office/drawing/2014/main" id="{FB1F692B-9D9F-6BE4-8777-DA2221349DEE}"/>
              </a:ext>
            </a:extLst>
          </p:cNvPr>
          <p:cNvSpPr txBox="1"/>
          <p:nvPr/>
        </p:nvSpPr>
        <p:spPr>
          <a:xfrm>
            <a:off x="611971" y="1790700"/>
            <a:ext cx="9642372" cy="7755969"/>
          </a:xfrm>
          <a:prstGeom prst="rect">
            <a:avLst/>
          </a:prstGeom>
        </p:spPr>
        <p:txBody>
          <a:bodyPr wrap="square" lIns="0" tIns="0" rIns="0" bIns="0" rtlCol="0" anchor="t">
            <a:spAutoFit/>
          </a:bodyPr>
          <a:lstStyle/>
          <a:p>
            <a:r>
              <a:rPr lang="en-US" sz="3600" b="1" dirty="0"/>
              <a:t>Application and Analysis</a:t>
            </a:r>
          </a:p>
          <a:p>
            <a:pPr marL="457200" lvl="0" indent="-457200">
              <a:buFont typeface="+mj-lt"/>
              <a:buAutoNum type="arabicPeriod"/>
            </a:pPr>
            <a:r>
              <a:rPr lang="en-US" sz="3600" dirty="0"/>
              <a:t>Translate their thesis problem into an appropriate Machine Learning task.</a:t>
            </a:r>
          </a:p>
          <a:p>
            <a:pPr marL="457200" lvl="0" indent="-457200">
              <a:buFont typeface="+mj-lt"/>
              <a:buAutoNum type="arabicPeriod"/>
            </a:pPr>
            <a:r>
              <a:rPr lang="en-US" sz="3600" dirty="0"/>
              <a:t>Identify the input features and target variable needed for a baseline model.</a:t>
            </a:r>
          </a:p>
          <a:p>
            <a:pPr marL="457200" lvl="0" indent="-457200">
              <a:buFont typeface="+mj-lt"/>
              <a:buAutoNum type="arabicPeriod"/>
            </a:pPr>
            <a:r>
              <a:rPr lang="en-US" sz="3600" dirty="0"/>
              <a:t>Prepare a dataset for basic model training using appropriate preprocessing procedures.</a:t>
            </a:r>
          </a:p>
          <a:p>
            <a:pPr marL="457200" lvl="0" indent="-457200">
              <a:buFont typeface="+mj-lt"/>
              <a:buAutoNum type="arabicPeriod"/>
            </a:pPr>
            <a:r>
              <a:rPr lang="en-US" sz="3600" dirty="0"/>
              <a:t>Split data into training and testing subsets.</a:t>
            </a:r>
          </a:p>
          <a:p>
            <a:pPr marL="457200" lvl="0" indent="-457200">
              <a:buFont typeface="+mj-lt"/>
              <a:buAutoNum type="arabicPeriod"/>
            </a:pPr>
            <a:r>
              <a:rPr lang="en-US" sz="3600" dirty="0"/>
              <a:t>Develop and train at least one appropriate baseline Machine Learning model.</a:t>
            </a:r>
          </a:p>
          <a:p>
            <a:pPr marL="457200" lvl="0" indent="-457200">
              <a:buFont typeface="+mj-lt"/>
              <a:buAutoNum type="arabicPeriod"/>
            </a:pPr>
            <a:r>
              <a:rPr lang="en-US" sz="3600" dirty="0"/>
              <a:t>Generate predictions and evaluate the model using appropriate metrics.</a:t>
            </a:r>
          </a:p>
          <a:p>
            <a:pPr marL="457200" lvl="0" indent="-457200">
              <a:buFont typeface="+mj-lt"/>
              <a:buAutoNum type="arabicPeriod"/>
            </a:pPr>
            <a:r>
              <a:rPr lang="en-US" sz="3600" dirty="0"/>
              <a:t>Interpret baseline results and identify possible areas for improvement.</a:t>
            </a:r>
          </a:p>
        </p:txBody>
      </p:sp>
      <p:sp>
        <p:nvSpPr>
          <p:cNvPr id="4" name="Freeform 4">
            <a:extLst>
              <a:ext uri="{FF2B5EF4-FFF2-40B4-BE49-F238E27FC236}">
                <a16:creationId xmlns:a16="http://schemas.microsoft.com/office/drawing/2014/main" id="{8F86BC46-D358-669D-0A85-E95F8DF40179}"/>
              </a:ext>
            </a:extLst>
          </p:cNvPr>
          <p:cNvSpPr/>
          <p:nvPr/>
        </p:nvSpPr>
        <p:spPr>
          <a:xfrm>
            <a:off x="4957277" y="-4113214"/>
            <a:ext cx="6785337" cy="6797697"/>
          </a:xfrm>
          <a:custGeom>
            <a:avLst/>
            <a:gdLst/>
            <a:ahLst/>
            <a:cxnLst/>
            <a:rect l="l" t="t" r="r" b="b"/>
            <a:pathLst>
              <a:path w="6785337" h="6797697">
                <a:moveTo>
                  <a:pt x="0" y="0"/>
                </a:moveTo>
                <a:lnTo>
                  <a:pt x="6785337" y="0"/>
                </a:lnTo>
                <a:lnTo>
                  <a:pt x="6785337" y="6797697"/>
                </a:lnTo>
                <a:lnTo>
                  <a:pt x="0" y="6797697"/>
                </a:lnTo>
                <a:lnTo>
                  <a:pt x="0" y="0"/>
                </a:lnTo>
                <a:close/>
              </a:path>
            </a:pathLst>
          </a:custGeom>
          <a:blipFill>
            <a:blip>
              <a:extLst>
                <a:ext uri="{96DAC541-7B7A-43D3-8B79-37D633B846F1}">
                  <asvg:svgBlip xmlns:asvg="http://schemas.microsoft.com/office/drawing/2016/SVG/main" r:embed="rId3"/>
                </a:ext>
              </a:extLst>
            </a:blip>
            <a:stretch>
              <a:fillRect/>
            </a:stretch>
          </a:blipFill>
        </p:spPr>
      </p:sp>
      <p:pic>
        <p:nvPicPr>
          <p:cNvPr id="8" name="Picture 7" descr="What is data science and how does it work?">
            <a:extLst>
              <a:ext uri="{FF2B5EF4-FFF2-40B4-BE49-F238E27FC236}">
                <a16:creationId xmlns:a16="http://schemas.microsoft.com/office/drawing/2014/main" id="{4CFC2794-AFF7-49A9-7929-E6BA56A28075}"/>
              </a:ext>
            </a:extLst>
          </p:cNvPr>
          <p:cNvPicPr>
            <a:picLocks noChangeAspect="1"/>
          </p:cNvPicPr>
          <p:nvPr/>
        </p:nvPicPr>
        <p:blipFill>
          <a:blip r:embed="rId4"/>
          <a:stretch>
            <a:fillRect/>
          </a:stretch>
        </p:blipFill>
        <p:spPr>
          <a:xfrm>
            <a:off x="10287000" y="2476500"/>
            <a:ext cx="7603042" cy="6266908"/>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extLst>
      <p:ext uri="{BB962C8B-B14F-4D97-AF65-F5344CB8AC3E}">
        <p14:creationId xmlns:p14="http://schemas.microsoft.com/office/powerpoint/2010/main" val="3058083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 name="TextBox 2"/>
          <p:cNvSpPr txBox="1"/>
          <p:nvPr/>
        </p:nvSpPr>
        <p:spPr>
          <a:xfrm>
            <a:off x="873228" y="580822"/>
            <a:ext cx="7321246" cy="2115964"/>
          </a:xfrm>
          <a:prstGeom prst="rect">
            <a:avLst/>
          </a:prstGeom>
        </p:spPr>
        <p:txBody>
          <a:bodyPr lIns="0" tIns="0" rIns="0" bIns="0" rtlCol="0" anchor="t">
            <a:spAutoFit/>
          </a:bodyPr>
          <a:lstStyle/>
          <a:p>
            <a:pPr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Thesis-Oriented Outcome</a:t>
            </a:r>
          </a:p>
        </p:txBody>
      </p:sp>
      <p:sp>
        <p:nvSpPr>
          <p:cNvPr id="3" name="TextBox 3"/>
          <p:cNvSpPr txBox="1"/>
          <p:nvPr/>
        </p:nvSpPr>
        <p:spPr>
          <a:xfrm>
            <a:off x="873228" y="3314700"/>
            <a:ext cx="9031442" cy="5170646"/>
          </a:xfrm>
          <a:prstGeom prst="rect">
            <a:avLst/>
          </a:prstGeom>
        </p:spPr>
        <p:txBody>
          <a:bodyPr lIns="0" tIns="0" rIns="0" bIns="0" rtlCol="0" anchor="t">
            <a:spAutoFit/>
          </a:bodyPr>
          <a:lstStyle/>
          <a:p>
            <a:r>
              <a:rPr lang="en-US" sz="4800" dirty="0"/>
              <a:t>Develop Baseline Model v1.0 using the student’s thesis dataset or a justified preliminary dataset, accompanied by a short experiment report documenting the problem, data, model, procedure, results, and initial interpretation.</a:t>
            </a:r>
          </a:p>
        </p:txBody>
      </p:sp>
      <p:sp>
        <p:nvSpPr>
          <p:cNvPr id="4" name="Freeform 4"/>
          <p:cNvSpPr/>
          <p:nvPr/>
        </p:nvSpPr>
        <p:spPr>
          <a:xfrm>
            <a:off x="4957277" y="-4113214"/>
            <a:ext cx="6785337" cy="6797697"/>
          </a:xfrm>
          <a:custGeom>
            <a:avLst/>
            <a:gdLst/>
            <a:ahLst/>
            <a:cxnLst/>
            <a:rect l="l" t="t" r="r" b="b"/>
            <a:pathLst>
              <a:path w="6785337" h="6797697">
                <a:moveTo>
                  <a:pt x="0" y="0"/>
                </a:moveTo>
                <a:lnTo>
                  <a:pt x="6785337" y="0"/>
                </a:lnTo>
                <a:lnTo>
                  <a:pt x="6785337" y="6797697"/>
                </a:lnTo>
                <a:lnTo>
                  <a:pt x="0" y="6797697"/>
                </a:lnTo>
                <a:lnTo>
                  <a:pt x="0" y="0"/>
                </a:lnTo>
                <a:close/>
              </a:path>
            </a:pathLst>
          </a:custGeom>
          <a:blipFill>
            <a:blip>
              <a:extLst>
                <a:ext uri="{96DAC541-7B7A-43D3-8B79-37D633B846F1}">
                  <asvg:svgBlip xmlns:asvg="http://schemas.microsoft.com/office/drawing/2016/SVG/main" r:embed="rId2"/>
                </a:ext>
              </a:extLst>
            </a:blip>
            <a:stretch>
              <a:fillRect/>
            </a:stretch>
          </a:blipFill>
        </p:spPr>
      </p:sp>
      <p:pic>
        <p:nvPicPr>
          <p:cNvPr id="8" name="Picture 7" descr="What is data science and how does it work?">
            <a:extLst>
              <a:ext uri="{FF2B5EF4-FFF2-40B4-BE49-F238E27FC236}">
                <a16:creationId xmlns:a16="http://schemas.microsoft.com/office/drawing/2014/main" id="{F05DDC24-06A0-867E-E984-0C1BFA9964E8}"/>
              </a:ext>
            </a:extLst>
          </p:cNvPr>
          <p:cNvPicPr>
            <a:picLocks noChangeAspect="1"/>
          </p:cNvPicPr>
          <p:nvPr/>
        </p:nvPicPr>
        <p:blipFill>
          <a:blip r:embed="rId3"/>
          <a:stretch>
            <a:fillRect/>
          </a:stretch>
        </p:blipFill>
        <p:spPr>
          <a:xfrm>
            <a:off x="10287000" y="2476500"/>
            <a:ext cx="7603042" cy="6266908"/>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 name="TextBox 2"/>
          <p:cNvSpPr txBox="1"/>
          <p:nvPr/>
        </p:nvSpPr>
        <p:spPr>
          <a:xfrm>
            <a:off x="6100182" y="238742"/>
            <a:ext cx="11806817" cy="1038746"/>
          </a:xfrm>
          <a:prstGeom prst="rect">
            <a:avLst/>
          </a:prstGeom>
        </p:spPr>
        <p:txBody>
          <a:bodyPr wrap="square" lIns="0" tIns="0" rIns="0" bIns="0" rtlCol="0" anchor="t">
            <a:spAutoFit/>
          </a:bodyPr>
          <a:lstStyle/>
          <a:p>
            <a:pPr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What is Machine Learning?</a:t>
            </a:r>
          </a:p>
        </p:txBody>
      </p:sp>
      <p:sp>
        <p:nvSpPr>
          <p:cNvPr id="3" name="TextBox 3"/>
          <p:cNvSpPr txBox="1"/>
          <p:nvPr/>
        </p:nvSpPr>
        <p:spPr>
          <a:xfrm>
            <a:off x="5486400" y="1200767"/>
            <a:ext cx="12420599" cy="8309967"/>
          </a:xfrm>
          <a:prstGeom prst="rect">
            <a:avLst/>
          </a:prstGeom>
        </p:spPr>
        <p:txBody>
          <a:bodyPr wrap="square" lIns="0" tIns="0" rIns="0" bIns="0" rtlCol="0" anchor="t">
            <a:spAutoFit/>
          </a:bodyPr>
          <a:lstStyle/>
          <a:p>
            <a:pPr marL="685800" indent="-685800">
              <a:buFont typeface="Arial" panose="020B0604020202020204" pitchFamily="34" charset="0"/>
              <a:buChar char="•"/>
            </a:pPr>
            <a:r>
              <a:rPr lang="en-US" sz="5400" dirty="0"/>
              <a:t>Machine Learning is a field of Artificial Intelligence in which computational systems learn patterns from data in order to make predictions, classifications, estimates, recommendations, or other data-driven outputs.</a:t>
            </a:r>
          </a:p>
          <a:p>
            <a:pPr marL="685800" indent="-685800">
              <a:buFont typeface="Arial" panose="020B0604020202020204" pitchFamily="34" charset="0"/>
              <a:buChar char="•"/>
            </a:pPr>
            <a:r>
              <a:rPr lang="en-US" sz="5400" dirty="0"/>
              <a:t>Instead of programming a separate rule for every possible situation, the developer provides examples from which an algorithm identifies useful patterns.</a:t>
            </a:r>
          </a:p>
        </p:txBody>
      </p:sp>
      <p:pic>
        <p:nvPicPr>
          <p:cNvPr id="6" name="Picture 5" descr="92,000+ Machine Learning Robot Stock Photos and Royalty-Free ...">
            <a:extLst>
              <a:ext uri="{FF2B5EF4-FFF2-40B4-BE49-F238E27FC236}">
                <a16:creationId xmlns:a16="http://schemas.microsoft.com/office/drawing/2014/main" id="{026743A6-DDBF-595E-2C15-D349D7D5E817}"/>
              </a:ext>
            </a:extLst>
          </p:cNvPr>
          <p:cNvPicPr>
            <a:picLocks noChangeAspect="1"/>
          </p:cNvPicPr>
          <p:nvPr/>
        </p:nvPicPr>
        <p:blipFill>
          <a:blip r:embed="rId2"/>
          <a:stretch>
            <a:fillRect/>
          </a:stretch>
        </p:blipFill>
        <p:spPr>
          <a:xfrm>
            <a:off x="-556960" y="-419100"/>
            <a:ext cx="5867400" cy="571076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A6ED3-C91B-4627-4630-8910828616F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27FB718-43C3-7445-3FE4-2710E6E347A0}"/>
              </a:ext>
            </a:extLst>
          </p:cNvPr>
          <p:cNvSpPr txBox="1"/>
          <p:nvPr/>
        </p:nvSpPr>
        <p:spPr>
          <a:xfrm>
            <a:off x="6100183" y="238742"/>
            <a:ext cx="7769646" cy="1038225"/>
          </a:xfrm>
          <a:prstGeom prst="rect">
            <a:avLst/>
          </a:prstGeom>
        </p:spPr>
        <p:txBody>
          <a:bodyPr lIns="0" tIns="0" rIns="0" bIns="0" rtlCol="0" anchor="t">
            <a:spAutoFit/>
          </a:bodyPr>
          <a:lstStyle/>
          <a:p>
            <a:pPr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Introduction</a:t>
            </a:r>
          </a:p>
        </p:txBody>
      </p:sp>
      <p:sp>
        <p:nvSpPr>
          <p:cNvPr id="3" name="TextBox 3">
            <a:extLst>
              <a:ext uri="{FF2B5EF4-FFF2-40B4-BE49-F238E27FC236}">
                <a16:creationId xmlns:a16="http://schemas.microsoft.com/office/drawing/2014/main" id="{5D0E4150-0E4C-085B-AD08-BBFA8C481D42}"/>
              </a:ext>
            </a:extLst>
          </p:cNvPr>
          <p:cNvSpPr txBox="1"/>
          <p:nvPr/>
        </p:nvSpPr>
        <p:spPr>
          <a:xfrm>
            <a:off x="6100183" y="1200767"/>
            <a:ext cx="11493089" cy="5909310"/>
          </a:xfrm>
          <a:prstGeom prst="rect">
            <a:avLst/>
          </a:prstGeom>
        </p:spPr>
        <p:txBody>
          <a:bodyPr lIns="0" tIns="0" rIns="0" bIns="0" rtlCol="0" anchor="t">
            <a:spAutoFit/>
          </a:bodyPr>
          <a:lstStyle/>
          <a:p>
            <a:r>
              <a:rPr lang="en-US" sz="4800" dirty="0"/>
              <a:t>For example, a researcher may provide historical student records and known academic outcomes so that a model can learn relationships between student-related inputs and academic risk. </a:t>
            </a:r>
          </a:p>
          <a:p>
            <a:endParaRPr lang="en-US" sz="4800" dirty="0"/>
          </a:p>
          <a:p>
            <a:r>
              <a:rPr lang="en-US" sz="4800" dirty="0"/>
              <a:t>Conceptually: DATA + LEARNING ALGORITHM → MODEL → PREDICTION / DECISION.</a:t>
            </a:r>
          </a:p>
        </p:txBody>
      </p:sp>
      <p:pic>
        <p:nvPicPr>
          <p:cNvPr id="7" name="Picture 6" descr="92,000+ Machine Learning Robot Stock Photos and Royalty-Free ...">
            <a:extLst>
              <a:ext uri="{FF2B5EF4-FFF2-40B4-BE49-F238E27FC236}">
                <a16:creationId xmlns:a16="http://schemas.microsoft.com/office/drawing/2014/main" id="{388B2477-596E-CB64-6ACE-F886A8864C88}"/>
              </a:ext>
            </a:extLst>
          </p:cNvPr>
          <p:cNvPicPr>
            <a:picLocks noChangeAspect="1"/>
          </p:cNvPicPr>
          <p:nvPr/>
        </p:nvPicPr>
        <p:blipFill>
          <a:blip r:embed="rId2"/>
          <a:stretch>
            <a:fillRect/>
          </a:stretch>
        </p:blipFill>
        <p:spPr>
          <a:xfrm>
            <a:off x="-556960" y="-419100"/>
            <a:ext cx="5867400" cy="571076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09335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40AFF58-F6FA-401B-846A-4685C0330D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25848"/>
            <a:ext cx="15392400" cy="10261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24C73-2DCF-F131-B613-BF83D55B1AF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27EA521-1B7E-7B0E-89C0-BF45E5F693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90700"/>
            <a:ext cx="18288000" cy="7162800"/>
          </a:xfrm>
          <a:prstGeom prst="rect">
            <a:avLst/>
          </a:prstGeom>
        </p:spPr>
      </p:pic>
      <p:sp>
        <p:nvSpPr>
          <p:cNvPr id="2" name="Freeform 2">
            <a:extLst>
              <a:ext uri="{FF2B5EF4-FFF2-40B4-BE49-F238E27FC236}">
                <a16:creationId xmlns:a16="http://schemas.microsoft.com/office/drawing/2014/main" id="{BBC78CA6-FAEF-290C-CC08-03D7D8E5CA95}"/>
              </a:ext>
            </a:extLst>
          </p:cNvPr>
          <p:cNvSpPr/>
          <p:nvPr/>
        </p:nvSpPr>
        <p:spPr>
          <a:xfrm>
            <a:off x="10707159" y="-6035048"/>
            <a:ext cx="10704366"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1632222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3" name="TextBox 3"/>
          <p:cNvSpPr txBox="1"/>
          <p:nvPr/>
        </p:nvSpPr>
        <p:spPr>
          <a:xfrm>
            <a:off x="637578" y="58747"/>
            <a:ext cx="12621222"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Major Types of Machine Learning</a:t>
            </a:r>
            <a:endParaRPr lang="en-US" sz="6000" b="1" u="none" strike="noStrike" dirty="0">
              <a:solidFill>
                <a:srgbClr val="22588D"/>
              </a:solidFill>
              <a:latin typeface="Museo Moderno Bold"/>
              <a:ea typeface="Museo Moderno Bold"/>
              <a:cs typeface="Museo Moderno Bold"/>
              <a:sym typeface="Museo Moderno Bold"/>
            </a:endParaRPr>
          </a:p>
        </p:txBody>
      </p:sp>
      <p:sp>
        <p:nvSpPr>
          <p:cNvPr id="17" name="TextBox 16">
            <a:extLst>
              <a:ext uri="{FF2B5EF4-FFF2-40B4-BE49-F238E27FC236}">
                <a16:creationId xmlns:a16="http://schemas.microsoft.com/office/drawing/2014/main" id="{BD493100-DD40-44B0-A701-C036A671B667}"/>
              </a:ext>
            </a:extLst>
          </p:cNvPr>
          <p:cNvSpPr txBox="1"/>
          <p:nvPr/>
        </p:nvSpPr>
        <p:spPr>
          <a:xfrm>
            <a:off x="341090" y="1485900"/>
            <a:ext cx="17489710" cy="5570756"/>
          </a:xfrm>
          <a:prstGeom prst="rect">
            <a:avLst/>
          </a:prstGeom>
          <a:noFill/>
        </p:spPr>
        <p:txBody>
          <a:bodyPr wrap="square">
            <a:spAutoFit/>
          </a:bodyPr>
          <a:lstStyle/>
          <a:p>
            <a:pPr marR="0">
              <a:lnSpc>
                <a:spcPct val="100000"/>
              </a:lnSpc>
              <a:spcBef>
                <a:spcPts val="2400"/>
              </a:spcBef>
            </a:pPr>
            <a:r>
              <a:rPr lang="en-US" sz="4800" b="1" kern="0" dirty="0">
                <a:solidFill>
                  <a:schemeClr val="tx1"/>
                </a:solidFill>
                <a:effectLst/>
                <a:latin typeface="+mn-lt"/>
                <a:ea typeface="MS Gothic" panose="020B0609070205080204" pitchFamily="49" charset="-128"/>
                <a:cs typeface="Times New Roman" panose="02020603050405020304" pitchFamily="18" charset="0"/>
              </a:rPr>
              <a:t>1. Supervised learning </a:t>
            </a:r>
            <a:r>
              <a:rPr lang="en-US" sz="4800" kern="0" dirty="0">
                <a:solidFill>
                  <a:schemeClr val="tx1"/>
                </a:solidFill>
                <a:effectLst/>
                <a:latin typeface="+mn-lt"/>
                <a:ea typeface="MS Gothic" panose="020B0609070205080204" pitchFamily="49" charset="-128"/>
                <a:cs typeface="Times New Roman" panose="02020603050405020304" pitchFamily="18" charset="0"/>
              </a:rPr>
              <a:t>is appropriate when historical examples include known outputs; examples include academic-risk classification, phishing detection, plant-disease classification, final-grade estimation, rainfall estimation, and enrollment forecasting. </a:t>
            </a:r>
          </a:p>
          <a:p>
            <a:pPr lvl="2">
              <a:spcBef>
                <a:spcPts val="2400"/>
              </a:spcBef>
            </a:pPr>
            <a:r>
              <a:rPr lang="en-US" sz="4800" b="1" kern="0" dirty="0">
                <a:ea typeface="MS Gothic" panose="020B0609070205080204" pitchFamily="49" charset="-128"/>
                <a:cs typeface="Times New Roman" panose="02020603050405020304" pitchFamily="18" charset="0"/>
              </a:rPr>
              <a:t>Example: </a:t>
            </a:r>
            <a:r>
              <a:rPr lang="en-US" sz="4800" kern="0" dirty="0">
                <a:ea typeface="MS Gothic" panose="020B0609070205080204" pitchFamily="49" charset="-128"/>
                <a:cs typeface="Times New Roman" panose="02020603050405020304" pitchFamily="18" charset="0"/>
              </a:rPr>
              <a:t>Given student attendance, GPA, study hours, and failed subjects together with known Risk Status labels, a model can learn to classify new students as At Risk or Not At Risk.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42A6F-E512-304F-0915-2018CD48DB5B}"/>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06DAADC7-6ADD-6BD1-CF9B-5BE60B44DC6C}"/>
              </a:ext>
            </a:extLst>
          </p:cNvPr>
          <p:cNvSpPr txBox="1"/>
          <p:nvPr/>
        </p:nvSpPr>
        <p:spPr>
          <a:xfrm>
            <a:off x="152400" y="114300"/>
            <a:ext cx="12926022" cy="1038746"/>
          </a:xfrm>
          <a:prstGeom prst="rect">
            <a:avLst/>
          </a:prstGeom>
        </p:spPr>
        <p:txBody>
          <a:bodyPr wrap="square" lIns="0" tIns="0" rIns="0" bIns="0" rtlCol="0" anchor="t">
            <a:spAutoFit/>
          </a:bodyPr>
          <a:lstStyle/>
          <a:p>
            <a:pPr marL="0" lvl="0" indent="0">
              <a:lnSpc>
                <a:spcPts val="8400"/>
              </a:lnSpc>
              <a:spcBef>
                <a:spcPct val="0"/>
              </a:spcBef>
            </a:pPr>
            <a:r>
              <a:rPr lang="en-US" sz="6000" dirty="0">
                <a:solidFill>
                  <a:srgbClr val="22588D"/>
                </a:solidFill>
                <a:latin typeface="Museo Moderno Bold"/>
                <a:ea typeface="Museo Moderno Bold"/>
                <a:cs typeface="Museo Moderno Bold"/>
                <a:sym typeface="Museo Moderno Bold"/>
              </a:rPr>
              <a:t>1. Supervised Learning</a:t>
            </a:r>
          </a:p>
        </p:txBody>
      </p:sp>
      <p:sp>
        <p:nvSpPr>
          <p:cNvPr id="17" name="TextBox 16">
            <a:extLst>
              <a:ext uri="{FF2B5EF4-FFF2-40B4-BE49-F238E27FC236}">
                <a16:creationId xmlns:a16="http://schemas.microsoft.com/office/drawing/2014/main" id="{6EA448E8-6CC9-0B5B-A2D8-28880A945374}"/>
              </a:ext>
            </a:extLst>
          </p:cNvPr>
          <p:cNvSpPr txBox="1"/>
          <p:nvPr/>
        </p:nvSpPr>
        <p:spPr>
          <a:xfrm>
            <a:off x="125506" y="1122118"/>
            <a:ext cx="17489710" cy="1938992"/>
          </a:xfrm>
          <a:prstGeom prst="rect">
            <a:avLst/>
          </a:prstGeom>
          <a:noFill/>
        </p:spPr>
        <p:txBody>
          <a:bodyPr wrap="square">
            <a:spAutoFit/>
          </a:bodyPr>
          <a:lstStyle/>
          <a:p>
            <a:r>
              <a:rPr lang="en-US" sz="4000" dirty="0"/>
              <a:t>Supervised learning uses labeled examples. Each observation contains input information and a known output or target. The model learns a relationship between inputs and outputs.</a:t>
            </a:r>
          </a:p>
        </p:txBody>
      </p:sp>
      <p:graphicFrame>
        <p:nvGraphicFramePr>
          <p:cNvPr id="4" name="Table 3">
            <a:extLst>
              <a:ext uri="{FF2B5EF4-FFF2-40B4-BE49-F238E27FC236}">
                <a16:creationId xmlns:a16="http://schemas.microsoft.com/office/drawing/2014/main" id="{05B01499-F9C4-1914-9695-7C79B032DD69}"/>
              </a:ext>
            </a:extLst>
          </p:cNvPr>
          <p:cNvGraphicFramePr>
            <a:graphicFrameLocks noGrp="1"/>
          </p:cNvGraphicFramePr>
          <p:nvPr>
            <p:extLst>
              <p:ext uri="{D42A27DB-BD31-4B8C-83A1-F6EECF244321}">
                <p14:modId xmlns:p14="http://schemas.microsoft.com/office/powerpoint/2010/main" val="1664539409"/>
              </p:ext>
            </p:extLst>
          </p:nvPr>
        </p:nvGraphicFramePr>
        <p:xfrm>
          <a:off x="609600" y="3314700"/>
          <a:ext cx="16459200" cy="3903124"/>
        </p:xfrm>
        <a:graphic>
          <a:graphicData uri="http://schemas.openxmlformats.org/drawingml/2006/table">
            <a:tbl>
              <a:tblPr firstRow="1" firstCol="1" bandRow="1">
                <a:tableStyleId>{5C22544A-7EE6-4342-B048-85BDC9FD1C3A}</a:tableStyleId>
              </a:tblPr>
              <a:tblGrid>
                <a:gridCol w="11290852">
                  <a:extLst>
                    <a:ext uri="{9D8B030D-6E8A-4147-A177-3AD203B41FA5}">
                      <a16:colId xmlns:a16="http://schemas.microsoft.com/office/drawing/2014/main" val="1588926110"/>
                    </a:ext>
                  </a:extLst>
                </a:gridCol>
                <a:gridCol w="5168348">
                  <a:extLst>
                    <a:ext uri="{9D8B030D-6E8A-4147-A177-3AD203B41FA5}">
                      <a16:colId xmlns:a16="http://schemas.microsoft.com/office/drawing/2014/main" val="279558186"/>
                    </a:ext>
                  </a:extLst>
                </a:gridCol>
              </a:tblGrid>
              <a:tr h="975781">
                <a:tc>
                  <a:txBody>
                    <a:bodyPr/>
                    <a:lstStyle/>
                    <a:p>
                      <a:pPr marL="0" marR="0">
                        <a:lnSpc>
                          <a:spcPct val="115000"/>
                        </a:lnSpc>
                        <a:spcAft>
                          <a:spcPts val="1000"/>
                        </a:spcAft>
                        <a:buNone/>
                      </a:pPr>
                      <a:r>
                        <a:rPr lang="en-US" sz="4800">
                          <a:effectLst/>
                        </a:rPr>
                        <a:t>Input</a:t>
                      </a:r>
                      <a:endParaRPr lang="en-US" sz="48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4800">
                          <a:effectLst/>
                        </a:rPr>
                        <a:t>Known Output</a:t>
                      </a:r>
                      <a:endParaRPr lang="en-US" sz="48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575792422"/>
                  </a:ext>
                </a:extLst>
              </a:tr>
              <a:tr h="975781">
                <a:tc>
                  <a:txBody>
                    <a:bodyPr/>
                    <a:lstStyle/>
                    <a:p>
                      <a:pPr marL="0" marR="0">
                        <a:lnSpc>
                          <a:spcPct val="115000"/>
                        </a:lnSpc>
                        <a:spcAft>
                          <a:spcPts val="1000"/>
                        </a:spcAft>
                        <a:buNone/>
                      </a:pPr>
                      <a:r>
                        <a:rPr lang="en-US" sz="4800">
                          <a:effectLst/>
                        </a:rPr>
                        <a:t>Student attendance, GPA, failed subjects</a:t>
                      </a:r>
                      <a:endParaRPr lang="en-US" sz="48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4800" dirty="0">
                          <a:effectLst/>
                        </a:rPr>
                        <a:t>At Risk / Not at Risk</a:t>
                      </a:r>
                      <a:endParaRPr lang="en-US" sz="48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772702165"/>
                  </a:ext>
                </a:extLst>
              </a:tr>
              <a:tr h="975781">
                <a:tc>
                  <a:txBody>
                    <a:bodyPr/>
                    <a:lstStyle/>
                    <a:p>
                      <a:pPr marL="0" marR="0">
                        <a:lnSpc>
                          <a:spcPct val="115000"/>
                        </a:lnSpc>
                        <a:spcAft>
                          <a:spcPts val="1000"/>
                        </a:spcAft>
                        <a:buNone/>
                      </a:pPr>
                      <a:r>
                        <a:rPr lang="en-US" sz="4800">
                          <a:effectLst/>
                        </a:rPr>
                        <a:t>Email text</a:t>
                      </a:r>
                      <a:endParaRPr lang="en-US" sz="48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4800" dirty="0">
                          <a:effectLst/>
                        </a:rPr>
                        <a:t>Spam / Not Spam</a:t>
                      </a:r>
                      <a:endParaRPr lang="en-US" sz="48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28200363"/>
                  </a:ext>
                </a:extLst>
              </a:tr>
              <a:tr h="975781">
                <a:tc>
                  <a:txBody>
                    <a:bodyPr/>
                    <a:lstStyle/>
                    <a:p>
                      <a:pPr marL="0" marR="0">
                        <a:lnSpc>
                          <a:spcPct val="115000"/>
                        </a:lnSpc>
                        <a:spcAft>
                          <a:spcPts val="1000"/>
                        </a:spcAft>
                        <a:buNone/>
                      </a:pPr>
                      <a:r>
                        <a:rPr lang="en-US" sz="4800" dirty="0">
                          <a:effectLst/>
                        </a:rPr>
                        <a:t>House characteristics</a:t>
                      </a:r>
                      <a:endParaRPr lang="en-US" sz="48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4800" dirty="0">
                          <a:effectLst/>
                        </a:rPr>
                        <a:t>House price</a:t>
                      </a:r>
                      <a:endParaRPr lang="en-US" sz="48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47547372"/>
                  </a:ext>
                </a:extLst>
              </a:tr>
            </a:tbl>
          </a:graphicData>
        </a:graphic>
      </p:graphicFrame>
      <p:sp>
        <p:nvSpPr>
          <p:cNvPr id="6" name="TextBox 5">
            <a:extLst>
              <a:ext uri="{FF2B5EF4-FFF2-40B4-BE49-F238E27FC236}">
                <a16:creationId xmlns:a16="http://schemas.microsoft.com/office/drawing/2014/main" id="{64E9A8E7-ABF0-4C49-AFCD-6550E04EF507}"/>
              </a:ext>
            </a:extLst>
          </p:cNvPr>
          <p:cNvSpPr txBox="1"/>
          <p:nvPr/>
        </p:nvSpPr>
        <p:spPr>
          <a:xfrm>
            <a:off x="626632" y="7810500"/>
            <a:ext cx="15375367" cy="707886"/>
          </a:xfrm>
          <a:prstGeom prst="rect">
            <a:avLst/>
          </a:prstGeom>
          <a:noFill/>
        </p:spPr>
        <p:txBody>
          <a:bodyPr wrap="square">
            <a:spAutoFit/>
          </a:bodyPr>
          <a:lstStyle/>
          <a:p>
            <a:pPr marL="0" marR="0">
              <a:lnSpc>
                <a:spcPct val="100000"/>
              </a:lnSpc>
              <a:spcAft>
                <a:spcPts val="1000"/>
              </a:spcAft>
              <a:buNone/>
            </a:pPr>
            <a:r>
              <a:rPr lang="en-US" sz="4000" dirty="0">
                <a:effectLst/>
                <a:latin typeface="+mn-lt"/>
                <a:ea typeface="MS Mincho" panose="02020609040205080304" pitchFamily="49" charset="-128"/>
                <a:cs typeface="Times New Roman" panose="02020603050405020304" pitchFamily="18" charset="0"/>
              </a:rPr>
              <a:t>The two most common supervised tasks are classification and regression.</a:t>
            </a:r>
            <a:endParaRPr lang="en-US" sz="2000" dirty="0">
              <a:effectLst/>
              <a:latin typeface="Arial" panose="020B06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200403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0A8EF-C7BB-E5A1-EC5B-F7DDF2433403}"/>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A56F333F-7273-73C5-2252-DE827E556891}"/>
              </a:ext>
            </a:extLst>
          </p:cNvPr>
          <p:cNvSpPr txBox="1"/>
          <p:nvPr/>
        </p:nvSpPr>
        <p:spPr>
          <a:xfrm>
            <a:off x="637578" y="58747"/>
            <a:ext cx="12621222"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Major Types of Machine Learning</a:t>
            </a:r>
            <a:endParaRPr lang="en-US" sz="6000" b="1" u="none" strike="noStrike" dirty="0">
              <a:solidFill>
                <a:srgbClr val="22588D"/>
              </a:solidFill>
              <a:latin typeface="Museo Moderno Bold"/>
              <a:ea typeface="Museo Moderno Bold"/>
              <a:cs typeface="Museo Moderno Bold"/>
              <a:sym typeface="Museo Moderno Bold"/>
            </a:endParaRPr>
          </a:p>
        </p:txBody>
      </p:sp>
      <p:sp>
        <p:nvSpPr>
          <p:cNvPr id="17" name="TextBox 16">
            <a:extLst>
              <a:ext uri="{FF2B5EF4-FFF2-40B4-BE49-F238E27FC236}">
                <a16:creationId xmlns:a16="http://schemas.microsoft.com/office/drawing/2014/main" id="{B5646D19-85A9-85C4-37C4-13E1C2F6D04D}"/>
              </a:ext>
            </a:extLst>
          </p:cNvPr>
          <p:cNvSpPr txBox="1"/>
          <p:nvPr/>
        </p:nvSpPr>
        <p:spPr>
          <a:xfrm>
            <a:off x="341090" y="1485900"/>
            <a:ext cx="17489710" cy="7171194"/>
          </a:xfrm>
          <a:prstGeom prst="rect">
            <a:avLst/>
          </a:prstGeom>
          <a:noFill/>
        </p:spPr>
        <p:txBody>
          <a:bodyPr wrap="square">
            <a:spAutoFit/>
          </a:bodyPr>
          <a:lstStyle/>
          <a:p>
            <a:pPr>
              <a:spcBef>
                <a:spcPts val="2400"/>
              </a:spcBef>
            </a:pPr>
            <a:r>
              <a:rPr lang="en-US" sz="4400" b="1" kern="0" dirty="0">
                <a:ea typeface="MS Gothic" panose="020B0609070205080204" pitchFamily="49" charset="-128"/>
                <a:cs typeface="Times New Roman" panose="02020603050405020304" pitchFamily="18" charset="0"/>
              </a:rPr>
              <a:t>2. Unsupervised learning </a:t>
            </a:r>
            <a:r>
              <a:rPr lang="en-US" sz="4400" kern="0" dirty="0">
                <a:ea typeface="MS Gothic" panose="020B0609070205080204" pitchFamily="49" charset="-128"/>
                <a:cs typeface="Times New Roman" panose="02020603050405020304" pitchFamily="18" charset="0"/>
              </a:rPr>
              <a:t>is appropriate when no predefined target is available and the objective is to discover structure; examples include student-profile clustering, customer segmentation, document clustering, and topic discovery. </a:t>
            </a:r>
          </a:p>
          <a:p>
            <a:pPr lvl="2">
              <a:spcBef>
                <a:spcPts val="2400"/>
              </a:spcBef>
            </a:pPr>
            <a:r>
              <a:rPr lang="en-US" sz="4400" b="1" kern="0" dirty="0">
                <a:ea typeface="MS Gothic" panose="020B0609070205080204" pitchFamily="49" charset="-128"/>
                <a:cs typeface="Times New Roman" panose="02020603050405020304" pitchFamily="18" charset="0"/>
              </a:rPr>
              <a:t>Example: </a:t>
            </a:r>
            <a:r>
              <a:rPr lang="en-US" sz="4400" kern="0" dirty="0">
                <a:ea typeface="MS Gothic" panose="020B0609070205080204" pitchFamily="49" charset="-128"/>
                <a:cs typeface="Times New Roman" panose="02020603050405020304" pitchFamily="18" charset="0"/>
              </a:rPr>
              <a:t>Student records containing attendance, GPA, study hours, and failed subjects can be standardized and grouped using K-Means without supplying Risk Status. Researchers then inspect cluster profiles and a silhouette score to determine whether meaningful structures are present. Cluster numbers have no inherent real-world meaning and must be interpreted from the observed characteristics.</a:t>
            </a:r>
          </a:p>
        </p:txBody>
      </p:sp>
    </p:spTree>
    <p:extLst>
      <p:ext uri="{BB962C8B-B14F-4D97-AF65-F5344CB8AC3E}">
        <p14:creationId xmlns:p14="http://schemas.microsoft.com/office/powerpoint/2010/main" val="2543228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6433C-1C00-1C65-B6ED-9B3010F0CEB0}"/>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9C5B529B-83AD-D52E-9BF3-7D8AF8C1B29E}"/>
              </a:ext>
            </a:extLst>
          </p:cNvPr>
          <p:cNvSpPr txBox="1"/>
          <p:nvPr/>
        </p:nvSpPr>
        <p:spPr>
          <a:xfrm>
            <a:off x="152400" y="114300"/>
            <a:ext cx="12926022" cy="1038746"/>
          </a:xfrm>
          <a:prstGeom prst="rect">
            <a:avLst/>
          </a:prstGeom>
        </p:spPr>
        <p:txBody>
          <a:bodyPr wrap="square" lIns="0" tIns="0" rIns="0" bIns="0" rtlCol="0" anchor="t">
            <a:spAutoFit/>
          </a:bodyPr>
          <a:lstStyle/>
          <a:p>
            <a:pPr marL="0" lvl="0" indent="0">
              <a:lnSpc>
                <a:spcPts val="8400"/>
              </a:lnSpc>
              <a:spcBef>
                <a:spcPct val="0"/>
              </a:spcBef>
            </a:pPr>
            <a:r>
              <a:rPr lang="en-US" sz="6000" dirty="0">
                <a:solidFill>
                  <a:srgbClr val="22588D"/>
                </a:solidFill>
                <a:latin typeface="Museo Moderno Bold"/>
                <a:ea typeface="Museo Moderno Bold"/>
                <a:cs typeface="Museo Moderno Bold"/>
                <a:sym typeface="Museo Moderno Bold"/>
              </a:rPr>
              <a:t>2. Unsupervised Learning</a:t>
            </a:r>
          </a:p>
        </p:txBody>
      </p:sp>
      <p:sp>
        <p:nvSpPr>
          <p:cNvPr id="17" name="TextBox 16">
            <a:extLst>
              <a:ext uri="{FF2B5EF4-FFF2-40B4-BE49-F238E27FC236}">
                <a16:creationId xmlns:a16="http://schemas.microsoft.com/office/drawing/2014/main" id="{82FBFD74-1426-5C34-AFF6-278C12397F0D}"/>
              </a:ext>
            </a:extLst>
          </p:cNvPr>
          <p:cNvSpPr txBox="1"/>
          <p:nvPr/>
        </p:nvSpPr>
        <p:spPr>
          <a:xfrm>
            <a:off x="125506" y="1122118"/>
            <a:ext cx="17489710" cy="1938992"/>
          </a:xfrm>
          <a:prstGeom prst="rect">
            <a:avLst/>
          </a:prstGeom>
          <a:noFill/>
        </p:spPr>
        <p:txBody>
          <a:bodyPr wrap="square">
            <a:spAutoFit/>
          </a:bodyPr>
          <a:lstStyle/>
          <a:p>
            <a:r>
              <a:rPr lang="en-US" sz="4000" dirty="0"/>
              <a:t>Unsupervised learning works with data that does not contain a predefined target label. The objective is often to discover hidden groups, structures, or relationships. Common examples include clustering and dimensionality reduction.</a:t>
            </a:r>
          </a:p>
        </p:txBody>
      </p:sp>
      <p:sp>
        <p:nvSpPr>
          <p:cNvPr id="6" name="TextBox 5">
            <a:extLst>
              <a:ext uri="{FF2B5EF4-FFF2-40B4-BE49-F238E27FC236}">
                <a16:creationId xmlns:a16="http://schemas.microsoft.com/office/drawing/2014/main" id="{B03AD3E4-CAD0-0809-09CD-D3D96AE581E2}"/>
              </a:ext>
            </a:extLst>
          </p:cNvPr>
          <p:cNvSpPr txBox="1"/>
          <p:nvPr/>
        </p:nvSpPr>
        <p:spPr>
          <a:xfrm>
            <a:off x="152400" y="9278472"/>
            <a:ext cx="17678400" cy="954107"/>
          </a:xfrm>
          <a:prstGeom prst="rect">
            <a:avLst/>
          </a:prstGeom>
          <a:noFill/>
        </p:spPr>
        <p:txBody>
          <a:bodyPr wrap="square">
            <a:spAutoFit/>
          </a:bodyPr>
          <a:lstStyle/>
          <a:p>
            <a:pPr marL="0" marR="0">
              <a:lnSpc>
                <a:spcPct val="100000"/>
              </a:lnSpc>
              <a:spcAft>
                <a:spcPts val="1000"/>
              </a:spcAft>
              <a:buNone/>
            </a:pPr>
            <a:r>
              <a:rPr lang="en-US" sz="2800" dirty="0">
                <a:effectLst/>
                <a:latin typeface="+mn-lt"/>
                <a:ea typeface="MS Mincho" panose="02020609040205080304" pitchFamily="49" charset="-128"/>
                <a:cs typeface="Times New Roman" panose="02020603050405020304" pitchFamily="18" charset="0"/>
              </a:rPr>
              <a:t>Unlike supervised learning, the student dataset does not contain labels such as At Risk or Not at Risk. An algorithm such as K-Means examines the features and discovers groups based on similarities in the data.</a:t>
            </a:r>
            <a:endParaRPr lang="en-US" sz="1400" dirty="0">
              <a:effectLst/>
              <a:latin typeface="Arial" panose="020B0604020202020204" pitchFamily="34" charset="0"/>
              <a:ea typeface="MS Mincho" panose="02020609040205080304" pitchFamily="49" charset="-128"/>
              <a:cs typeface="Times New Roman" panose="02020603050405020304" pitchFamily="18" charset="0"/>
            </a:endParaRPr>
          </a:p>
        </p:txBody>
      </p:sp>
      <p:graphicFrame>
        <p:nvGraphicFramePr>
          <p:cNvPr id="2" name="Table 1">
            <a:extLst>
              <a:ext uri="{FF2B5EF4-FFF2-40B4-BE49-F238E27FC236}">
                <a16:creationId xmlns:a16="http://schemas.microsoft.com/office/drawing/2014/main" id="{04EBCB34-2AC4-3002-E7FB-FD99528E7B2E}"/>
              </a:ext>
            </a:extLst>
          </p:cNvPr>
          <p:cNvGraphicFramePr>
            <a:graphicFrameLocks noGrp="1"/>
          </p:cNvGraphicFramePr>
          <p:nvPr>
            <p:extLst>
              <p:ext uri="{D42A27DB-BD31-4B8C-83A1-F6EECF244321}">
                <p14:modId xmlns:p14="http://schemas.microsoft.com/office/powerpoint/2010/main" val="4209763473"/>
              </p:ext>
            </p:extLst>
          </p:nvPr>
        </p:nvGraphicFramePr>
        <p:xfrm>
          <a:off x="533400" y="3041836"/>
          <a:ext cx="17081816" cy="6216465"/>
        </p:xfrm>
        <a:graphic>
          <a:graphicData uri="http://schemas.openxmlformats.org/drawingml/2006/table">
            <a:tbl>
              <a:tblPr>
                <a:tableStyleId>{5C22544A-7EE6-4342-B048-85BDC9FD1C3A}</a:tableStyleId>
              </a:tblPr>
              <a:tblGrid>
                <a:gridCol w="8540908">
                  <a:extLst>
                    <a:ext uri="{9D8B030D-6E8A-4147-A177-3AD203B41FA5}">
                      <a16:colId xmlns:a16="http://schemas.microsoft.com/office/drawing/2014/main" val="1330249566"/>
                    </a:ext>
                  </a:extLst>
                </a:gridCol>
                <a:gridCol w="8540908">
                  <a:extLst>
                    <a:ext uri="{9D8B030D-6E8A-4147-A177-3AD203B41FA5}">
                      <a16:colId xmlns:a16="http://schemas.microsoft.com/office/drawing/2014/main" val="237194175"/>
                    </a:ext>
                  </a:extLst>
                </a:gridCol>
              </a:tblGrid>
              <a:tr h="487565">
                <a:tc>
                  <a:txBody>
                    <a:bodyPr/>
                    <a:lstStyle/>
                    <a:p>
                      <a:pPr>
                        <a:buNone/>
                      </a:pPr>
                      <a:r>
                        <a:rPr lang="en-US" sz="2400" b="1">
                          <a:solidFill>
                            <a:schemeClr val="bg1"/>
                          </a:solidFill>
                        </a:rPr>
                        <a:t>Input</a:t>
                      </a:r>
                    </a:p>
                  </a:txBody>
                  <a:tcPr marL="88744" marR="88744" marT="44372" marB="44372" anchor="ctr">
                    <a:solidFill>
                      <a:schemeClr val="accent1"/>
                    </a:solidFill>
                  </a:tcPr>
                </a:tc>
                <a:tc>
                  <a:txBody>
                    <a:bodyPr/>
                    <a:lstStyle/>
                    <a:p>
                      <a:pPr>
                        <a:buNone/>
                      </a:pPr>
                      <a:r>
                        <a:rPr lang="en-US" sz="2400" b="1" dirty="0">
                          <a:solidFill>
                            <a:schemeClr val="bg1"/>
                          </a:solidFill>
                        </a:rPr>
                        <a:t>Discovered Output / Pattern</a:t>
                      </a:r>
                    </a:p>
                  </a:txBody>
                  <a:tcPr marL="88744" marR="88744" marT="44372" marB="44372" anchor="ctr">
                    <a:solidFill>
                      <a:schemeClr val="accent1"/>
                    </a:solidFill>
                  </a:tcPr>
                </a:tc>
                <a:extLst>
                  <a:ext uri="{0D108BD9-81ED-4DB2-BD59-A6C34878D82A}">
                    <a16:rowId xmlns:a16="http://schemas.microsoft.com/office/drawing/2014/main" val="3940816014"/>
                  </a:ext>
                </a:extLst>
              </a:tr>
              <a:tr h="853241">
                <a:tc>
                  <a:txBody>
                    <a:bodyPr/>
                    <a:lstStyle/>
                    <a:p>
                      <a:pPr>
                        <a:buNone/>
                      </a:pPr>
                      <a:r>
                        <a:rPr lang="en-US" sz="2400" b="1" dirty="0">
                          <a:solidFill>
                            <a:schemeClr val="bg1"/>
                          </a:solidFill>
                        </a:rPr>
                        <a:t>Student attendance, GPA, study hours, failed subjects</a:t>
                      </a:r>
                    </a:p>
                  </a:txBody>
                  <a:tcPr marL="88744" marR="88744" marT="44372" marB="44372" anchor="ctr">
                    <a:solidFill>
                      <a:schemeClr val="accent1"/>
                    </a:solidFill>
                  </a:tcPr>
                </a:tc>
                <a:tc>
                  <a:txBody>
                    <a:bodyPr/>
                    <a:lstStyle/>
                    <a:p>
                      <a:pPr>
                        <a:buNone/>
                      </a:pPr>
                      <a:r>
                        <a:rPr lang="en-US" sz="2400" dirty="0"/>
                        <a:t>Student groups or clusters with similar academic profiles</a:t>
                      </a:r>
                    </a:p>
                  </a:txBody>
                  <a:tcPr marL="88744" marR="88744" marT="44372" marB="44372" anchor="ctr"/>
                </a:tc>
                <a:extLst>
                  <a:ext uri="{0D108BD9-81ED-4DB2-BD59-A6C34878D82A}">
                    <a16:rowId xmlns:a16="http://schemas.microsoft.com/office/drawing/2014/main" val="3468204361"/>
                  </a:ext>
                </a:extLst>
              </a:tr>
              <a:tr h="853241">
                <a:tc>
                  <a:txBody>
                    <a:bodyPr/>
                    <a:lstStyle/>
                    <a:p>
                      <a:pPr>
                        <a:buNone/>
                      </a:pPr>
                      <a:r>
                        <a:rPr lang="en-US" sz="2400" b="1" dirty="0">
                          <a:solidFill>
                            <a:schemeClr val="bg1"/>
                          </a:solidFill>
                        </a:rPr>
                        <a:t>Customer purchase frequency, spending, and transaction history</a:t>
                      </a:r>
                    </a:p>
                  </a:txBody>
                  <a:tcPr marL="88744" marR="88744" marT="44372" marB="44372" anchor="ctr">
                    <a:solidFill>
                      <a:schemeClr val="accent1"/>
                    </a:solidFill>
                  </a:tcPr>
                </a:tc>
                <a:tc>
                  <a:txBody>
                    <a:bodyPr/>
                    <a:lstStyle/>
                    <a:p>
                      <a:pPr>
                        <a:buNone/>
                      </a:pPr>
                      <a:r>
                        <a:rPr lang="en-US" sz="2400"/>
                        <a:t>Customer segments with similar purchasing behavior</a:t>
                      </a:r>
                    </a:p>
                  </a:txBody>
                  <a:tcPr marL="88744" marR="88744" marT="44372" marB="44372" anchor="ctr"/>
                </a:tc>
                <a:extLst>
                  <a:ext uri="{0D108BD9-81ED-4DB2-BD59-A6C34878D82A}">
                    <a16:rowId xmlns:a16="http://schemas.microsoft.com/office/drawing/2014/main" val="70773280"/>
                  </a:ext>
                </a:extLst>
              </a:tr>
              <a:tr h="487565">
                <a:tc>
                  <a:txBody>
                    <a:bodyPr/>
                    <a:lstStyle/>
                    <a:p>
                      <a:pPr>
                        <a:buNone/>
                      </a:pPr>
                      <a:r>
                        <a:rPr lang="en-US" sz="2400" b="1" dirty="0">
                          <a:solidFill>
                            <a:schemeClr val="bg1"/>
                          </a:solidFill>
                        </a:rPr>
                        <a:t>News articles or documents</a:t>
                      </a:r>
                    </a:p>
                  </a:txBody>
                  <a:tcPr marL="88744" marR="88744" marT="44372" marB="44372" anchor="ctr">
                    <a:solidFill>
                      <a:schemeClr val="accent1"/>
                    </a:solidFill>
                  </a:tcPr>
                </a:tc>
                <a:tc>
                  <a:txBody>
                    <a:bodyPr/>
                    <a:lstStyle/>
                    <a:p>
                      <a:pPr>
                        <a:buNone/>
                      </a:pPr>
                      <a:r>
                        <a:rPr lang="en-US" sz="2400" dirty="0"/>
                        <a:t>Groups of documents with similar topics</a:t>
                      </a:r>
                    </a:p>
                  </a:txBody>
                  <a:tcPr marL="88744" marR="88744" marT="44372" marB="44372" anchor="ctr"/>
                </a:tc>
                <a:extLst>
                  <a:ext uri="{0D108BD9-81ED-4DB2-BD59-A6C34878D82A}">
                    <a16:rowId xmlns:a16="http://schemas.microsoft.com/office/drawing/2014/main" val="3723129438"/>
                  </a:ext>
                </a:extLst>
              </a:tr>
              <a:tr h="487565">
                <a:tc>
                  <a:txBody>
                    <a:bodyPr/>
                    <a:lstStyle/>
                    <a:p>
                      <a:pPr>
                        <a:buNone/>
                      </a:pPr>
                      <a:r>
                        <a:rPr lang="en-US" sz="2400" b="1" dirty="0">
                          <a:solidFill>
                            <a:schemeClr val="bg1"/>
                          </a:solidFill>
                        </a:rPr>
                        <a:t>Social media posts</a:t>
                      </a:r>
                    </a:p>
                  </a:txBody>
                  <a:tcPr marL="88744" marR="88744" marT="44372" marB="44372" anchor="ctr">
                    <a:solidFill>
                      <a:schemeClr val="accent1"/>
                    </a:solidFill>
                  </a:tcPr>
                </a:tc>
                <a:tc>
                  <a:txBody>
                    <a:bodyPr/>
                    <a:lstStyle/>
                    <a:p>
                      <a:pPr>
                        <a:buNone/>
                      </a:pPr>
                      <a:r>
                        <a:rPr lang="en-US" sz="2400"/>
                        <a:t>Topics, themes, or clusters of similar posts</a:t>
                      </a:r>
                    </a:p>
                  </a:txBody>
                  <a:tcPr marL="88744" marR="88744" marT="44372" marB="44372" anchor="ctr"/>
                </a:tc>
                <a:extLst>
                  <a:ext uri="{0D108BD9-81ED-4DB2-BD59-A6C34878D82A}">
                    <a16:rowId xmlns:a16="http://schemas.microsoft.com/office/drawing/2014/main" val="841358815"/>
                  </a:ext>
                </a:extLst>
              </a:tr>
              <a:tr h="853241">
                <a:tc>
                  <a:txBody>
                    <a:bodyPr/>
                    <a:lstStyle/>
                    <a:p>
                      <a:pPr>
                        <a:buNone/>
                      </a:pPr>
                      <a:r>
                        <a:rPr lang="en-US" sz="2400" b="1" dirty="0">
                          <a:solidFill>
                            <a:schemeClr val="bg1"/>
                          </a:solidFill>
                        </a:rPr>
                        <a:t>Patient measurements and health indicators</a:t>
                      </a:r>
                    </a:p>
                  </a:txBody>
                  <a:tcPr marL="88744" marR="88744" marT="44372" marB="44372" anchor="ctr">
                    <a:solidFill>
                      <a:schemeClr val="accent1"/>
                    </a:solidFill>
                  </a:tcPr>
                </a:tc>
                <a:tc>
                  <a:txBody>
                    <a:bodyPr/>
                    <a:lstStyle/>
                    <a:p>
                      <a:pPr>
                        <a:buNone/>
                      </a:pPr>
                      <a:r>
                        <a:rPr lang="en-US" sz="2400" dirty="0"/>
                        <a:t>Groups of patients with similar characteristics</a:t>
                      </a:r>
                    </a:p>
                  </a:txBody>
                  <a:tcPr marL="88744" marR="88744" marT="44372" marB="44372" anchor="ctr"/>
                </a:tc>
                <a:extLst>
                  <a:ext uri="{0D108BD9-81ED-4DB2-BD59-A6C34878D82A}">
                    <a16:rowId xmlns:a16="http://schemas.microsoft.com/office/drawing/2014/main" val="566675819"/>
                  </a:ext>
                </a:extLst>
              </a:tr>
              <a:tr h="853241">
                <a:tc>
                  <a:txBody>
                    <a:bodyPr/>
                    <a:lstStyle/>
                    <a:p>
                      <a:pPr>
                        <a:buNone/>
                      </a:pPr>
                      <a:r>
                        <a:rPr lang="en-US" sz="2400" b="1" dirty="0">
                          <a:solidFill>
                            <a:schemeClr val="bg1"/>
                          </a:solidFill>
                        </a:rPr>
                        <a:t>Network traffic characteristics</a:t>
                      </a:r>
                    </a:p>
                  </a:txBody>
                  <a:tcPr marL="88744" marR="88744" marT="44372" marB="44372" anchor="ctr">
                    <a:solidFill>
                      <a:schemeClr val="accent1"/>
                    </a:solidFill>
                  </a:tcPr>
                </a:tc>
                <a:tc>
                  <a:txBody>
                    <a:bodyPr/>
                    <a:lstStyle/>
                    <a:p>
                      <a:pPr>
                        <a:buNone/>
                      </a:pPr>
                      <a:r>
                        <a:rPr lang="en-US" sz="2400" dirty="0"/>
                        <a:t>Normal traffic clusters and potentially unusual patterns</a:t>
                      </a:r>
                    </a:p>
                  </a:txBody>
                  <a:tcPr marL="88744" marR="88744" marT="44372" marB="44372" anchor="ctr"/>
                </a:tc>
                <a:extLst>
                  <a:ext uri="{0D108BD9-81ED-4DB2-BD59-A6C34878D82A}">
                    <a16:rowId xmlns:a16="http://schemas.microsoft.com/office/drawing/2014/main" val="2611500868"/>
                  </a:ext>
                </a:extLst>
              </a:tr>
              <a:tr h="853241">
                <a:tc>
                  <a:txBody>
                    <a:bodyPr/>
                    <a:lstStyle/>
                    <a:p>
                      <a:pPr>
                        <a:buNone/>
                      </a:pPr>
                      <a:r>
                        <a:rPr lang="en-US" sz="2400" b="1" dirty="0">
                          <a:solidFill>
                            <a:schemeClr val="bg1"/>
                          </a:solidFill>
                        </a:rPr>
                        <a:t>Product purchase records</a:t>
                      </a:r>
                    </a:p>
                  </a:txBody>
                  <a:tcPr marL="88744" marR="88744" marT="44372" marB="44372" anchor="ctr">
                    <a:solidFill>
                      <a:schemeClr val="accent1"/>
                    </a:solidFill>
                  </a:tcPr>
                </a:tc>
                <a:tc>
                  <a:txBody>
                    <a:bodyPr/>
                    <a:lstStyle/>
                    <a:p>
                      <a:pPr>
                        <a:buNone/>
                      </a:pPr>
                      <a:r>
                        <a:rPr lang="en-US" sz="2400"/>
                        <a:t>Groups of products or customers with similar purchasing patterns</a:t>
                      </a:r>
                    </a:p>
                  </a:txBody>
                  <a:tcPr marL="88744" marR="88744" marT="44372" marB="44372" anchor="ctr"/>
                </a:tc>
                <a:extLst>
                  <a:ext uri="{0D108BD9-81ED-4DB2-BD59-A6C34878D82A}">
                    <a16:rowId xmlns:a16="http://schemas.microsoft.com/office/drawing/2014/main" val="2580556657"/>
                  </a:ext>
                </a:extLst>
              </a:tr>
              <a:tr h="487565">
                <a:tc>
                  <a:txBody>
                    <a:bodyPr/>
                    <a:lstStyle/>
                    <a:p>
                      <a:pPr>
                        <a:buNone/>
                      </a:pPr>
                      <a:r>
                        <a:rPr lang="en-US" sz="2400" b="1" dirty="0">
                          <a:solidFill>
                            <a:schemeClr val="bg1"/>
                          </a:solidFill>
                        </a:rPr>
                        <a:t>Images represented by extracted features</a:t>
                      </a:r>
                    </a:p>
                  </a:txBody>
                  <a:tcPr marL="88744" marR="88744" marT="44372" marB="44372" anchor="ctr">
                    <a:solidFill>
                      <a:schemeClr val="accent1"/>
                    </a:solidFill>
                  </a:tcPr>
                </a:tc>
                <a:tc>
                  <a:txBody>
                    <a:bodyPr/>
                    <a:lstStyle/>
                    <a:p>
                      <a:pPr>
                        <a:buNone/>
                      </a:pPr>
                      <a:r>
                        <a:rPr lang="en-US" sz="2400" dirty="0"/>
                        <a:t>Groups of visually similar images</a:t>
                      </a:r>
                    </a:p>
                  </a:txBody>
                  <a:tcPr marL="88744" marR="88744" marT="44372" marB="44372" anchor="ctr"/>
                </a:tc>
                <a:extLst>
                  <a:ext uri="{0D108BD9-81ED-4DB2-BD59-A6C34878D82A}">
                    <a16:rowId xmlns:a16="http://schemas.microsoft.com/office/drawing/2014/main" val="2715491510"/>
                  </a:ext>
                </a:extLst>
              </a:tr>
            </a:tbl>
          </a:graphicData>
        </a:graphic>
      </p:graphicFrame>
    </p:spTree>
    <p:extLst>
      <p:ext uri="{BB962C8B-B14F-4D97-AF65-F5344CB8AC3E}">
        <p14:creationId xmlns:p14="http://schemas.microsoft.com/office/powerpoint/2010/main" val="846905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6C057-4441-F4B9-16D1-2D7FA5D9E385}"/>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EEC79FFF-3CA0-843E-7675-C3222AE02CA9}"/>
              </a:ext>
            </a:extLst>
          </p:cNvPr>
          <p:cNvSpPr txBox="1"/>
          <p:nvPr/>
        </p:nvSpPr>
        <p:spPr>
          <a:xfrm>
            <a:off x="637578" y="58747"/>
            <a:ext cx="12621222"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Major Types of Machine Learning</a:t>
            </a:r>
            <a:endParaRPr lang="en-US" sz="6000" b="1" u="none" strike="noStrike" dirty="0">
              <a:solidFill>
                <a:srgbClr val="22588D"/>
              </a:solidFill>
              <a:latin typeface="Museo Moderno Bold"/>
              <a:ea typeface="Museo Moderno Bold"/>
              <a:cs typeface="Museo Moderno Bold"/>
              <a:sym typeface="Museo Moderno Bold"/>
            </a:endParaRPr>
          </a:p>
        </p:txBody>
      </p:sp>
      <p:sp>
        <p:nvSpPr>
          <p:cNvPr id="17" name="TextBox 16">
            <a:extLst>
              <a:ext uri="{FF2B5EF4-FFF2-40B4-BE49-F238E27FC236}">
                <a16:creationId xmlns:a16="http://schemas.microsoft.com/office/drawing/2014/main" id="{566EDB8A-5A56-5745-BF8E-2D92EF41F8BA}"/>
              </a:ext>
            </a:extLst>
          </p:cNvPr>
          <p:cNvSpPr txBox="1"/>
          <p:nvPr/>
        </p:nvSpPr>
        <p:spPr>
          <a:xfrm>
            <a:off x="341090" y="1485900"/>
            <a:ext cx="17489710" cy="6494085"/>
          </a:xfrm>
          <a:prstGeom prst="rect">
            <a:avLst/>
          </a:prstGeom>
          <a:noFill/>
        </p:spPr>
        <p:txBody>
          <a:bodyPr wrap="square">
            <a:spAutoFit/>
          </a:bodyPr>
          <a:lstStyle/>
          <a:p>
            <a:pPr marR="0">
              <a:lnSpc>
                <a:spcPct val="100000"/>
              </a:lnSpc>
              <a:spcBef>
                <a:spcPts val="2400"/>
              </a:spcBef>
            </a:pPr>
            <a:r>
              <a:rPr lang="en-US" sz="4400" b="1" kern="0" dirty="0">
                <a:solidFill>
                  <a:schemeClr val="tx1"/>
                </a:solidFill>
                <a:effectLst/>
                <a:latin typeface="+mn-lt"/>
                <a:ea typeface="MS Gothic" panose="020B0609070205080204" pitchFamily="49" charset="-128"/>
                <a:cs typeface="Times New Roman" panose="02020603050405020304" pitchFamily="18" charset="0"/>
              </a:rPr>
              <a:t>3. Reinforcement learning </a:t>
            </a:r>
            <a:r>
              <a:rPr lang="en-US" sz="4400" kern="0" dirty="0">
                <a:solidFill>
                  <a:schemeClr val="tx1"/>
                </a:solidFill>
                <a:effectLst/>
                <a:latin typeface="+mn-lt"/>
                <a:ea typeface="MS Gothic" panose="020B0609070205080204" pitchFamily="49" charset="-128"/>
                <a:cs typeface="Times New Roman" panose="02020603050405020304" pitchFamily="18" charset="0"/>
              </a:rPr>
              <a:t>is appropriate for sequential decision-making in which an agent learns through interaction, such as grid-world navigation, adaptive traffic control, game playing, and simulated resource allocation.</a:t>
            </a:r>
          </a:p>
          <a:p>
            <a:pPr lvl="2">
              <a:spcBef>
                <a:spcPts val="2400"/>
              </a:spcBef>
            </a:pPr>
            <a:r>
              <a:rPr lang="en-US" sz="4400" b="1" kern="0" dirty="0">
                <a:ea typeface="MS Gothic" panose="020B0609070205080204" pitchFamily="49" charset="-128"/>
                <a:cs typeface="Times New Roman" panose="02020603050405020304" pitchFamily="18" charset="0"/>
              </a:rPr>
              <a:t>Example: </a:t>
            </a:r>
            <a:r>
              <a:rPr lang="en-US" sz="4400" kern="0" dirty="0">
                <a:ea typeface="MS Gothic" panose="020B0609070205080204" pitchFamily="49" charset="-128"/>
                <a:cs typeface="Times New Roman" panose="02020603050405020304" pitchFamily="18" charset="0"/>
              </a:rPr>
              <a:t>In a small grid world, a virtual robot observes its current position, chooses Up/Down/Left/Right, and receives a positive reward for reaching a goal and a small penalty for unnecessary moves. Q-learning can be used to learn a policy. For this lesson, reinforcement learning serves as an introductory demonstration unless a thesis specifically requires sequential decision-making.</a:t>
            </a:r>
            <a:endParaRPr lang="en-US" sz="4400" kern="0" dirty="0">
              <a:solidFill>
                <a:schemeClr val="tx1"/>
              </a:solidFill>
              <a:effectLst/>
              <a:latin typeface="+mn-lt"/>
              <a:ea typeface="MS Gothic" panose="020B0609070205080204" pitchFamily="49" charset="-128"/>
              <a:cs typeface="Times New Roman" panose="02020603050405020304" pitchFamily="18" charset="0"/>
            </a:endParaRPr>
          </a:p>
        </p:txBody>
      </p:sp>
    </p:spTree>
    <p:extLst>
      <p:ext uri="{BB962C8B-B14F-4D97-AF65-F5344CB8AC3E}">
        <p14:creationId xmlns:p14="http://schemas.microsoft.com/office/powerpoint/2010/main" val="3309840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69C33-F6AA-1B61-75C4-3BC951190D29}"/>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26E6B56F-3503-1E60-FA8A-254FAB587F6C}"/>
              </a:ext>
            </a:extLst>
          </p:cNvPr>
          <p:cNvSpPr txBox="1"/>
          <p:nvPr/>
        </p:nvSpPr>
        <p:spPr>
          <a:xfrm>
            <a:off x="152400" y="114300"/>
            <a:ext cx="12926022" cy="1038746"/>
          </a:xfrm>
          <a:prstGeom prst="rect">
            <a:avLst/>
          </a:prstGeom>
        </p:spPr>
        <p:txBody>
          <a:bodyPr wrap="square" lIns="0" tIns="0" rIns="0" bIns="0" rtlCol="0" anchor="t">
            <a:spAutoFit/>
          </a:bodyPr>
          <a:lstStyle/>
          <a:p>
            <a:pPr marL="0" lvl="0" indent="0">
              <a:lnSpc>
                <a:spcPts val="8400"/>
              </a:lnSpc>
              <a:spcBef>
                <a:spcPct val="0"/>
              </a:spcBef>
            </a:pPr>
            <a:r>
              <a:rPr lang="en-US" sz="6000" dirty="0">
                <a:solidFill>
                  <a:srgbClr val="22588D"/>
                </a:solidFill>
                <a:latin typeface="Museo Moderno Bold"/>
                <a:ea typeface="Museo Moderno Bold"/>
                <a:cs typeface="Museo Moderno Bold"/>
                <a:sym typeface="Museo Moderno Bold"/>
              </a:rPr>
              <a:t>3. Reinforcement Learning</a:t>
            </a:r>
          </a:p>
        </p:txBody>
      </p:sp>
      <p:sp>
        <p:nvSpPr>
          <p:cNvPr id="17" name="TextBox 16">
            <a:extLst>
              <a:ext uri="{FF2B5EF4-FFF2-40B4-BE49-F238E27FC236}">
                <a16:creationId xmlns:a16="http://schemas.microsoft.com/office/drawing/2014/main" id="{B633927B-D8CE-46BD-74C8-BB1AC00AE2F3}"/>
              </a:ext>
            </a:extLst>
          </p:cNvPr>
          <p:cNvSpPr txBox="1"/>
          <p:nvPr/>
        </p:nvSpPr>
        <p:spPr>
          <a:xfrm>
            <a:off x="125506" y="1122118"/>
            <a:ext cx="17489710" cy="1323439"/>
          </a:xfrm>
          <a:prstGeom prst="rect">
            <a:avLst/>
          </a:prstGeom>
          <a:noFill/>
        </p:spPr>
        <p:txBody>
          <a:bodyPr wrap="square">
            <a:spAutoFit/>
          </a:bodyPr>
          <a:lstStyle/>
          <a:p>
            <a:r>
              <a:rPr lang="en-US" sz="4000" dirty="0"/>
              <a:t>Reinforcement learning involves an agent learning through interaction with an environment using rewards or penalties. </a:t>
            </a:r>
          </a:p>
        </p:txBody>
      </p:sp>
      <p:sp>
        <p:nvSpPr>
          <p:cNvPr id="6" name="TextBox 5">
            <a:extLst>
              <a:ext uri="{FF2B5EF4-FFF2-40B4-BE49-F238E27FC236}">
                <a16:creationId xmlns:a16="http://schemas.microsoft.com/office/drawing/2014/main" id="{51EEE0FA-FE55-E524-BCDE-C1F780B702E3}"/>
              </a:ext>
            </a:extLst>
          </p:cNvPr>
          <p:cNvSpPr txBox="1"/>
          <p:nvPr/>
        </p:nvSpPr>
        <p:spPr>
          <a:xfrm>
            <a:off x="174171" y="9126782"/>
            <a:ext cx="17678400" cy="954107"/>
          </a:xfrm>
          <a:prstGeom prst="rect">
            <a:avLst/>
          </a:prstGeom>
          <a:noFill/>
        </p:spPr>
        <p:txBody>
          <a:bodyPr wrap="square">
            <a:spAutoFit/>
          </a:bodyPr>
          <a:lstStyle/>
          <a:p>
            <a:pPr marL="0" marR="0">
              <a:lnSpc>
                <a:spcPct val="100000"/>
              </a:lnSpc>
              <a:spcAft>
                <a:spcPts val="1000"/>
              </a:spcAft>
              <a:buNone/>
            </a:pPr>
            <a:r>
              <a:rPr lang="en-US" sz="2800" dirty="0">
                <a:effectLst/>
                <a:latin typeface="+mn-lt"/>
                <a:ea typeface="MS Mincho" panose="02020609040205080304" pitchFamily="49" charset="-128"/>
                <a:cs typeface="Times New Roman" panose="02020603050405020304" pitchFamily="18" charset="0"/>
              </a:rPr>
              <a:t>Example: In the Grid-World activity, the agent starts at a particular location. It does not receive a known correct output such as At Risk. Instead, it tries actions and receives rewards or penalties.</a:t>
            </a:r>
            <a:endParaRPr lang="en-US" sz="1400" dirty="0">
              <a:effectLst/>
              <a:latin typeface="Arial" panose="020B0604020202020204" pitchFamily="34" charset="0"/>
              <a:ea typeface="MS Mincho" panose="02020609040205080304" pitchFamily="49" charset="-128"/>
              <a:cs typeface="Times New Roman" panose="02020603050405020304" pitchFamily="18" charset="0"/>
            </a:endParaRPr>
          </a:p>
        </p:txBody>
      </p:sp>
      <p:graphicFrame>
        <p:nvGraphicFramePr>
          <p:cNvPr id="4" name="Table 3">
            <a:extLst>
              <a:ext uri="{FF2B5EF4-FFF2-40B4-BE49-F238E27FC236}">
                <a16:creationId xmlns:a16="http://schemas.microsoft.com/office/drawing/2014/main" id="{880F171D-D189-1503-7D99-764EC1CB3C1F}"/>
              </a:ext>
            </a:extLst>
          </p:cNvPr>
          <p:cNvGraphicFramePr>
            <a:graphicFrameLocks noGrp="1"/>
          </p:cNvGraphicFramePr>
          <p:nvPr>
            <p:extLst>
              <p:ext uri="{D42A27DB-BD31-4B8C-83A1-F6EECF244321}">
                <p14:modId xmlns:p14="http://schemas.microsoft.com/office/powerpoint/2010/main" val="3241408448"/>
              </p:ext>
            </p:extLst>
          </p:nvPr>
        </p:nvGraphicFramePr>
        <p:xfrm>
          <a:off x="228599" y="2823799"/>
          <a:ext cx="17386617" cy="6076431"/>
        </p:xfrm>
        <a:graphic>
          <a:graphicData uri="http://schemas.openxmlformats.org/drawingml/2006/table">
            <a:tbl>
              <a:tblPr firstRow="1" firstCol="1" bandRow="1">
                <a:tableStyleId>{5C22544A-7EE6-4342-B048-85BDC9FD1C3A}</a:tableStyleId>
              </a:tblPr>
              <a:tblGrid>
                <a:gridCol w="5795539">
                  <a:extLst>
                    <a:ext uri="{9D8B030D-6E8A-4147-A177-3AD203B41FA5}">
                      <a16:colId xmlns:a16="http://schemas.microsoft.com/office/drawing/2014/main" val="3610820739"/>
                    </a:ext>
                  </a:extLst>
                </a:gridCol>
                <a:gridCol w="5795539">
                  <a:extLst>
                    <a:ext uri="{9D8B030D-6E8A-4147-A177-3AD203B41FA5}">
                      <a16:colId xmlns:a16="http://schemas.microsoft.com/office/drawing/2014/main" val="2330100782"/>
                    </a:ext>
                  </a:extLst>
                </a:gridCol>
                <a:gridCol w="5795539">
                  <a:extLst>
                    <a:ext uri="{9D8B030D-6E8A-4147-A177-3AD203B41FA5}">
                      <a16:colId xmlns:a16="http://schemas.microsoft.com/office/drawing/2014/main" val="3660705586"/>
                    </a:ext>
                  </a:extLst>
                </a:gridCol>
              </a:tblGrid>
              <a:tr h="603504">
                <a:tc>
                  <a:txBody>
                    <a:bodyPr/>
                    <a:lstStyle/>
                    <a:p>
                      <a:pPr marL="0" marR="0">
                        <a:lnSpc>
                          <a:spcPct val="115000"/>
                        </a:lnSpc>
                        <a:spcAft>
                          <a:spcPts val="1000"/>
                        </a:spcAft>
                        <a:buNone/>
                      </a:pPr>
                      <a:r>
                        <a:rPr lang="en-US" sz="2000" dirty="0">
                          <a:effectLst/>
                        </a:rPr>
                        <a:t>State / Input</a:t>
                      </a:r>
                      <a:endParaRPr lang="en-US" sz="20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2000">
                          <a:effectLst/>
                        </a:rPr>
                        <a:t>Possible Actions</a:t>
                      </a:r>
                      <a:endParaRPr lang="en-US" sz="20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2000">
                          <a:effectLst/>
                        </a:rPr>
                        <a:t>Reward / Goal</a:t>
                      </a:r>
                      <a:endParaRPr lang="en-US" sz="20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69896393"/>
                  </a:ext>
                </a:extLst>
              </a:tr>
              <a:tr h="603504">
                <a:tc>
                  <a:txBody>
                    <a:bodyPr/>
                    <a:lstStyle/>
                    <a:p>
                      <a:pPr marL="0" marR="0">
                        <a:lnSpc>
                          <a:spcPct val="115000"/>
                        </a:lnSpc>
                        <a:spcAft>
                          <a:spcPts val="1000"/>
                        </a:spcAft>
                        <a:buNone/>
                      </a:pPr>
                      <a:r>
                        <a:rPr lang="en-US" sz="2000" dirty="0">
                          <a:effectLst/>
                        </a:rPr>
                        <a:t>Robot's current position in a grid</a:t>
                      </a:r>
                      <a:endParaRPr lang="en-US" sz="20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2000">
                          <a:effectLst/>
                        </a:rPr>
                        <a:t>Move Up, Down, Left, Right</a:t>
                      </a:r>
                      <a:endParaRPr lang="en-US" sz="20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2000">
                          <a:effectLst/>
                        </a:rPr>
                        <a:t>Reach the goal using fewer steps</a:t>
                      </a:r>
                      <a:endParaRPr lang="en-US" sz="20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850427015"/>
                  </a:ext>
                </a:extLst>
              </a:tr>
              <a:tr h="603504">
                <a:tc>
                  <a:txBody>
                    <a:bodyPr/>
                    <a:lstStyle/>
                    <a:p>
                      <a:pPr marL="0" marR="0">
                        <a:lnSpc>
                          <a:spcPct val="115000"/>
                        </a:lnSpc>
                        <a:spcAft>
                          <a:spcPts val="1000"/>
                        </a:spcAft>
                        <a:buNone/>
                      </a:pPr>
                      <a:r>
                        <a:rPr lang="en-US" sz="2000" dirty="0">
                          <a:effectLst/>
                        </a:rPr>
                        <a:t>Current traffic conditions at an intersection</a:t>
                      </a:r>
                      <a:endParaRPr lang="en-US" sz="20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2000" dirty="0">
                          <a:effectLst/>
                        </a:rPr>
                        <a:t>Change or maintain traffic-light phase</a:t>
                      </a:r>
                      <a:endParaRPr lang="en-US" sz="20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2000">
                          <a:effectLst/>
                        </a:rPr>
                        <a:t>Reduce vehicle waiting time and congestion</a:t>
                      </a:r>
                      <a:endParaRPr lang="en-US" sz="20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389971652"/>
                  </a:ext>
                </a:extLst>
              </a:tr>
              <a:tr h="603504">
                <a:tc>
                  <a:txBody>
                    <a:bodyPr/>
                    <a:lstStyle/>
                    <a:p>
                      <a:pPr marL="0" marR="0">
                        <a:lnSpc>
                          <a:spcPct val="115000"/>
                        </a:lnSpc>
                        <a:spcAft>
                          <a:spcPts val="1000"/>
                        </a:spcAft>
                        <a:buNone/>
                      </a:pPr>
                      <a:r>
                        <a:rPr lang="en-US" sz="2000">
                          <a:effectLst/>
                        </a:rPr>
                        <a:t>Current state of a computer game</a:t>
                      </a:r>
                      <a:endParaRPr lang="en-US" sz="20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2000">
                          <a:effectLst/>
                        </a:rPr>
                        <a:t>Move, jump, attack, defend</a:t>
                      </a:r>
                      <a:endParaRPr lang="en-US" sz="20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2000">
                          <a:effectLst/>
                        </a:rPr>
                        <a:t>Maximize game score or win</a:t>
                      </a:r>
                      <a:endParaRPr lang="en-US" sz="20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4214783666"/>
                  </a:ext>
                </a:extLst>
              </a:tr>
              <a:tr h="1248399">
                <a:tc>
                  <a:txBody>
                    <a:bodyPr/>
                    <a:lstStyle/>
                    <a:p>
                      <a:pPr marL="0" marR="0">
                        <a:lnSpc>
                          <a:spcPct val="115000"/>
                        </a:lnSpc>
                        <a:spcAft>
                          <a:spcPts val="1000"/>
                        </a:spcAft>
                        <a:buNone/>
                      </a:pPr>
                      <a:r>
                        <a:rPr lang="en-US" sz="2000">
                          <a:effectLst/>
                        </a:rPr>
                        <a:t>Current location and obstacles of a mobile robot</a:t>
                      </a:r>
                      <a:endParaRPr lang="en-US" sz="20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2000" dirty="0">
                          <a:effectLst/>
                        </a:rPr>
                        <a:t>Move forward, turn left/right, stop</a:t>
                      </a:r>
                      <a:endParaRPr lang="en-US" sz="20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2000">
                          <a:effectLst/>
                        </a:rPr>
                        <a:t>Reach destination while avoiding obstacles</a:t>
                      </a:r>
                      <a:endParaRPr lang="en-US" sz="20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410057785"/>
                  </a:ext>
                </a:extLst>
              </a:tr>
              <a:tr h="603504">
                <a:tc>
                  <a:txBody>
                    <a:bodyPr/>
                    <a:lstStyle/>
                    <a:p>
                      <a:pPr marL="0" marR="0">
                        <a:lnSpc>
                          <a:spcPct val="115000"/>
                        </a:lnSpc>
                        <a:spcAft>
                          <a:spcPts val="1000"/>
                        </a:spcAft>
                        <a:buNone/>
                      </a:pPr>
                      <a:r>
                        <a:rPr lang="en-US" sz="2000">
                          <a:effectLst/>
                        </a:rPr>
                        <a:t>Current allocation of computing resources</a:t>
                      </a:r>
                      <a:endParaRPr lang="en-US" sz="20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2000" dirty="0">
                          <a:effectLst/>
                        </a:rPr>
                        <a:t>Allocate, release, or reassign resources</a:t>
                      </a:r>
                      <a:endParaRPr lang="en-US" sz="20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2000">
                          <a:effectLst/>
                        </a:rPr>
                        <a:t>Improve resource utilization and reduce delays</a:t>
                      </a:r>
                      <a:endParaRPr lang="en-US" sz="20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128472198"/>
                  </a:ext>
                </a:extLst>
              </a:tr>
              <a:tr h="603504">
                <a:tc>
                  <a:txBody>
                    <a:bodyPr/>
                    <a:lstStyle/>
                    <a:p>
                      <a:pPr marL="0" marR="0">
                        <a:lnSpc>
                          <a:spcPct val="115000"/>
                        </a:lnSpc>
                        <a:spcAft>
                          <a:spcPts val="1000"/>
                        </a:spcAft>
                        <a:buNone/>
                      </a:pPr>
                      <a:r>
                        <a:rPr lang="en-US" sz="2000">
                          <a:effectLst/>
                        </a:rPr>
                        <a:t>Current network conditions</a:t>
                      </a:r>
                      <a:endParaRPr lang="en-US" sz="20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2000" dirty="0">
                          <a:effectLst/>
                        </a:rPr>
                        <a:t>Select routing path</a:t>
                      </a:r>
                      <a:endParaRPr lang="en-US" sz="20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2000">
                          <a:effectLst/>
                        </a:rPr>
                        <a:t>Reduce latency or congestion</a:t>
                      </a:r>
                      <a:endParaRPr lang="en-US" sz="20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852439011"/>
                  </a:ext>
                </a:extLst>
              </a:tr>
              <a:tr h="603504">
                <a:tc>
                  <a:txBody>
                    <a:bodyPr/>
                    <a:lstStyle/>
                    <a:p>
                      <a:pPr marL="0" marR="0">
                        <a:lnSpc>
                          <a:spcPct val="115000"/>
                        </a:lnSpc>
                        <a:spcAft>
                          <a:spcPts val="1000"/>
                        </a:spcAft>
                        <a:buNone/>
                      </a:pPr>
                      <a:r>
                        <a:rPr lang="en-US" sz="2000">
                          <a:effectLst/>
                        </a:rPr>
                        <a:t>Current inventory level and demand</a:t>
                      </a:r>
                      <a:endParaRPr lang="en-US" sz="20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2000">
                          <a:effectLst/>
                        </a:rPr>
                        <a:t>Order, wait, or adjust quantity</a:t>
                      </a:r>
                      <a:endParaRPr lang="en-US" sz="20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2000" dirty="0">
                          <a:effectLst/>
                        </a:rPr>
                        <a:t>Minimize shortages and inventory costs</a:t>
                      </a:r>
                      <a:endParaRPr lang="en-US" sz="20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07541190"/>
                  </a:ext>
                </a:extLst>
              </a:tr>
              <a:tr h="603504">
                <a:tc>
                  <a:txBody>
                    <a:bodyPr/>
                    <a:lstStyle/>
                    <a:p>
                      <a:pPr marL="0" marR="0">
                        <a:lnSpc>
                          <a:spcPct val="115000"/>
                        </a:lnSpc>
                        <a:spcAft>
                          <a:spcPts val="1000"/>
                        </a:spcAft>
                        <a:buNone/>
                      </a:pPr>
                      <a:r>
                        <a:rPr lang="en-US" sz="2000" dirty="0">
                          <a:effectLst/>
                        </a:rPr>
                        <a:t>Current energy demand and system condition</a:t>
                      </a:r>
                      <a:endParaRPr lang="en-US" sz="20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2000">
                          <a:effectLst/>
                        </a:rPr>
                        <a:t>Adjust energy allocation</a:t>
                      </a:r>
                      <a:endParaRPr lang="en-US" sz="20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2000" dirty="0">
                          <a:effectLst/>
                        </a:rPr>
                        <a:t>Meet demand efficiently</a:t>
                      </a:r>
                      <a:endParaRPr lang="en-US" sz="20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234568816"/>
                  </a:ext>
                </a:extLst>
              </a:tr>
            </a:tbl>
          </a:graphicData>
        </a:graphic>
      </p:graphicFrame>
    </p:spTree>
    <p:extLst>
      <p:ext uri="{BB962C8B-B14F-4D97-AF65-F5344CB8AC3E}">
        <p14:creationId xmlns:p14="http://schemas.microsoft.com/office/powerpoint/2010/main" val="1490822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81AD8-CD61-E5FD-6539-E11F4984556B}"/>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E33049B7-40F3-5B4E-0109-063A163A4568}"/>
              </a:ext>
            </a:extLst>
          </p:cNvPr>
          <p:cNvSpPr txBox="1"/>
          <p:nvPr/>
        </p:nvSpPr>
        <p:spPr>
          <a:xfrm>
            <a:off x="595274" y="-9525"/>
            <a:ext cx="14817190" cy="1038225"/>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Classification and Regression</a:t>
            </a:r>
          </a:p>
        </p:txBody>
      </p:sp>
      <p:sp>
        <p:nvSpPr>
          <p:cNvPr id="8" name="TextBox 4">
            <a:extLst>
              <a:ext uri="{FF2B5EF4-FFF2-40B4-BE49-F238E27FC236}">
                <a16:creationId xmlns:a16="http://schemas.microsoft.com/office/drawing/2014/main" id="{A3A2B4C9-BDD5-757A-CB99-137DE72AFCEF}"/>
              </a:ext>
            </a:extLst>
          </p:cNvPr>
          <p:cNvSpPr txBox="1"/>
          <p:nvPr/>
        </p:nvSpPr>
        <p:spPr>
          <a:xfrm>
            <a:off x="595274" y="1181100"/>
            <a:ext cx="16702126" cy="9171742"/>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4400" dirty="0"/>
              <a:t>Classification and regression are both supervised-learning tasks, but their targets differ. </a:t>
            </a:r>
          </a:p>
          <a:p>
            <a:pPr marL="571500" indent="-571500">
              <a:buFont typeface="Arial" panose="020B0604020202020204" pitchFamily="34" charset="0"/>
              <a:buChar char="•"/>
            </a:pPr>
            <a:r>
              <a:rPr lang="en-US" sz="4400" dirty="0"/>
              <a:t>Classification predicts discrete categories, whereas regression estimates continuous numerical values. </a:t>
            </a:r>
          </a:p>
          <a:p>
            <a:pPr marL="571500" indent="-571500">
              <a:buFont typeface="Arial" panose="020B0604020202020204" pitchFamily="34" charset="0"/>
              <a:buChar char="•"/>
            </a:pPr>
            <a:r>
              <a:rPr lang="en-US" sz="4400" dirty="0"/>
              <a:t>Classification may be binary (At Risk/Not At Risk), multiclass (Low/Moderate/High risk), or multilabel (a document assigned several tags). </a:t>
            </a:r>
          </a:p>
          <a:p>
            <a:pPr marL="571500" indent="-571500">
              <a:buFont typeface="Arial" panose="020B0604020202020204" pitchFamily="34" charset="0"/>
              <a:buChar char="•"/>
            </a:pPr>
            <a:r>
              <a:rPr lang="en-US" sz="4400" dirty="0"/>
              <a:t>Regression examples include final-grade estimation, rainfall amount, energy demand, enrollment count, and travel time.</a:t>
            </a:r>
          </a:p>
          <a:p>
            <a:r>
              <a:rPr lang="en-US" sz="4000" b="1" dirty="0"/>
              <a:t>Decision guide: </a:t>
            </a:r>
            <a:r>
              <a:rPr lang="en-US" sz="4000" dirty="0"/>
              <a:t>If the intended output is a named class or category, formulate the problem as classification. If the intended output is a numerical quantity on a continuous scale, formulate it as regression. The research objective and target definition should determine the task, not the algorithm the researcher prefers to use.</a:t>
            </a:r>
          </a:p>
        </p:txBody>
      </p:sp>
    </p:spTree>
    <p:extLst>
      <p:ext uri="{BB962C8B-B14F-4D97-AF65-F5344CB8AC3E}">
        <p14:creationId xmlns:p14="http://schemas.microsoft.com/office/powerpoint/2010/main" val="5707589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70EB8-8306-A69C-BC97-6ED3776CAF31}"/>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C8DF9F89-3DEE-AB8F-BF6A-08FD6B8CBCE0}"/>
              </a:ext>
            </a:extLst>
          </p:cNvPr>
          <p:cNvSpPr txBox="1"/>
          <p:nvPr/>
        </p:nvSpPr>
        <p:spPr>
          <a:xfrm>
            <a:off x="595274" y="-9525"/>
            <a:ext cx="14817190" cy="1038225"/>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Classification</a:t>
            </a:r>
          </a:p>
        </p:txBody>
      </p:sp>
      <p:sp>
        <p:nvSpPr>
          <p:cNvPr id="8" name="TextBox 4">
            <a:extLst>
              <a:ext uri="{FF2B5EF4-FFF2-40B4-BE49-F238E27FC236}">
                <a16:creationId xmlns:a16="http://schemas.microsoft.com/office/drawing/2014/main" id="{7547637A-3137-5497-3507-22A5B2F77C3A}"/>
              </a:ext>
            </a:extLst>
          </p:cNvPr>
          <p:cNvSpPr txBox="1"/>
          <p:nvPr/>
        </p:nvSpPr>
        <p:spPr>
          <a:xfrm>
            <a:off x="595274" y="1181100"/>
            <a:ext cx="16702126" cy="677108"/>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4400" dirty="0"/>
              <a:t>Classification predicts a category or class.</a:t>
            </a:r>
            <a:endParaRPr lang="en-US" sz="4000" dirty="0"/>
          </a:p>
        </p:txBody>
      </p:sp>
      <p:graphicFrame>
        <p:nvGraphicFramePr>
          <p:cNvPr id="2" name="Table 1">
            <a:extLst>
              <a:ext uri="{FF2B5EF4-FFF2-40B4-BE49-F238E27FC236}">
                <a16:creationId xmlns:a16="http://schemas.microsoft.com/office/drawing/2014/main" id="{2EBA1143-75A2-C5A2-089B-4E538EE579D1}"/>
              </a:ext>
            </a:extLst>
          </p:cNvPr>
          <p:cNvGraphicFramePr>
            <a:graphicFrameLocks noGrp="1"/>
          </p:cNvGraphicFramePr>
          <p:nvPr>
            <p:extLst>
              <p:ext uri="{D42A27DB-BD31-4B8C-83A1-F6EECF244321}">
                <p14:modId xmlns:p14="http://schemas.microsoft.com/office/powerpoint/2010/main" val="2619121764"/>
              </p:ext>
            </p:extLst>
          </p:nvPr>
        </p:nvGraphicFramePr>
        <p:xfrm>
          <a:off x="1219200" y="3086100"/>
          <a:ext cx="16078200" cy="5130325"/>
        </p:xfrm>
        <a:graphic>
          <a:graphicData uri="http://schemas.openxmlformats.org/drawingml/2006/table">
            <a:tbl>
              <a:tblPr firstRow="1" firstCol="1" bandRow="1">
                <a:tableStyleId>{5C22544A-7EE6-4342-B048-85BDC9FD1C3A}</a:tableStyleId>
              </a:tblPr>
              <a:tblGrid>
                <a:gridCol w="8039100">
                  <a:extLst>
                    <a:ext uri="{9D8B030D-6E8A-4147-A177-3AD203B41FA5}">
                      <a16:colId xmlns:a16="http://schemas.microsoft.com/office/drawing/2014/main" val="1258289822"/>
                    </a:ext>
                  </a:extLst>
                </a:gridCol>
                <a:gridCol w="8039100">
                  <a:extLst>
                    <a:ext uri="{9D8B030D-6E8A-4147-A177-3AD203B41FA5}">
                      <a16:colId xmlns:a16="http://schemas.microsoft.com/office/drawing/2014/main" val="2608255098"/>
                    </a:ext>
                  </a:extLst>
                </a:gridCol>
              </a:tblGrid>
              <a:tr h="1026065">
                <a:tc>
                  <a:txBody>
                    <a:bodyPr/>
                    <a:lstStyle/>
                    <a:p>
                      <a:pPr marL="0" marR="0">
                        <a:lnSpc>
                          <a:spcPct val="115000"/>
                        </a:lnSpc>
                        <a:spcAft>
                          <a:spcPts val="1000"/>
                        </a:spcAft>
                        <a:buNone/>
                      </a:pPr>
                      <a:r>
                        <a:rPr lang="en-US" sz="4400" dirty="0">
                          <a:effectLst/>
                        </a:rPr>
                        <a:t>Example Problem</a:t>
                      </a:r>
                      <a:endParaRPr lang="en-US" sz="44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4400">
                          <a:effectLst/>
                        </a:rPr>
                        <a:t>Possible Output</a:t>
                      </a:r>
                      <a:endParaRPr lang="en-US" sz="44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233327576"/>
                  </a:ext>
                </a:extLst>
              </a:tr>
              <a:tr h="1026065">
                <a:tc>
                  <a:txBody>
                    <a:bodyPr/>
                    <a:lstStyle/>
                    <a:p>
                      <a:pPr marL="0" marR="0">
                        <a:lnSpc>
                          <a:spcPct val="115000"/>
                        </a:lnSpc>
                        <a:spcAft>
                          <a:spcPts val="1000"/>
                        </a:spcAft>
                        <a:buNone/>
                      </a:pPr>
                      <a:r>
                        <a:rPr lang="en-US" sz="4400" dirty="0">
                          <a:effectLst/>
                        </a:rPr>
                        <a:t>Spam detection</a:t>
                      </a:r>
                      <a:endParaRPr lang="en-US" sz="44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4400">
                          <a:effectLst/>
                        </a:rPr>
                        <a:t>Spam / Not Spam</a:t>
                      </a:r>
                      <a:endParaRPr lang="en-US" sz="44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820679405"/>
                  </a:ext>
                </a:extLst>
              </a:tr>
              <a:tr h="1026065">
                <a:tc>
                  <a:txBody>
                    <a:bodyPr/>
                    <a:lstStyle/>
                    <a:p>
                      <a:pPr marL="0" marR="0">
                        <a:lnSpc>
                          <a:spcPct val="115000"/>
                        </a:lnSpc>
                        <a:spcAft>
                          <a:spcPts val="1000"/>
                        </a:spcAft>
                        <a:buNone/>
                      </a:pPr>
                      <a:r>
                        <a:rPr lang="en-US" sz="4400" dirty="0">
                          <a:effectLst/>
                        </a:rPr>
                        <a:t>Sentiment analysis</a:t>
                      </a:r>
                      <a:endParaRPr lang="en-US" sz="44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4400">
                          <a:effectLst/>
                        </a:rPr>
                        <a:t>Positive / Negative / Neutral</a:t>
                      </a:r>
                      <a:endParaRPr lang="en-US" sz="44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77233068"/>
                  </a:ext>
                </a:extLst>
              </a:tr>
              <a:tr h="1026065">
                <a:tc>
                  <a:txBody>
                    <a:bodyPr/>
                    <a:lstStyle/>
                    <a:p>
                      <a:pPr marL="0" marR="0">
                        <a:lnSpc>
                          <a:spcPct val="115000"/>
                        </a:lnSpc>
                        <a:spcAft>
                          <a:spcPts val="1000"/>
                        </a:spcAft>
                        <a:buNone/>
                      </a:pPr>
                      <a:r>
                        <a:rPr lang="en-US" sz="4400">
                          <a:effectLst/>
                        </a:rPr>
                        <a:t>Student risk prediction</a:t>
                      </a:r>
                      <a:endParaRPr lang="en-US" sz="44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4400">
                          <a:effectLst/>
                        </a:rPr>
                        <a:t>At Risk / Not at Risk</a:t>
                      </a:r>
                      <a:endParaRPr lang="en-US" sz="44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660270729"/>
                  </a:ext>
                </a:extLst>
              </a:tr>
              <a:tr h="1026065">
                <a:tc>
                  <a:txBody>
                    <a:bodyPr/>
                    <a:lstStyle/>
                    <a:p>
                      <a:pPr marL="0" marR="0">
                        <a:lnSpc>
                          <a:spcPct val="115000"/>
                        </a:lnSpc>
                        <a:spcAft>
                          <a:spcPts val="1000"/>
                        </a:spcAft>
                        <a:buNone/>
                      </a:pPr>
                      <a:r>
                        <a:rPr lang="en-US" sz="4400">
                          <a:effectLst/>
                        </a:rPr>
                        <a:t>Disease classification</a:t>
                      </a:r>
                      <a:endParaRPr lang="en-US" sz="44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4400" dirty="0">
                          <a:effectLst/>
                        </a:rPr>
                        <a:t>Disease category</a:t>
                      </a:r>
                      <a:endParaRPr lang="en-US" sz="44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152273014"/>
                  </a:ext>
                </a:extLst>
              </a:tr>
            </a:tbl>
          </a:graphicData>
        </a:graphic>
      </p:graphicFrame>
    </p:spTree>
    <p:extLst>
      <p:ext uri="{BB962C8B-B14F-4D97-AF65-F5344CB8AC3E}">
        <p14:creationId xmlns:p14="http://schemas.microsoft.com/office/powerpoint/2010/main" val="2587223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C3629-9280-8A8E-BB77-29EE8FC1F16F}"/>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8FD7C667-EF35-5B30-04A0-0B54D93FD541}"/>
              </a:ext>
            </a:extLst>
          </p:cNvPr>
          <p:cNvSpPr txBox="1"/>
          <p:nvPr/>
        </p:nvSpPr>
        <p:spPr>
          <a:xfrm>
            <a:off x="595274" y="-9525"/>
            <a:ext cx="14817190" cy="1038225"/>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Regression</a:t>
            </a:r>
          </a:p>
        </p:txBody>
      </p:sp>
      <p:sp>
        <p:nvSpPr>
          <p:cNvPr id="8" name="TextBox 4">
            <a:extLst>
              <a:ext uri="{FF2B5EF4-FFF2-40B4-BE49-F238E27FC236}">
                <a16:creationId xmlns:a16="http://schemas.microsoft.com/office/drawing/2014/main" id="{3E631604-8A5B-85C8-1037-9612C7AFDD13}"/>
              </a:ext>
            </a:extLst>
          </p:cNvPr>
          <p:cNvSpPr txBox="1"/>
          <p:nvPr/>
        </p:nvSpPr>
        <p:spPr>
          <a:xfrm>
            <a:off x="595274" y="1181100"/>
            <a:ext cx="16702126" cy="677108"/>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4400" dirty="0"/>
              <a:t>Regression predicts a continuous numerical value.</a:t>
            </a:r>
            <a:endParaRPr lang="en-US" sz="4000" dirty="0"/>
          </a:p>
        </p:txBody>
      </p:sp>
      <p:graphicFrame>
        <p:nvGraphicFramePr>
          <p:cNvPr id="6" name="Table 5">
            <a:extLst>
              <a:ext uri="{FF2B5EF4-FFF2-40B4-BE49-F238E27FC236}">
                <a16:creationId xmlns:a16="http://schemas.microsoft.com/office/drawing/2014/main" id="{D810B8D0-E3F5-E1A8-596B-FAEEE4ED6ED2}"/>
              </a:ext>
            </a:extLst>
          </p:cNvPr>
          <p:cNvGraphicFramePr>
            <a:graphicFrameLocks noGrp="1"/>
          </p:cNvGraphicFramePr>
          <p:nvPr>
            <p:extLst>
              <p:ext uri="{D42A27DB-BD31-4B8C-83A1-F6EECF244321}">
                <p14:modId xmlns:p14="http://schemas.microsoft.com/office/powerpoint/2010/main" val="388091191"/>
              </p:ext>
            </p:extLst>
          </p:nvPr>
        </p:nvGraphicFramePr>
        <p:xfrm>
          <a:off x="1066800" y="2849268"/>
          <a:ext cx="15849600" cy="4351632"/>
        </p:xfrm>
        <a:graphic>
          <a:graphicData uri="http://schemas.openxmlformats.org/drawingml/2006/table">
            <a:tbl>
              <a:tblPr firstRow="1" firstCol="1" bandRow="1">
                <a:tableStyleId>{5C22544A-7EE6-4342-B048-85BDC9FD1C3A}</a:tableStyleId>
              </a:tblPr>
              <a:tblGrid>
                <a:gridCol w="7924800">
                  <a:extLst>
                    <a:ext uri="{9D8B030D-6E8A-4147-A177-3AD203B41FA5}">
                      <a16:colId xmlns:a16="http://schemas.microsoft.com/office/drawing/2014/main" val="2976852365"/>
                    </a:ext>
                  </a:extLst>
                </a:gridCol>
                <a:gridCol w="7924800">
                  <a:extLst>
                    <a:ext uri="{9D8B030D-6E8A-4147-A177-3AD203B41FA5}">
                      <a16:colId xmlns:a16="http://schemas.microsoft.com/office/drawing/2014/main" val="2952350869"/>
                    </a:ext>
                  </a:extLst>
                </a:gridCol>
              </a:tblGrid>
              <a:tr h="1087908">
                <a:tc>
                  <a:txBody>
                    <a:bodyPr/>
                    <a:lstStyle/>
                    <a:p>
                      <a:pPr marL="0" marR="0">
                        <a:lnSpc>
                          <a:spcPct val="115000"/>
                        </a:lnSpc>
                        <a:spcAft>
                          <a:spcPts val="1000"/>
                        </a:spcAft>
                        <a:buNone/>
                      </a:pPr>
                      <a:r>
                        <a:rPr lang="en-US" sz="4400" dirty="0">
                          <a:effectLst/>
                        </a:rPr>
                        <a:t>Example Problem</a:t>
                      </a:r>
                      <a:endParaRPr lang="en-US" sz="44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00000"/>
                        </a:lnSpc>
                        <a:spcAft>
                          <a:spcPts val="1000"/>
                        </a:spcAft>
                        <a:buNone/>
                      </a:pPr>
                      <a:r>
                        <a:rPr lang="en-US" sz="4400" dirty="0">
                          <a:effectLst/>
                        </a:rPr>
                        <a:t>Predicted Output</a:t>
                      </a:r>
                      <a:endParaRPr lang="en-US" sz="44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944226080"/>
                  </a:ext>
                </a:extLst>
              </a:tr>
              <a:tr h="1087908">
                <a:tc>
                  <a:txBody>
                    <a:bodyPr/>
                    <a:lstStyle/>
                    <a:p>
                      <a:pPr marL="0" marR="0">
                        <a:lnSpc>
                          <a:spcPct val="115000"/>
                        </a:lnSpc>
                        <a:spcAft>
                          <a:spcPts val="1000"/>
                        </a:spcAft>
                        <a:buNone/>
                      </a:pPr>
                      <a:r>
                        <a:rPr lang="en-US" sz="4400" dirty="0">
                          <a:effectLst/>
                        </a:rPr>
                        <a:t>House price prediction</a:t>
                      </a:r>
                      <a:endParaRPr lang="en-US" sz="44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00000"/>
                        </a:lnSpc>
                        <a:spcAft>
                          <a:spcPts val="1000"/>
                        </a:spcAft>
                        <a:buNone/>
                      </a:pPr>
                      <a:r>
                        <a:rPr lang="en-US" sz="4400" dirty="0">
                          <a:effectLst/>
                        </a:rPr>
                        <a:t>Price</a:t>
                      </a:r>
                      <a:endParaRPr lang="en-US" sz="44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840224916"/>
                  </a:ext>
                </a:extLst>
              </a:tr>
              <a:tr h="1087908">
                <a:tc>
                  <a:txBody>
                    <a:bodyPr/>
                    <a:lstStyle/>
                    <a:p>
                      <a:pPr marL="0" marR="0">
                        <a:lnSpc>
                          <a:spcPct val="115000"/>
                        </a:lnSpc>
                        <a:spcAft>
                          <a:spcPts val="1000"/>
                        </a:spcAft>
                        <a:buNone/>
                      </a:pPr>
                      <a:r>
                        <a:rPr lang="en-US" sz="4400" dirty="0">
                          <a:effectLst/>
                        </a:rPr>
                        <a:t>Rainfall forecasting</a:t>
                      </a:r>
                      <a:endParaRPr lang="en-US" sz="44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00000"/>
                        </a:lnSpc>
                        <a:spcAft>
                          <a:spcPts val="1000"/>
                        </a:spcAft>
                        <a:buNone/>
                      </a:pPr>
                      <a:r>
                        <a:rPr lang="en-US" sz="4400" dirty="0">
                          <a:effectLst/>
                        </a:rPr>
                        <a:t>Rainfall amount</a:t>
                      </a:r>
                      <a:endParaRPr lang="en-US" sz="44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99433734"/>
                  </a:ext>
                </a:extLst>
              </a:tr>
              <a:tr h="1087908">
                <a:tc>
                  <a:txBody>
                    <a:bodyPr/>
                    <a:lstStyle/>
                    <a:p>
                      <a:pPr marL="0" marR="0">
                        <a:lnSpc>
                          <a:spcPct val="115000"/>
                        </a:lnSpc>
                        <a:spcAft>
                          <a:spcPts val="1000"/>
                        </a:spcAft>
                        <a:buNone/>
                      </a:pPr>
                      <a:r>
                        <a:rPr lang="en-US" sz="4400">
                          <a:effectLst/>
                        </a:rPr>
                        <a:t>Enrollment forecasting</a:t>
                      </a:r>
                      <a:endParaRPr lang="en-US" sz="440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00000"/>
                        </a:lnSpc>
                        <a:spcAft>
                          <a:spcPts val="1000"/>
                        </a:spcAft>
                        <a:buNone/>
                      </a:pPr>
                      <a:r>
                        <a:rPr lang="en-US" sz="4400" dirty="0">
                          <a:effectLst/>
                        </a:rPr>
                        <a:t>Number of students</a:t>
                      </a:r>
                      <a:endParaRPr lang="en-US" sz="440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749430542"/>
                  </a:ext>
                </a:extLst>
              </a:tr>
            </a:tbl>
          </a:graphicData>
        </a:graphic>
      </p:graphicFrame>
      <p:sp>
        <p:nvSpPr>
          <p:cNvPr id="9" name="TextBox 8">
            <a:extLst>
              <a:ext uri="{FF2B5EF4-FFF2-40B4-BE49-F238E27FC236}">
                <a16:creationId xmlns:a16="http://schemas.microsoft.com/office/drawing/2014/main" id="{197596AA-9A27-E0CF-AA39-2AFCB20982A1}"/>
              </a:ext>
            </a:extLst>
          </p:cNvPr>
          <p:cNvSpPr txBox="1"/>
          <p:nvPr/>
        </p:nvSpPr>
        <p:spPr>
          <a:xfrm>
            <a:off x="1219200" y="8191960"/>
            <a:ext cx="15849600" cy="1328569"/>
          </a:xfrm>
          <a:prstGeom prst="rect">
            <a:avLst/>
          </a:prstGeom>
          <a:noFill/>
        </p:spPr>
        <p:txBody>
          <a:bodyPr wrap="square">
            <a:spAutoFit/>
          </a:bodyPr>
          <a:lstStyle/>
          <a:p>
            <a:pPr marL="0" marR="0">
              <a:lnSpc>
                <a:spcPct val="100000"/>
              </a:lnSpc>
              <a:spcAft>
                <a:spcPts val="1000"/>
              </a:spcAft>
              <a:buNone/>
            </a:pPr>
            <a:r>
              <a:rPr lang="en-US" sz="3600" dirty="0">
                <a:effectLst/>
                <a:latin typeface="+mn-lt"/>
                <a:ea typeface="MS Mincho" panose="02020609040205080304" pitchFamily="49" charset="-128"/>
                <a:cs typeface="Times New Roman" panose="02020603050405020304" pitchFamily="18" charset="0"/>
              </a:rPr>
              <a:t>If the expected output is a category, consider classification; </a:t>
            </a:r>
          </a:p>
          <a:p>
            <a:pPr marL="0" marR="0">
              <a:lnSpc>
                <a:spcPct val="100000"/>
              </a:lnSpc>
              <a:spcAft>
                <a:spcPts val="1000"/>
              </a:spcAft>
              <a:buNone/>
            </a:pPr>
            <a:r>
              <a:rPr lang="en-US" sz="3600" dirty="0">
                <a:effectLst/>
                <a:latin typeface="+mn-lt"/>
                <a:ea typeface="MS Mincho" panose="02020609040205080304" pitchFamily="49" charset="-128"/>
                <a:cs typeface="Times New Roman" panose="02020603050405020304" pitchFamily="18" charset="0"/>
              </a:rPr>
              <a:t>if it is a numerical quantity, consider regression.</a:t>
            </a:r>
            <a:endParaRPr lang="en-US" dirty="0">
              <a:effectLst/>
              <a:latin typeface="Arial" panose="020B06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363420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7A588-7DC9-8218-BA54-C784426D90C7}"/>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5707C242-7021-23BB-A882-236827695C7A}"/>
              </a:ext>
            </a:extLst>
          </p:cNvPr>
          <p:cNvSpPr txBox="1"/>
          <p:nvPr/>
        </p:nvSpPr>
        <p:spPr>
          <a:xfrm>
            <a:off x="304800" y="15688"/>
            <a:ext cx="14817190" cy="2115964"/>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Translating a Thesis Problem into a Machine Learning Problem</a:t>
            </a:r>
          </a:p>
        </p:txBody>
      </p:sp>
      <p:sp>
        <p:nvSpPr>
          <p:cNvPr id="4" name="TextBox 3">
            <a:extLst>
              <a:ext uri="{FF2B5EF4-FFF2-40B4-BE49-F238E27FC236}">
                <a16:creationId xmlns:a16="http://schemas.microsoft.com/office/drawing/2014/main" id="{67433204-6964-F934-C7E3-91F9E4D62DDE}"/>
              </a:ext>
            </a:extLst>
          </p:cNvPr>
          <p:cNvSpPr txBox="1"/>
          <p:nvPr/>
        </p:nvSpPr>
        <p:spPr>
          <a:xfrm>
            <a:off x="288664" y="2137479"/>
            <a:ext cx="17465936" cy="7248138"/>
          </a:xfrm>
          <a:prstGeom prst="rect">
            <a:avLst/>
          </a:prstGeom>
          <a:noFill/>
        </p:spPr>
        <p:txBody>
          <a:bodyPr wrap="square">
            <a:spAutoFit/>
          </a:bodyPr>
          <a:lstStyle/>
          <a:p>
            <a:pPr marR="0">
              <a:lnSpc>
                <a:spcPct val="100000"/>
              </a:lnSpc>
              <a:spcAft>
                <a:spcPts val="1000"/>
              </a:spcAft>
            </a:pPr>
            <a:r>
              <a:rPr lang="en-US" sz="4400" b="1" dirty="0">
                <a:effectLst/>
                <a:latin typeface="+mn-lt"/>
                <a:ea typeface="MS Mincho" panose="02020609040205080304" pitchFamily="49" charset="-128"/>
                <a:cs typeface="Times New Roman" panose="02020603050405020304" pitchFamily="18" charset="0"/>
              </a:rPr>
              <a:t>Academic Risk Prediction:</a:t>
            </a:r>
          </a:p>
          <a:p>
            <a:pPr marL="571500" marR="0" indent="-571500">
              <a:lnSpc>
                <a:spcPct val="100000"/>
              </a:lnSpc>
              <a:spcAft>
                <a:spcPts val="1000"/>
              </a:spcAft>
              <a:buFont typeface="Arial" panose="020B0604020202020204" pitchFamily="34" charset="0"/>
              <a:buChar char="•"/>
            </a:pPr>
            <a:r>
              <a:rPr lang="en-US" sz="4400" dirty="0">
                <a:effectLst/>
                <a:latin typeface="+mn-lt"/>
                <a:ea typeface="MS Mincho" panose="02020609040205080304" pitchFamily="49" charset="-128"/>
                <a:cs typeface="Times New Roman" panose="02020603050405020304" pitchFamily="18" charset="0"/>
              </a:rPr>
              <a:t>Given academic and learning-related indicators, the model should classify students according to academic risk in order to support early intervention. </a:t>
            </a:r>
          </a:p>
          <a:p>
            <a:pPr marL="571500" marR="0" indent="-571500">
              <a:lnSpc>
                <a:spcPct val="100000"/>
              </a:lnSpc>
              <a:spcAft>
                <a:spcPts val="1000"/>
              </a:spcAft>
              <a:buFont typeface="Arial" panose="020B0604020202020204" pitchFamily="34" charset="0"/>
              <a:buChar char="•"/>
            </a:pPr>
            <a:r>
              <a:rPr lang="en-US" sz="4400" dirty="0">
                <a:effectLst/>
                <a:latin typeface="+mn-lt"/>
                <a:ea typeface="MS Mincho" panose="02020609040205080304" pitchFamily="49" charset="-128"/>
                <a:cs typeface="Times New Roman" panose="02020603050405020304" pitchFamily="18" charset="0"/>
              </a:rPr>
              <a:t>One row represents one student; X may include attendance, GPA, study hours, failed subjects, internet access, and other justified predictors; y is Risk Status. </a:t>
            </a:r>
          </a:p>
          <a:p>
            <a:pPr marL="571500" marR="0" indent="-571500">
              <a:lnSpc>
                <a:spcPct val="100000"/>
              </a:lnSpc>
              <a:spcAft>
                <a:spcPts val="1000"/>
              </a:spcAft>
              <a:buFont typeface="Arial" panose="020B0604020202020204" pitchFamily="34" charset="0"/>
              <a:buChar char="•"/>
            </a:pPr>
            <a:r>
              <a:rPr lang="en-US" sz="4400" dirty="0">
                <a:effectLst/>
                <a:latin typeface="+mn-lt"/>
                <a:ea typeface="MS Mincho" panose="02020609040205080304" pitchFamily="49" charset="-128"/>
                <a:cs typeface="Times New Roman" panose="02020603050405020304" pitchFamily="18" charset="0"/>
              </a:rPr>
              <a:t>An identifier such as Student_ID should normally be excluded because it identifies the record rather than describing a meaningful predictive characteristic.</a:t>
            </a:r>
            <a:endParaRPr lang="en-US" sz="2400" dirty="0">
              <a:effectLst/>
              <a:latin typeface="Arial" panose="020B06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506284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11492-4AAA-BFB4-E9B0-CBE1B5D07ADB}"/>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F3078125-895D-C0F8-2F5D-E0D10C7A1BED}"/>
              </a:ext>
            </a:extLst>
          </p:cNvPr>
          <p:cNvSpPr txBox="1"/>
          <p:nvPr/>
        </p:nvSpPr>
        <p:spPr>
          <a:xfrm>
            <a:off x="304800" y="15688"/>
            <a:ext cx="14817190" cy="2115964"/>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Translating a Thesis Problem into a Machine Learning Problem</a:t>
            </a:r>
          </a:p>
        </p:txBody>
      </p:sp>
      <p:sp>
        <p:nvSpPr>
          <p:cNvPr id="4" name="TextBox 3">
            <a:extLst>
              <a:ext uri="{FF2B5EF4-FFF2-40B4-BE49-F238E27FC236}">
                <a16:creationId xmlns:a16="http://schemas.microsoft.com/office/drawing/2014/main" id="{529269E4-77FB-3AC4-24FA-E0BE4E54DB91}"/>
              </a:ext>
            </a:extLst>
          </p:cNvPr>
          <p:cNvSpPr txBox="1"/>
          <p:nvPr/>
        </p:nvSpPr>
        <p:spPr>
          <a:xfrm>
            <a:off x="288664" y="2137479"/>
            <a:ext cx="17465936" cy="6022161"/>
          </a:xfrm>
          <a:prstGeom prst="rect">
            <a:avLst/>
          </a:prstGeom>
          <a:noFill/>
        </p:spPr>
        <p:txBody>
          <a:bodyPr wrap="square">
            <a:spAutoFit/>
          </a:bodyPr>
          <a:lstStyle/>
          <a:p>
            <a:pPr>
              <a:spcAft>
                <a:spcPts val="1000"/>
              </a:spcAft>
            </a:pPr>
            <a:r>
              <a:rPr lang="en-US" sz="4400" b="1" dirty="0">
                <a:effectLst/>
                <a:latin typeface="+mn-lt"/>
                <a:ea typeface="MS Mincho" panose="02020609040205080304" pitchFamily="49" charset="-128"/>
                <a:cs typeface="Times New Roman" panose="02020603050405020304" pitchFamily="18" charset="0"/>
              </a:rPr>
              <a:t>Academic Risk Prediction: </a:t>
            </a:r>
          </a:p>
          <a:p>
            <a:pPr marL="571500" indent="-571500">
              <a:spcAft>
                <a:spcPts val="1000"/>
              </a:spcAft>
              <a:buFont typeface="Arial" panose="020B0604020202020204" pitchFamily="34" charset="0"/>
              <a:buChar char="•"/>
            </a:pPr>
            <a:r>
              <a:rPr lang="en-US" sz="4400" dirty="0"/>
              <a:t>Final Grade Estimation: Given attendance, study hours, previous grade, and assignment completion, the model should estimate Final Grade. </a:t>
            </a:r>
          </a:p>
          <a:p>
            <a:pPr marL="571500" indent="-571500">
              <a:spcAft>
                <a:spcPts val="1000"/>
              </a:spcAft>
              <a:buFont typeface="Arial" panose="020B0604020202020204" pitchFamily="34" charset="0"/>
              <a:buChar char="•"/>
            </a:pPr>
            <a:r>
              <a:rPr lang="en-US" sz="4400" dirty="0"/>
              <a:t>Because the target is numerical, this is a regression problem. </a:t>
            </a:r>
          </a:p>
          <a:p>
            <a:pPr marL="571500" indent="-571500">
              <a:spcAft>
                <a:spcPts val="1000"/>
              </a:spcAft>
              <a:buFont typeface="Arial" panose="020B0604020202020204" pitchFamily="34" charset="0"/>
              <a:buChar char="•"/>
            </a:pPr>
            <a:r>
              <a:rPr lang="en-US" sz="4400" dirty="0"/>
              <a:t>The experiment can compare a mean Dummy Regressor, Linear Regression, Decision Tree Regressor, and Random Forest Regressor using MAE, RMSE, and R-squared.</a:t>
            </a:r>
          </a:p>
          <a:p>
            <a:pPr marL="0" marR="0">
              <a:lnSpc>
                <a:spcPct val="100000"/>
              </a:lnSpc>
              <a:spcAft>
                <a:spcPts val="1000"/>
              </a:spcAft>
              <a:buNone/>
            </a:pPr>
            <a:endParaRPr lang="en-US" sz="4400" dirty="0">
              <a:effectLst/>
              <a:latin typeface="+mn-lt"/>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3305571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A3024-A921-FD71-CAC7-1AB742325FC5}"/>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31019156-0FF5-BBD9-8065-64221C1EEAB4}"/>
              </a:ext>
            </a:extLst>
          </p:cNvPr>
          <p:cNvSpPr txBox="1"/>
          <p:nvPr/>
        </p:nvSpPr>
        <p:spPr>
          <a:xfrm>
            <a:off x="304800" y="15688"/>
            <a:ext cx="14817190" cy="2115964"/>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Translating a Thesis Problem into a Machine Learning Problem</a:t>
            </a:r>
          </a:p>
        </p:txBody>
      </p:sp>
      <p:sp>
        <p:nvSpPr>
          <p:cNvPr id="4" name="TextBox 3">
            <a:extLst>
              <a:ext uri="{FF2B5EF4-FFF2-40B4-BE49-F238E27FC236}">
                <a16:creationId xmlns:a16="http://schemas.microsoft.com/office/drawing/2014/main" id="{5D847166-637E-476F-52C5-56C84D1CAC83}"/>
              </a:ext>
            </a:extLst>
          </p:cNvPr>
          <p:cNvSpPr txBox="1"/>
          <p:nvPr/>
        </p:nvSpPr>
        <p:spPr>
          <a:xfrm>
            <a:off x="288664" y="2137479"/>
            <a:ext cx="17465936" cy="8094524"/>
          </a:xfrm>
          <a:prstGeom prst="rect">
            <a:avLst/>
          </a:prstGeom>
          <a:noFill/>
        </p:spPr>
        <p:txBody>
          <a:bodyPr wrap="square">
            <a:spAutoFit/>
          </a:bodyPr>
          <a:lstStyle/>
          <a:p>
            <a:r>
              <a:rPr lang="en-US" sz="4000" dirty="0"/>
              <a:t>A thesis title or general research problem does not automatically define a Machine Learning task. Students must transform the research problem into a computational formulation.</a:t>
            </a:r>
          </a:p>
          <a:p>
            <a:r>
              <a:rPr lang="en-US" sz="4000" b="1" dirty="0"/>
              <a:t>Useful template</a:t>
            </a:r>
            <a:r>
              <a:rPr lang="en-US" sz="4000" dirty="0"/>
              <a:t>: Given [INPUT DATA], the proposed model should [PREDICT / CLASSIFY / ESTIMATE] [TARGET] in order to [PURPOSE].</a:t>
            </a:r>
          </a:p>
          <a:p>
            <a:r>
              <a:rPr lang="en-US" sz="4000" b="1" dirty="0"/>
              <a:t>Example: </a:t>
            </a:r>
            <a:r>
              <a:rPr lang="en-US" sz="4000" dirty="0"/>
              <a:t>Given student academic and attendance records, the proposed model should classify students according to academic risk in order to support early intervention.</a:t>
            </a:r>
          </a:p>
          <a:p>
            <a:pPr marL="571500" lvl="0" indent="-571500">
              <a:buFont typeface="Arial" panose="020B0604020202020204" pitchFamily="34" charset="0"/>
              <a:buChar char="•"/>
            </a:pPr>
            <a:r>
              <a:rPr lang="en-US" sz="4000" dirty="0"/>
              <a:t>Unit of analysis: What does one row or observation represent?</a:t>
            </a:r>
          </a:p>
          <a:p>
            <a:pPr marL="571500" lvl="0" indent="-571500">
              <a:buFont typeface="Arial" panose="020B0604020202020204" pitchFamily="34" charset="0"/>
              <a:buChar char="•"/>
            </a:pPr>
            <a:r>
              <a:rPr lang="en-US" sz="4000" dirty="0"/>
              <a:t>Features: What information will be used as input?</a:t>
            </a:r>
          </a:p>
          <a:p>
            <a:pPr marL="571500" lvl="0" indent="-571500">
              <a:buFont typeface="Arial" panose="020B0604020202020204" pitchFamily="34" charset="0"/>
              <a:buChar char="•"/>
            </a:pPr>
            <a:r>
              <a:rPr lang="en-US" sz="4000" dirty="0"/>
              <a:t>Target: What should the model predict?</a:t>
            </a:r>
          </a:p>
          <a:p>
            <a:pPr marL="571500" lvl="0" indent="-571500">
              <a:buFont typeface="Arial" panose="020B0604020202020204" pitchFamily="34" charset="0"/>
              <a:buChar char="•"/>
            </a:pPr>
            <a:r>
              <a:rPr lang="en-US" sz="4000" dirty="0"/>
              <a:t>Task type: Classification or regression?</a:t>
            </a:r>
          </a:p>
          <a:p>
            <a:pPr marL="571500" lvl="0" indent="-571500">
              <a:buFont typeface="Arial" panose="020B0604020202020204" pitchFamily="34" charset="0"/>
              <a:buChar char="•"/>
            </a:pPr>
            <a:r>
              <a:rPr lang="en-US" sz="4000" dirty="0"/>
              <a:t>Success criteria: How will performance be evaluated?</a:t>
            </a:r>
          </a:p>
        </p:txBody>
      </p:sp>
    </p:spTree>
    <p:extLst>
      <p:ext uri="{BB962C8B-B14F-4D97-AF65-F5344CB8AC3E}">
        <p14:creationId xmlns:p14="http://schemas.microsoft.com/office/powerpoint/2010/main" val="6674121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20331-97F8-0F38-885D-381568998A08}"/>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AFF84E88-726E-68D6-B7C6-EA31A4AB2F0E}"/>
              </a:ext>
            </a:extLst>
          </p:cNvPr>
          <p:cNvSpPr txBox="1"/>
          <p:nvPr/>
        </p:nvSpPr>
        <p:spPr>
          <a:xfrm>
            <a:off x="304800" y="15688"/>
            <a:ext cx="14817190" cy="1038746"/>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Understanding Features and Labels</a:t>
            </a:r>
          </a:p>
        </p:txBody>
      </p:sp>
      <p:sp>
        <p:nvSpPr>
          <p:cNvPr id="4" name="TextBox 3">
            <a:extLst>
              <a:ext uri="{FF2B5EF4-FFF2-40B4-BE49-F238E27FC236}">
                <a16:creationId xmlns:a16="http://schemas.microsoft.com/office/drawing/2014/main" id="{8711A89B-5C4C-0856-F421-D5DFD656DF81}"/>
              </a:ext>
            </a:extLst>
          </p:cNvPr>
          <p:cNvSpPr txBox="1"/>
          <p:nvPr/>
        </p:nvSpPr>
        <p:spPr>
          <a:xfrm>
            <a:off x="304800" y="1054434"/>
            <a:ext cx="17465936" cy="4524315"/>
          </a:xfrm>
          <a:prstGeom prst="rect">
            <a:avLst/>
          </a:prstGeom>
          <a:noFill/>
        </p:spPr>
        <p:txBody>
          <a:bodyPr wrap="square">
            <a:spAutoFit/>
          </a:bodyPr>
          <a:lstStyle/>
          <a:p>
            <a:r>
              <a:rPr lang="en-US" sz="3600" dirty="0"/>
              <a:t>Example: In academic-risk classification, Attendance, GPA, </a:t>
            </a:r>
            <a:r>
              <a:rPr lang="en-US" sz="3600" dirty="0" err="1"/>
              <a:t>Study_Hours</a:t>
            </a:r>
            <a:r>
              <a:rPr lang="en-US" sz="3600" dirty="0"/>
              <a:t>, and </a:t>
            </a:r>
            <a:r>
              <a:rPr lang="en-US" sz="3600" dirty="0" err="1"/>
              <a:t>Failed_Subjects</a:t>
            </a:r>
            <a:r>
              <a:rPr lang="en-US" sz="3600" dirty="0"/>
              <a:t> are candidate features (X), while </a:t>
            </a:r>
            <a:r>
              <a:rPr lang="en-US" sz="3600" dirty="0" err="1"/>
              <a:t>Risk_Status</a:t>
            </a:r>
            <a:r>
              <a:rPr lang="en-US" sz="3600" dirty="0"/>
              <a:t> is the target (y). In sentiment analysis, the original text is the input; after TF-IDF feature extraction it becomes a numerical feature matrix, while Sentiment is the target label. Features should be available at the intended prediction time and should not directly reveal the target.</a:t>
            </a:r>
          </a:p>
          <a:p>
            <a:r>
              <a:rPr lang="en-US" sz="3600" dirty="0"/>
              <a:t>Features are input variables used by a model to identify patterns and are commonly represented as X. The target or label is the value the model attempts to predict and is commonly represented as y.</a:t>
            </a:r>
          </a:p>
        </p:txBody>
      </p:sp>
      <p:graphicFrame>
        <p:nvGraphicFramePr>
          <p:cNvPr id="2" name="Table 1">
            <a:extLst>
              <a:ext uri="{FF2B5EF4-FFF2-40B4-BE49-F238E27FC236}">
                <a16:creationId xmlns:a16="http://schemas.microsoft.com/office/drawing/2014/main" id="{D976FE1F-C47F-ABE6-78A2-27F06F6B8FCA}"/>
              </a:ext>
            </a:extLst>
          </p:cNvPr>
          <p:cNvGraphicFramePr>
            <a:graphicFrameLocks noGrp="1"/>
          </p:cNvGraphicFramePr>
          <p:nvPr>
            <p:extLst>
              <p:ext uri="{D42A27DB-BD31-4B8C-83A1-F6EECF244321}">
                <p14:modId xmlns:p14="http://schemas.microsoft.com/office/powerpoint/2010/main" val="3237744055"/>
              </p:ext>
            </p:extLst>
          </p:nvPr>
        </p:nvGraphicFramePr>
        <p:xfrm>
          <a:off x="457200" y="5676900"/>
          <a:ext cx="16159740" cy="1967865"/>
        </p:xfrm>
        <a:graphic>
          <a:graphicData uri="http://schemas.openxmlformats.org/drawingml/2006/table">
            <a:tbl>
              <a:tblPr firstRow="1" firstCol="1" bandRow="1">
                <a:tableStyleId>{5C22544A-7EE6-4342-B048-85BDC9FD1C3A}</a:tableStyleId>
              </a:tblPr>
              <a:tblGrid>
                <a:gridCol w="4039935">
                  <a:extLst>
                    <a:ext uri="{9D8B030D-6E8A-4147-A177-3AD203B41FA5}">
                      <a16:colId xmlns:a16="http://schemas.microsoft.com/office/drawing/2014/main" val="266942238"/>
                    </a:ext>
                  </a:extLst>
                </a:gridCol>
                <a:gridCol w="4039935">
                  <a:extLst>
                    <a:ext uri="{9D8B030D-6E8A-4147-A177-3AD203B41FA5}">
                      <a16:colId xmlns:a16="http://schemas.microsoft.com/office/drawing/2014/main" val="2365824121"/>
                    </a:ext>
                  </a:extLst>
                </a:gridCol>
                <a:gridCol w="4039935">
                  <a:extLst>
                    <a:ext uri="{9D8B030D-6E8A-4147-A177-3AD203B41FA5}">
                      <a16:colId xmlns:a16="http://schemas.microsoft.com/office/drawing/2014/main" val="1979945900"/>
                    </a:ext>
                  </a:extLst>
                </a:gridCol>
                <a:gridCol w="4039935">
                  <a:extLst>
                    <a:ext uri="{9D8B030D-6E8A-4147-A177-3AD203B41FA5}">
                      <a16:colId xmlns:a16="http://schemas.microsoft.com/office/drawing/2014/main" val="2809241620"/>
                    </a:ext>
                  </a:extLst>
                </a:gridCol>
              </a:tblGrid>
              <a:tr h="434774">
                <a:tc>
                  <a:txBody>
                    <a:bodyPr/>
                    <a:lstStyle/>
                    <a:p>
                      <a:pPr marL="0" marR="0">
                        <a:lnSpc>
                          <a:spcPct val="115000"/>
                        </a:lnSpc>
                        <a:spcAft>
                          <a:spcPts val="1000"/>
                        </a:spcAft>
                        <a:buNone/>
                      </a:pPr>
                      <a:r>
                        <a:rPr lang="en-US" sz="4000">
                          <a:effectLst/>
                        </a:rPr>
                        <a:t>Attendance</a:t>
                      </a:r>
                      <a:endParaRPr lang="en-US" sz="4000">
                        <a:effectLst/>
                        <a:latin typeface="Arial" panose="020B0604020202020204" pitchFamily="34" charset="0"/>
                        <a:ea typeface="MS Mincho" panose="02020609040205080304" pitchFamily="49" charset="-128"/>
                        <a:cs typeface="Times New Roman" panose="02020603050405020304" pitchFamily="18" charset="0"/>
                      </a:endParaRPr>
                    </a:p>
                  </a:txBody>
                  <a:tcPr marL="173140" marR="173140" marT="0" marB="0"/>
                </a:tc>
                <a:tc>
                  <a:txBody>
                    <a:bodyPr/>
                    <a:lstStyle/>
                    <a:p>
                      <a:pPr marL="0" marR="0">
                        <a:lnSpc>
                          <a:spcPct val="115000"/>
                        </a:lnSpc>
                        <a:spcAft>
                          <a:spcPts val="1000"/>
                        </a:spcAft>
                        <a:buNone/>
                      </a:pPr>
                      <a:r>
                        <a:rPr lang="en-US" sz="4000">
                          <a:effectLst/>
                        </a:rPr>
                        <a:t>GPA</a:t>
                      </a:r>
                      <a:endParaRPr lang="en-US" sz="4000">
                        <a:effectLst/>
                        <a:latin typeface="Arial" panose="020B0604020202020204" pitchFamily="34" charset="0"/>
                        <a:ea typeface="MS Mincho" panose="02020609040205080304" pitchFamily="49" charset="-128"/>
                        <a:cs typeface="Times New Roman" panose="02020603050405020304" pitchFamily="18" charset="0"/>
                      </a:endParaRPr>
                    </a:p>
                  </a:txBody>
                  <a:tcPr marL="173140" marR="173140" marT="0" marB="0"/>
                </a:tc>
                <a:tc>
                  <a:txBody>
                    <a:bodyPr/>
                    <a:lstStyle/>
                    <a:p>
                      <a:pPr marL="0" marR="0">
                        <a:lnSpc>
                          <a:spcPct val="115000"/>
                        </a:lnSpc>
                        <a:spcAft>
                          <a:spcPts val="1000"/>
                        </a:spcAft>
                        <a:buNone/>
                      </a:pPr>
                      <a:r>
                        <a:rPr lang="en-US" sz="4000">
                          <a:effectLst/>
                        </a:rPr>
                        <a:t>Failed Subjects</a:t>
                      </a:r>
                      <a:endParaRPr lang="en-US" sz="4000">
                        <a:effectLst/>
                        <a:latin typeface="Arial" panose="020B0604020202020204" pitchFamily="34" charset="0"/>
                        <a:ea typeface="MS Mincho" panose="02020609040205080304" pitchFamily="49" charset="-128"/>
                        <a:cs typeface="Times New Roman" panose="02020603050405020304" pitchFamily="18" charset="0"/>
                      </a:endParaRPr>
                    </a:p>
                  </a:txBody>
                  <a:tcPr marL="173140" marR="173140" marT="0" marB="0"/>
                </a:tc>
                <a:tc>
                  <a:txBody>
                    <a:bodyPr/>
                    <a:lstStyle/>
                    <a:p>
                      <a:pPr marL="0" marR="0">
                        <a:lnSpc>
                          <a:spcPct val="115000"/>
                        </a:lnSpc>
                        <a:spcAft>
                          <a:spcPts val="1000"/>
                        </a:spcAft>
                        <a:buNone/>
                      </a:pPr>
                      <a:r>
                        <a:rPr lang="en-US" sz="4000">
                          <a:effectLst/>
                        </a:rPr>
                        <a:t>Risk Status</a:t>
                      </a:r>
                      <a:endParaRPr lang="en-US" sz="4000">
                        <a:effectLst/>
                        <a:latin typeface="Arial" panose="020B0604020202020204" pitchFamily="34" charset="0"/>
                        <a:ea typeface="MS Mincho" panose="02020609040205080304" pitchFamily="49" charset="-128"/>
                        <a:cs typeface="Times New Roman" panose="02020603050405020304" pitchFamily="18" charset="0"/>
                      </a:endParaRPr>
                    </a:p>
                  </a:txBody>
                  <a:tcPr marL="173140" marR="173140" marT="0" marB="0"/>
                </a:tc>
                <a:extLst>
                  <a:ext uri="{0D108BD9-81ED-4DB2-BD59-A6C34878D82A}">
                    <a16:rowId xmlns:a16="http://schemas.microsoft.com/office/drawing/2014/main" val="2985634506"/>
                  </a:ext>
                </a:extLst>
              </a:tr>
              <a:tr h="434774">
                <a:tc>
                  <a:txBody>
                    <a:bodyPr/>
                    <a:lstStyle/>
                    <a:p>
                      <a:pPr marL="0" marR="0">
                        <a:lnSpc>
                          <a:spcPct val="115000"/>
                        </a:lnSpc>
                        <a:spcAft>
                          <a:spcPts val="1000"/>
                        </a:spcAft>
                        <a:buNone/>
                      </a:pPr>
                      <a:r>
                        <a:rPr lang="en-US" sz="4000">
                          <a:effectLst/>
                        </a:rPr>
                        <a:t>95</a:t>
                      </a:r>
                      <a:endParaRPr lang="en-US" sz="4000">
                        <a:effectLst/>
                        <a:latin typeface="Arial" panose="020B0604020202020204" pitchFamily="34" charset="0"/>
                        <a:ea typeface="MS Mincho" panose="02020609040205080304" pitchFamily="49" charset="-128"/>
                        <a:cs typeface="Times New Roman" panose="02020603050405020304" pitchFamily="18" charset="0"/>
                      </a:endParaRPr>
                    </a:p>
                  </a:txBody>
                  <a:tcPr marL="173140" marR="173140" marT="0" marB="0"/>
                </a:tc>
                <a:tc>
                  <a:txBody>
                    <a:bodyPr/>
                    <a:lstStyle/>
                    <a:p>
                      <a:pPr marL="0" marR="0">
                        <a:lnSpc>
                          <a:spcPct val="115000"/>
                        </a:lnSpc>
                        <a:spcAft>
                          <a:spcPts val="1000"/>
                        </a:spcAft>
                        <a:buNone/>
                      </a:pPr>
                      <a:r>
                        <a:rPr lang="en-US" sz="4000">
                          <a:effectLst/>
                        </a:rPr>
                        <a:t>1.75</a:t>
                      </a:r>
                      <a:endParaRPr lang="en-US" sz="4000">
                        <a:effectLst/>
                        <a:latin typeface="Arial" panose="020B0604020202020204" pitchFamily="34" charset="0"/>
                        <a:ea typeface="MS Mincho" panose="02020609040205080304" pitchFamily="49" charset="-128"/>
                        <a:cs typeface="Times New Roman" panose="02020603050405020304" pitchFamily="18" charset="0"/>
                      </a:endParaRPr>
                    </a:p>
                  </a:txBody>
                  <a:tcPr marL="173140" marR="173140" marT="0" marB="0"/>
                </a:tc>
                <a:tc>
                  <a:txBody>
                    <a:bodyPr/>
                    <a:lstStyle/>
                    <a:p>
                      <a:pPr marL="0" marR="0">
                        <a:lnSpc>
                          <a:spcPct val="115000"/>
                        </a:lnSpc>
                        <a:spcAft>
                          <a:spcPts val="1000"/>
                        </a:spcAft>
                        <a:buNone/>
                      </a:pPr>
                      <a:r>
                        <a:rPr lang="en-US" sz="4000">
                          <a:effectLst/>
                        </a:rPr>
                        <a:t>0</a:t>
                      </a:r>
                      <a:endParaRPr lang="en-US" sz="4000">
                        <a:effectLst/>
                        <a:latin typeface="Arial" panose="020B0604020202020204" pitchFamily="34" charset="0"/>
                        <a:ea typeface="MS Mincho" panose="02020609040205080304" pitchFamily="49" charset="-128"/>
                        <a:cs typeface="Times New Roman" panose="02020603050405020304" pitchFamily="18" charset="0"/>
                      </a:endParaRPr>
                    </a:p>
                  </a:txBody>
                  <a:tcPr marL="173140" marR="173140" marT="0" marB="0"/>
                </a:tc>
                <a:tc>
                  <a:txBody>
                    <a:bodyPr/>
                    <a:lstStyle/>
                    <a:p>
                      <a:pPr marL="0" marR="0">
                        <a:lnSpc>
                          <a:spcPct val="115000"/>
                        </a:lnSpc>
                        <a:spcAft>
                          <a:spcPts val="1000"/>
                        </a:spcAft>
                        <a:buNone/>
                      </a:pPr>
                      <a:r>
                        <a:rPr lang="en-US" sz="4000">
                          <a:effectLst/>
                        </a:rPr>
                        <a:t>Not at Risk</a:t>
                      </a:r>
                      <a:endParaRPr lang="en-US" sz="4000">
                        <a:effectLst/>
                        <a:latin typeface="Arial" panose="020B0604020202020204" pitchFamily="34" charset="0"/>
                        <a:ea typeface="MS Mincho" panose="02020609040205080304" pitchFamily="49" charset="-128"/>
                        <a:cs typeface="Times New Roman" panose="02020603050405020304" pitchFamily="18" charset="0"/>
                      </a:endParaRPr>
                    </a:p>
                  </a:txBody>
                  <a:tcPr marL="173140" marR="173140" marT="0" marB="0"/>
                </a:tc>
                <a:extLst>
                  <a:ext uri="{0D108BD9-81ED-4DB2-BD59-A6C34878D82A}">
                    <a16:rowId xmlns:a16="http://schemas.microsoft.com/office/drawing/2014/main" val="417577701"/>
                  </a:ext>
                </a:extLst>
              </a:tr>
              <a:tr h="434774">
                <a:tc>
                  <a:txBody>
                    <a:bodyPr/>
                    <a:lstStyle/>
                    <a:p>
                      <a:pPr marL="0" marR="0">
                        <a:lnSpc>
                          <a:spcPct val="115000"/>
                        </a:lnSpc>
                        <a:spcAft>
                          <a:spcPts val="1000"/>
                        </a:spcAft>
                        <a:buNone/>
                      </a:pPr>
                      <a:r>
                        <a:rPr lang="en-US" sz="4000">
                          <a:effectLst/>
                        </a:rPr>
                        <a:t>60</a:t>
                      </a:r>
                      <a:endParaRPr lang="en-US" sz="4000">
                        <a:effectLst/>
                        <a:latin typeface="Arial" panose="020B0604020202020204" pitchFamily="34" charset="0"/>
                        <a:ea typeface="MS Mincho" panose="02020609040205080304" pitchFamily="49" charset="-128"/>
                        <a:cs typeface="Times New Roman" panose="02020603050405020304" pitchFamily="18" charset="0"/>
                      </a:endParaRPr>
                    </a:p>
                  </a:txBody>
                  <a:tcPr marL="173140" marR="173140" marT="0" marB="0"/>
                </a:tc>
                <a:tc>
                  <a:txBody>
                    <a:bodyPr/>
                    <a:lstStyle/>
                    <a:p>
                      <a:pPr marL="0" marR="0">
                        <a:lnSpc>
                          <a:spcPct val="115000"/>
                        </a:lnSpc>
                        <a:spcAft>
                          <a:spcPts val="1000"/>
                        </a:spcAft>
                        <a:buNone/>
                      </a:pPr>
                      <a:r>
                        <a:rPr lang="en-US" sz="4000">
                          <a:effectLst/>
                        </a:rPr>
                        <a:t>3.00</a:t>
                      </a:r>
                      <a:endParaRPr lang="en-US" sz="4000">
                        <a:effectLst/>
                        <a:latin typeface="Arial" panose="020B0604020202020204" pitchFamily="34" charset="0"/>
                        <a:ea typeface="MS Mincho" panose="02020609040205080304" pitchFamily="49" charset="-128"/>
                        <a:cs typeface="Times New Roman" panose="02020603050405020304" pitchFamily="18" charset="0"/>
                      </a:endParaRPr>
                    </a:p>
                  </a:txBody>
                  <a:tcPr marL="173140" marR="173140" marT="0" marB="0"/>
                </a:tc>
                <a:tc>
                  <a:txBody>
                    <a:bodyPr/>
                    <a:lstStyle/>
                    <a:p>
                      <a:pPr marL="0" marR="0">
                        <a:lnSpc>
                          <a:spcPct val="115000"/>
                        </a:lnSpc>
                        <a:spcAft>
                          <a:spcPts val="1000"/>
                        </a:spcAft>
                        <a:buNone/>
                      </a:pPr>
                      <a:r>
                        <a:rPr lang="en-US" sz="4000">
                          <a:effectLst/>
                        </a:rPr>
                        <a:t>3</a:t>
                      </a:r>
                      <a:endParaRPr lang="en-US" sz="4000">
                        <a:effectLst/>
                        <a:latin typeface="Arial" panose="020B0604020202020204" pitchFamily="34" charset="0"/>
                        <a:ea typeface="MS Mincho" panose="02020609040205080304" pitchFamily="49" charset="-128"/>
                        <a:cs typeface="Times New Roman" panose="02020603050405020304" pitchFamily="18" charset="0"/>
                      </a:endParaRPr>
                    </a:p>
                  </a:txBody>
                  <a:tcPr marL="173140" marR="173140" marT="0" marB="0"/>
                </a:tc>
                <a:tc>
                  <a:txBody>
                    <a:bodyPr/>
                    <a:lstStyle/>
                    <a:p>
                      <a:pPr marL="0" marR="0">
                        <a:lnSpc>
                          <a:spcPct val="115000"/>
                        </a:lnSpc>
                        <a:spcAft>
                          <a:spcPts val="1000"/>
                        </a:spcAft>
                        <a:buNone/>
                      </a:pPr>
                      <a:r>
                        <a:rPr lang="en-US" sz="4000" dirty="0">
                          <a:effectLst/>
                        </a:rPr>
                        <a:t>At Risk</a:t>
                      </a:r>
                      <a:endParaRPr lang="en-US" sz="4000" dirty="0">
                        <a:effectLst/>
                        <a:latin typeface="Arial" panose="020B0604020202020204" pitchFamily="34" charset="0"/>
                        <a:ea typeface="MS Mincho" panose="02020609040205080304" pitchFamily="49" charset="-128"/>
                        <a:cs typeface="Times New Roman" panose="02020603050405020304" pitchFamily="18" charset="0"/>
                      </a:endParaRPr>
                    </a:p>
                  </a:txBody>
                  <a:tcPr marL="173140" marR="173140" marT="0" marB="0"/>
                </a:tc>
                <a:extLst>
                  <a:ext uri="{0D108BD9-81ED-4DB2-BD59-A6C34878D82A}">
                    <a16:rowId xmlns:a16="http://schemas.microsoft.com/office/drawing/2014/main" val="3225629543"/>
                  </a:ext>
                </a:extLst>
              </a:tr>
            </a:tbl>
          </a:graphicData>
        </a:graphic>
      </p:graphicFrame>
      <p:sp>
        <p:nvSpPr>
          <p:cNvPr id="5" name="TextBox 4">
            <a:extLst>
              <a:ext uri="{FF2B5EF4-FFF2-40B4-BE49-F238E27FC236}">
                <a16:creationId xmlns:a16="http://schemas.microsoft.com/office/drawing/2014/main" id="{DB84B88C-9A32-51C0-AAF3-3FDEB222F144}"/>
              </a:ext>
            </a:extLst>
          </p:cNvPr>
          <p:cNvSpPr txBox="1"/>
          <p:nvPr/>
        </p:nvSpPr>
        <p:spPr>
          <a:xfrm>
            <a:off x="457200" y="7962900"/>
            <a:ext cx="16383000" cy="1754326"/>
          </a:xfrm>
          <a:prstGeom prst="rect">
            <a:avLst/>
          </a:prstGeom>
          <a:noFill/>
        </p:spPr>
        <p:txBody>
          <a:bodyPr wrap="square" rtlCol="0">
            <a:spAutoFit/>
          </a:bodyPr>
          <a:lstStyle/>
          <a:p>
            <a:r>
              <a:rPr lang="en-US" sz="3600" dirty="0"/>
              <a:t>Students should avoid including variables that reveal the target directly or information that would not realistically be available at prediction time.</a:t>
            </a:r>
          </a:p>
          <a:p>
            <a:endParaRPr lang="en-US" sz="3600" dirty="0"/>
          </a:p>
        </p:txBody>
      </p:sp>
    </p:spTree>
    <p:extLst>
      <p:ext uri="{BB962C8B-B14F-4D97-AF65-F5344CB8AC3E}">
        <p14:creationId xmlns:p14="http://schemas.microsoft.com/office/powerpoint/2010/main" val="2490968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86811-5493-7CD6-C86D-C89BA4F68EA2}"/>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7938BBA2-96FE-836F-56F9-22FCBF7D089A}"/>
              </a:ext>
            </a:extLst>
          </p:cNvPr>
          <p:cNvSpPr txBox="1"/>
          <p:nvPr/>
        </p:nvSpPr>
        <p:spPr>
          <a:xfrm>
            <a:off x="304800" y="15688"/>
            <a:ext cx="14817190" cy="1038746"/>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What is a Baseline Model?</a:t>
            </a:r>
          </a:p>
        </p:txBody>
      </p:sp>
      <p:sp>
        <p:nvSpPr>
          <p:cNvPr id="4" name="TextBox 3">
            <a:extLst>
              <a:ext uri="{FF2B5EF4-FFF2-40B4-BE49-F238E27FC236}">
                <a16:creationId xmlns:a16="http://schemas.microsoft.com/office/drawing/2014/main" id="{BEE0E901-9007-490A-BFCD-9656C17B2E4D}"/>
              </a:ext>
            </a:extLst>
          </p:cNvPr>
          <p:cNvSpPr txBox="1"/>
          <p:nvPr/>
        </p:nvSpPr>
        <p:spPr>
          <a:xfrm>
            <a:off x="304800" y="1054434"/>
            <a:ext cx="17465936" cy="9325630"/>
          </a:xfrm>
          <a:prstGeom prst="rect">
            <a:avLst/>
          </a:prstGeom>
          <a:noFill/>
        </p:spPr>
        <p:txBody>
          <a:bodyPr wrap="square">
            <a:spAutoFit/>
          </a:bodyPr>
          <a:lstStyle/>
          <a:p>
            <a:pPr marL="571500" indent="-571500">
              <a:buFont typeface="Arial" panose="020B0604020202020204" pitchFamily="34" charset="0"/>
              <a:buChar char="•"/>
            </a:pPr>
            <a:r>
              <a:rPr lang="en-US" sz="4000" dirty="0"/>
              <a:t>Example progression for classification: begin with a most-frequent Dummy Classifier to establish a naive reference, then train Logistic Regression as a simple learned baseline. Only after establishing these references should students compare Decision Tree, KNN, Random Forest, or other justified algorithms. </a:t>
            </a:r>
          </a:p>
          <a:p>
            <a:pPr marL="571500" indent="-571500">
              <a:buFont typeface="Arial" panose="020B0604020202020204" pitchFamily="34" charset="0"/>
              <a:buChar char="•"/>
            </a:pPr>
            <a:r>
              <a:rPr lang="en-US" sz="4000" dirty="0"/>
              <a:t>For regression, a mean Dummy Regressor can be followed by Linear Regression before more flexible models are tested.</a:t>
            </a:r>
          </a:p>
          <a:p>
            <a:pPr marL="571500" indent="-571500">
              <a:buFont typeface="Arial" panose="020B0604020202020204" pitchFamily="34" charset="0"/>
              <a:buChar char="•"/>
            </a:pPr>
            <a:r>
              <a:rPr lang="en-US" sz="4000" dirty="0"/>
              <a:t>For NLP text classification, a transparent baseline is TF-IDF plus Logistic Regression or Multinomial Naive Bayes. This allows students to understand feature extraction and model behavior before moving to embeddings or transformer-based methods.</a:t>
            </a:r>
          </a:p>
          <a:p>
            <a:pPr marL="571500" indent="-571500">
              <a:buFont typeface="Arial" panose="020B0604020202020204" pitchFamily="34" charset="0"/>
              <a:buChar char="•"/>
            </a:pPr>
            <a:r>
              <a:rPr lang="en-US" sz="4000" dirty="0"/>
              <a:t>A baseline model is an initial model used as a reference point for later comparison. It is usually simple, computationally manageable, reproducible, and sufficiently interpretable for an initial experiment. The baseline answers: What level of performance can be achieved using a reasonable initial approach?</a:t>
            </a:r>
          </a:p>
          <a:p>
            <a:pPr marL="571500" indent="-571500">
              <a:buFont typeface="Arial" panose="020B0604020202020204" pitchFamily="34" charset="0"/>
              <a:buChar char="•"/>
            </a:pPr>
            <a:endParaRPr lang="en-US" sz="4000" dirty="0"/>
          </a:p>
        </p:txBody>
      </p:sp>
    </p:spTree>
    <p:extLst>
      <p:ext uri="{BB962C8B-B14F-4D97-AF65-F5344CB8AC3E}">
        <p14:creationId xmlns:p14="http://schemas.microsoft.com/office/powerpoint/2010/main" val="2712427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7427B-2A4A-3144-A648-D1634F3326FE}"/>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096C70A5-8967-7EB5-614C-D2E4F0AD5BDA}"/>
              </a:ext>
            </a:extLst>
          </p:cNvPr>
          <p:cNvSpPr txBox="1"/>
          <p:nvPr/>
        </p:nvSpPr>
        <p:spPr>
          <a:xfrm>
            <a:off x="304800" y="15688"/>
            <a:ext cx="14817190" cy="1038746"/>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Example</a:t>
            </a:r>
          </a:p>
        </p:txBody>
      </p:sp>
      <p:sp>
        <p:nvSpPr>
          <p:cNvPr id="4" name="TextBox 3">
            <a:extLst>
              <a:ext uri="{FF2B5EF4-FFF2-40B4-BE49-F238E27FC236}">
                <a16:creationId xmlns:a16="http://schemas.microsoft.com/office/drawing/2014/main" id="{C3E4018F-66AE-DAC6-C151-E0BA673E571A}"/>
              </a:ext>
            </a:extLst>
          </p:cNvPr>
          <p:cNvSpPr txBox="1"/>
          <p:nvPr/>
        </p:nvSpPr>
        <p:spPr>
          <a:xfrm>
            <a:off x="304800" y="1054434"/>
            <a:ext cx="17465936" cy="6186309"/>
          </a:xfrm>
          <a:prstGeom prst="rect">
            <a:avLst/>
          </a:prstGeom>
          <a:noFill/>
        </p:spPr>
        <p:txBody>
          <a:bodyPr wrap="square">
            <a:spAutoFit/>
          </a:bodyPr>
          <a:lstStyle/>
          <a:p>
            <a:r>
              <a:rPr lang="en-US" sz="3600" dirty="0"/>
              <a:t>Suppose there are </a:t>
            </a:r>
            <a:r>
              <a:rPr lang="en-US" sz="3600" b="1" dirty="0"/>
              <a:t>100 students</a:t>
            </a:r>
            <a:r>
              <a:rPr lang="en-US" sz="3600" dirty="0"/>
              <a:t>, with 70 </a:t>
            </a:r>
            <a:r>
              <a:rPr lang="en-US" sz="3600" i="1" dirty="0"/>
              <a:t>Not at Risk</a:t>
            </a:r>
            <a:r>
              <a:rPr lang="en-US" sz="3600" dirty="0"/>
              <a:t> and 30 </a:t>
            </a:r>
            <a:r>
              <a:rPr lang="en-US" sz="3600" i="1" dirty="0"/>
              <a:t>At Risk</a:t>
            </a:r>
            <a:r>
              <a:rPr lang="en-US" sz="3600" dirty="0"/>
              <a:t>.</a:t>
            </a:r>
          </a:p>
          <a:p>
            <a:r>
              <a:rPr lang="en-US" sz="3600" dirty="0"/>
              <a:t>A </a:t>
            </a:r>
            <a:r>
              <a:rPr lang="en-US" sz="3600" b="1" dirty="0"/>
              <a:t>Dummy Classifier</a:t>
            </a:r>
            <a:r>
              <a:rPr lang="en-US" sz="3600" dirty="0"/>
              <a:t> that always predicts </a:t>
            </a:r>
            <a:r>
              <a:rPr lang="en-US" sz="3600" i="1" dirty="0"/>
              <a:t>Not at Risk</a:t>
            </a:r>
            <a:r>
              <a:rPr lang="en-US" sz="3600" dirty="0"/>
              <a:t> would obtain:</a:t>
            </a:r>
          </a:p>
          <a:p>
            <a:r>
              <a:rPr lang="en-US" sz="3600" b="1" dirty="0"/>
              <a:t>Accuracy = 70%</a:t>
            </a:r>
            <a:endParaRPr lang="en-US" sz="3600" dirty="0"/>
          </a:p>
          <a:p>
            <a:r>
              <a:rPr lang="en-US" sz="3600" dirty="0"/>
              <a:t>This becomes a very simple reference point.</a:t>
            </a:r>
          </a:p>
          <a:p>
            <a:r>
              <a:rPr lang="en-US" sz="3600" dirty="0"/>
              <a:t>Then the students train </a:t>
            </a:r>
            <a:r>
              <a:rPr lang="en-US" sz="3600" b="1" dirty="0"/>
              <a:t>Logistic Regression</a:t>
            </a:r>
            <a:r>
              <a:rPr lang="en-US" sz="3600" dirty="0"/>
              <a:t> and obtain, for example:</a:t>
            </a:r>
          </a:p>
          <a:p>
            <a:r>
              <a:rPr lang="en-US" sz="3600" b="1" dirty="0"/>
              <a:t>Accuracy = 82%, Precision = 78%, Recall = 75%, F1 = 76%</a:t>
            </a:r>
            <a:endParaRPr lang="en-US" sz="3600" dirty="0"/>
          </a:p>
          <a:p>
            <a:r>
              <a:rPr lang="en-US" sz="3600" dirty="0"/>
              <a:t>They can then test </a:t>
            </a:r>
            <a:r>
              <a:rPr lang="en-US" sz="3600" b="1" dirty="0"/>
              <a:t>Decision Tree, KNN, and Random Forest</a:t>
            </a:r>
            <a:r>
              <a:rPr lang="en-US" sz="3600" dirty="0"/>
              <a:t> and determine whether these models provide meaningful improvement.</a:t>
            </a:r>
          </a:p>
          <a:p>
            <a:endParaRPr lang="en-US" sz="3600" dirty="0"/>
          </a:p>
          <a:p>
            <a:r>
              <a:rPr lang="en-US" sz="3600" dirty="0"/>
              <a:t>The important point is:</a:t>
            </a:r>
          </a:p>
          <a:p>
            <a:r>
              <a:rPr lang="en-US" sz="3600" b="1" dirty="0"/>
              <a:t>Baseline → Compare → Improve → Evaluate → Justify</a:t>
            </a:r>
            <a:endParaRPr lang="en-US" sz="3600" dirty="0"/>
          </a:p>
        </p:txBody>
      </p:sp>
      <p:sp>
        <p:nvSpPr>
          <p:cNvPr id="5" name="TextBox 4">
            <a:extLst>
              <a:ext uri="{FF2B5EF4-FFF2-40B4-BE49-F238E27FC236}">
                <a16:creationId xmlns:a16="http://schemas.microsoft.com/office/drawing/2014/main" id="{13A1738E-F95D-1275-EBC2-B6DC037630CF}"/>
              </a:ext>
            </a:extLst>
          </p:cNvPr>
          <p:cNvSpPr txBox="1"/>
          <p:nvPr/>
        </p:nvSpPr>
        <p:spPr>
          <a:xfrm>
            <a:off x="304800" y="7240743"/>
            <a:ext cx="17145000" cy="2800767"/>
          </a:xfrm>
          <a:prstGeom prst="rect">
            <a:avLst/>
          </a:prstGeom>
          <a:noFill/>
        </p:spPr>
        <p:txBody>
          <a:bodyPr wrap="square">
            <a:spAutoFit/>
          </a:bodyPr>
          <a:lstStyle/>
          <a:p>
            <a:r>
              <a:rPr lang="en-US" sz="4400" dirty="0"/>
              <a:t>A model should not be considered an improvement merely because it is more sophisticated. Students should demonstrate that it improves relevant performance measures, generalizes to unseen data, and remains appropriate for the research problem. </a:t>
            </a:r>
          </a:p>
        </p:txBody>
      </p:sp>
    </p:spTree>
    <p:extLst>
      <p:ext uri="{BB962C8B-B14F-4D97-AF65-F5344CB8AC3E}">
        <p14:creationId xmlns:p14="http://schemas.microsoft.com/office/powerpoint/2010/main" val="12733943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42316-5F3F-9901-61A1-A16137A0FE92}"/>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4901CD88-00A9-D06C-9068-DBA201934E85}"/>
              </a:ext>
            </a:extLst>
          </p:cNvPr>
          <p:cNvSpPr txBox="1"/>
          <p:nvPr/>
        </p:nvSpPr>
        <p:spPr>
          <a:xfrm>
            <a:off x="304800" y="15688"/>
            <a:ext cx="14817190" cy="1038746"/>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Characteristics of a Good Baseline</a:t>
            </a:r>
          </a:p>
        </p:txBody>
      </p:sp>
      <p:sp>
        <p:nvSpPr>
          <p:cNvPr id="4" name="TextBox 3">
            <a:extLst>
              <a:ext uri="{FF2B5EF4-FFF2-40B4-BE49-F238E27FC236}">
                <a16:creationId xmlns:a16="http://schemas.microsoft.com/office/drawing/2014/main" id="{4788AD37-0DB8-A1C8-50ED-F7414C9E132F}"/>
              </a:ext>
            </a:extLst>
          </p:cNvPr>
          <p:cNvSpPr txBox="1"/>
          <p:nvPr/>
        </p:nvSpPr>
        <p:spPr>
          <a:xfrm>
            <a:off x="304800" y="1054434"/>
            <a:ext cx="17465936" cy="5632311"/>
          </a:xfrm>
          <a:prstGeom prst="rect">
            <a:avLst/>
          </a:prstGeom>
          <a:noFill/>
        </p:spPr>
        <p:txBody>
          <a:bodyPr wrap="square">
            <a:spAutoFit/>
          </a:bodyPr>
          <a:lstStyle/>
          <a:p>
            <a:pPr marL="857250" indent="-857250">
              <a:buFont typeface="Arial" panose="020B0604020202020204" pitchFamily="34" charset="0"/>
              <a:buChar char="•"/>
            </a:pPr>
            <a:r>
              <a:rPr lang="en-US" sz="6000" dirty="0"/>
              <a:t>Appropriate for the identified problem type.</a:t>
            </a:r>
          </a:p>
          <a:p>
            <a:pPr marL="857250" indent="-857250">
              <a:buFont typeface="Arial" panose="020B0604020202020204" pitchFamily="34" charset="0"/>
              <a:buChar char="•"/>
            </a:pPr>
            <a:r>
              <a:rPr lang="en-US" sz="6000" dirty="0"/>
              <a:t>Simple enough to implement and explain.</a:t>
            </a:r>
          </a:p>
          <a:p>
            <a:pPr marL="857250" indent="-857250">
              <a:buFont typeface="Arial" panose="020B0604020202020204" pitchFamily="34" charset="0"/>
              <a:buChar char="•"/>
            </a:pPr>
            <a:r>
              <a:rPr lang="en-US" sz="6000" dirty="0"/>
              <a:t>Reproducible.</a:t>
            </a:r>
          </a:p>
          <a:p>
            <a:pPr marL="857250" indent="-857250">
              <a:buFont typeface="Arial" panose="020B0604020202020204" pitchFamily="34" charset="0"/>
              <a:buChar char="•"/>
            </a:pPr>
            <a:r>
              <a:rPr lang="en-US" sz="6000" dirty="0"/>
              <a:t>Evaluated using appropriate metrics.</a:t>
            </a:r>
          </a:p>
          <a:p>
            <a:pPr marL="857250" indent="-857250">
              <a:buFont typeface="Arial" panose="020B0604020202020204" pitchFamily="34" charset="0"/>
              <a:buChar char="•"/>
            </a:pPr>
            <a:r>
              <a:rPr lang="en-US" sz="6000" dirty="0"/>
              <a:t>Used as a reference for later improvement and comparison.</a:t>
            </a:r>
          </a:p>
        </p:txBody>
      </p:sp>
    </p:spTree>
    <p:extLst>
      <p:ext uri="{BB962C8B-B14F-4D97-AF65-F5344CB8AC3E}">
        <p14:creationId xmlns:p14="http://schemas.microsoft.com/office/powerpoint/2010/main" val="2715416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9DF41-30A0-4FA3-BFDB-4BBEAB2F8EA7}"/>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3C8F8BDE-F420-600E-B6AF-23541B7D0001}"/>
              </a:ext>
            </a:extLst>
          </p:cNvPr>
          <p:cNvSpPr txBox="1"/>
          <p:nvPr/>
        </p:nvSpPr>
        <p:spPr>
          <a:xfrm>
            <a:off x="304800" y="15688"/>
            <a:ext cx="14817190" cy="1038746"/>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Baseline Versus Advanced Models</a:t>
            </a:r>
          </a:p>
        </p:txBody>
      </p:sp>
      <p:sp>
        <p:nvSpPr>
          <p:cNvPr id="4" name="TextBox 3">
            <a:extLst>
              <a:ext uri="{FF2B5EF4-FFF2-40B4-BE49-F238E27FC236}">
                <a16:creationId xmlns:a16="http://schemas.microsoft.com/office/drawing/2014/main" id="{CDAC6852-469D-C151-A2AB-A8F679D85E88}"/>
              </a:ext>
            </a:extLst>
          </p:cNvPr>
          <p:cNvSpPr txBox="1"/>
          <p:nvPr/>
        </p:nvSpPr>
        <p:spPr>
          <a:xfrm>
            <a:off x="304800" y="1054434"/>
            <a:ext cx="17465936" cy="6001643"/>
          </a:xfrm>
          <a:prstGeom prst="rect">
            <a:avLst/>
          </a:prstGeom>
          <a:noFill/>
        </p:spPr>
        <p:txBody>
          <a:bodyPr wrap="square">
            <a:spAutoFit/>
          </a:bodyPr>
          <a:lstStyle/>
          <a:p>
            <a:pPr marL="571500" indent="-571500">
              <a:buFont typeface="Arial" panose="020B0604020202020204" pitchFamily="34" charset="0"/>
              <a:buChar char="•"/>
            </a:pPr>
            <a:r>
              <a:rPr lang="en-US" sz="4800" dirty="0"/>
              <a:t>A baseline is not necessarily the final model. Its purpose is to establish a measurable starting point. Later models can be evaluated to determine whether they provide meaningful improvement. A complex model is not automatically better simply because it is sophisticated.</a:t>
            </a:r>
          </a:p>
          <a:p>
            <a:pPr marL="571500" indent="-571500">
              <a:buFont typeface="Arial" panose="020B0604020202020204" pitchFamily="34" charset="0"/>
              <a:buChar char="•"/>
            </a:pPr>
            <a:r>
              <a:rPr lang="en-US" sz="4800" dirty="0"/>
              <a:t>Recommended progression: Understand the problem → Understand the data → Establish a baseline → Compare and improve.</a:t>
            </a:r>
          </a:p>
        </p:txBody>
      </p:sp>
    </p:spTree>
    <p:extLst>
      <p:ext uri="{BB962C8B-B14F-4D97-AF65-F5344CB8AC3E}">
        <p14:creationId xmlns:p14="http://schemas.microsoft.com/office/powerpoint/2010/main" val="33998946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A9AAB-E61C-81A7-FEF0-FF8AB36C4270}"/>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3DF54D6E-6104-5FB1-B3B7-8E0B4F7F5645}"/>
              </a:ext>
            </a:extLst>
          </p:cNvPr>
          <p:cNvSpPr txBox="1"/>
          <p:nvPr/>
        </p:nvSpPr>
        <p:spPr>
          <a:xfrm>
            <a:off x="304800" y="15688"/>
            <a:ext cx="14817190" cy="1038746"/>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Examples of Baseline Algorithms</a:t>
            </a:r>
          </a:p>
        </p:txBody>
      </p:sp>
      <p:sp>
        <p:nvSpPr>
          <p:cNvPr id="4" name="TextBox 3">
            <a:extLst>
              <a:ext uri="{FF2B5EF4-FFF2-40B4-BE49-F238E27FC236}">
                <a16:creationId xmlns:a16="http://schemas.microsoft.com/office/drawing/2014/main" id="{EA325EC8-E727-71D6-F27C-1ECDAB3C65A4}"/>
              </a:ext>
            </a:extLst>
          </p:cNvPr>
          <p:cNvSpPr txBox="1"/>
          <p:nvPr/>
        </p:nvSpPr>
        <p:spPr>
          <a:xfrm>
            <a:off x="304800" y="1054434"/>
            <a:ext cx="17465936" cy="8217634"/>
          </a:xfrm>
          <a:prstGeom prst="rect">
            <a:avLst/>
          </a:prstGeom>
          <a:noFill/>
        </p:spPr>
        <p:txBody>
          <a:bodyPr wrap="square">
            <a:spAutoFit/>
          </a:bodyPr>
          <a:lstStyle/>
          <a:p>
            <a:r>
              <a:rPr lang="en-US" sz="4400" b="1" dirty="0"/>
              <a:t>For Classification</a:t>
            </a:r>
          </a:p>
          <a:p>
            <a:pPr marL="571500" lvl="0" indent="-571500">
              <a:buFont typeface="Arial" panose="020B0604020202020204" pitchFamily="34" charset="0"/>
              <a:buChar char="•"/>
            </a:pPr>
            <a:r>
              <a:rPr lang="en-US" sz="4400" dirty="0"/>
              <a:t>Dummy Classifier or majority-class baseline</a:t>
            </a:r>
          </a:p>
          <a:p>
            <a:pPr marL="571500" lvl="0" indent="-571500">
              <a:buFont typeface="Arial" panose="020B0604020202020204" pitchFamily="34" charset="0"/>
              <a:buChar char="•"/>
            </a:pPr>
            <a:r>
              <a:rPr lang="en-US" sz="4400" dirty="0"/>
              <a:t>Logistic Regression</a:t>
            </a:r>
          </a:p>
          <a:p>
            <a:pPr marL="571500" lvl="0" indent="-571500">
              <a:buFont typeface="Arial" panose="020B0604020202020204" pitchFamily="34" charset="0"/>
              <a:buChar char="•"/>
            </a:pPr>
            <a:r>
              <a:rPr lang="en-US" sz="4400" dirty="0"/>
              <a:t>Decision Tree</a:t>
            </a:r>
          </a:p>
          <a:p>
            <a:pPr marL="571500" lvl="0" indent="-571500">
              <a:buFont typeface="Arial" panose="020B0604020202020204" pitchFamily="34" charset="0"/>
              <a:buChar char="•"/>
            </a:pPr>
            <a:r>
              <a:rPr lang="en-US" sz="4400" dirty="0"/>
              <a:t>k-Nearest Neighbors (KNN)</a:t>
            </a:r>
          </a:p>
          <a:p>
            <a:r>
              <a:rPr lang="en-US" sz="4400" b="1" dirty="0"/>
              <a:t>For Regression</a:t>
            </a:r>
          </a:p>
          <a:p>
            <a:pPr marL="571500" lvl="0" indent="-571500">
              <a:buFont typeface="Arial" panose="020B0604020202020204" pitchFamily="34" charset="0"/>
              <a:buChar char="•"/>
            </a:pPr>
            <a:r>
              <a:rPr lang="en-US" sz="4400" dirty="0"/>
              <a:t>Dummy Regressor or mean-prediction baseline</a:t>
            </a:r>
          </a:p>
          <a:p>
            <a:pPr marL="571500" lvl="0" indent="-571500">
              <a:buFont typeface="Arial" panose="020B0604020202020204" pitchFamily="34" charset="0"/>
              <a:buChar char="•"/>
            </a:pPr>
            <a:r>
              <a:rPr lang="en-US" sz="4400" dirty="0"/>
              <a:t>Linear Regression</a:t>
            </a:r>
          </a:p>
          <a:p>
            <a:pPr marL="571500" lvl="0" indent="-571500">
              <a:buFont typeface="Arial" panose="020B0604020202020204" pitchFamily="34" charset="0"/>
              <a:buChar char="•"/>
            </a:pPr>
            <a:r>
              <a:rPr lang="en-US" sz="4400" dirty="0"/>
              <a:t>Decision Tree Regressor</a:t>
            </a:r>
          </a:p>
          <a:p>
            <a:r>
              <a:rPr lang="en-US" sz="4400" dirty="0"/>
              <a:t>For introductory thesis work, students may begin with an interpretable algorithm such as Logistic Regression for classification or Linear Regression for regression, unless the data characteristics justify another choice.</a:t>
            </a:r>
          </a:p>
        </p:txBody>
      </p:sp>
    </p:spTree>
    <p:extLst>
      <p:ext uri="{BB962C8B-B14F-4D97-AF65-F5344CB8AC3E}">
        <p14:creationId xmlns:p14="http://schemas.microsoft.com/office/powerpoint/2010/main" val="32151996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705A0-0983-8C11-6D5C-B0B054089D05}"/>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2924B942-9E84-FA32-00EA-D6F554CF06A0}"/>
              </a:ext>
            </a:extLst>
          </p:cNvPr>
          <p:cNvSpPr txBox="1"/>
          <p:nvPr/>
        </p:nvSpPr>
        <p:spPr>
          <a:xfrm>
            <a:off x="304800" y="15688"/>
            <a:ext cx="14817190" cy="1038746"/>
          </a:xfrm>
          <a:prstGeom prst="rect">
            <a:avLst/>
          </a:prstGeom>
        </p:spPr>
        <p:txBody>
          <a:bodyPr lIns="0" tIns="0" rIns="0" bIns="0" rtlCol="0" anchor="t">
            <a:spAutoFit/>
          </a:bodyPr>
          <a:lstStyle/>
          <a:p>
            <a:pPr marL="0" lvl="0" indent="0" algn="l">
              <a:lnSpc>
                <a:spcPts val="8400"/>
              </a:lnSpc>
              <a:spcBef>
                <a:spcPct val="0"/>
              </a:spcBef>
            </a:pPr>
            <a:r>
              <a:rPr lang="en-US" sz="5400" b="1" dirty="0">
                <a:solidFill>
                  <a:srgbClr val="22588D"/>
                </a:solidFill>
                <a:latin typeface="Museo Moderno Bold"/>
                <a:ea typeface="Museo Moderno Bold"/>
                <a:cs typeface="Museo Moderno Bold"/>
                <a:sym typeface="Museo Moderno Bold"/>
              </a:rPr>
              <a:t>What is a Baseline Model?</a:t>
            </a:r>
          </a:p>
        </p:txBody>
      </p:sp>
      <p:graphicFrame>
        <p:nvGraphicFramePr>
          <p:cNvPr id="2" name="Table 1">
            <a:extLst>
              <a:ext uri="{FF2B5EF4-FFF2-40B4-BE49-F238E27FC236}">
                <a16:creationId xmlns:a16="http://schemas.microsoft.com/office/drawing/2014/main" id="{C84AC8BF-1477-6984-E8A0-DEFA48ED6D15}"/>
              </a:ext>
            </a:extLst>
          </p:cNvPr>
          <p:cNvGraphicFramePr>
            <a:graphicFrameLocks noGrp="1"/>
          </p:cNvGraphicFramePr>
          <p:nvPr>
            <p:extLst>
              <p:ext uri="{D42A27DB-BD31-4B8C-83A1-F6EECF244321}">
                <p14:modId xmlns:p14="http://schemas.microsoft.com/office/powerpoint/2010/main" val="1374420019"/>
              </p:ext>
            </p:extLst>
          </p:nvPr>
        </p:nvGraphicFramePr>
        <p:xfrm>
          <a:off x="304800" y="876300"/>
          <a:ext cx="17678400" cy="9410702"/>
        </p:xfrm>
        <a:graphic>
          <a:graphicData uri="http://schemas.openxmlformats.org/drawingml/2006/table">
            <a:tbl>
              <a:tblPr>
                <a:tableStyleId>{5C22544A-7EE6-4342-B048-85BDC9FD1C3A}</a:tableStyleId>
              </a:tblPr>
              <a:tblGrid>
                <a:gridCol w="3657600">
                  <a:extLst>
                    <a:ext uri="{9D8B030D-6E8A-4147-A177-3AD203B41FA5}">
                      <a16:colId xmlns:a16="http://schemas.microsoft.com/office/drawing/2014/main" val="1303346653"/>
                    </a:ext>
                  </a:extLst>
                </a:gridCol>
                <a:gridCol w="3657600">
                  <a:extLst>
                    <a:ext uri="{9D8B030D-6E8A-4147-A177-3AD203B41FA5}">
                      <a16:colId xmlns:a16="http://schemas.microsoft.com/office/drawing/2014/main" val="1920214239"/>
                    </a:ext>
                  </a:extLst>
                </a:gridCol>
                <a:gridCol w="5029200">
                  <a:extLst>
                    <a:ext uri="{9D8B030D-6E8A-4147-A177-3AD203B41FA5}">
                      <a16:colId xmlns:a16="http://schemas.microsoft.com/office/drawing/2014/main" val="2942607903"/>
                    </a:ext>
                  </a:extLst>
                </a:gridCol>
                <a:gridCol w="5334000">
                  <a:extLst>
                    <a:ext uri="{9D8B030D-6E8A-4147-A177-3AD203B41FA5}">
                      <a16:colId xmlns:a16="http://schemas.microsoft.com/office/drawing/2014/main" val="3744999987"/>
                    </a:ext>
                  </a:extLst>
                </a:gridCol>
              </a:tblGrid>
              <a:tr h="480729">
                <a:tc>
                  <a:txBody>
                    <a:bodyPr/>
                    <a:lstStyle/>
                    <a:p>
                      <a:pPr>
                        <a:buNone/>
                      </a:pPr>
                      <a:r>
                        <a:rPr lang="en-US" sz="2400" b="1" dirty="0"/>
                        <a:t>ML Task / Application</a:t>
                      </a:r>
                    </a:p>
                  </a:txBody>
                  <a:tcPr marL="35085" marR="35085" marT="17542" marB="17542" anchor="ctr"/>
                </a:tc>
                <a:tc>
                  <a:txBody>
                    <a:bodyPr/>
                    <a:lstStyle/>
                    <a:p>
                      <a:pPr>
                        <a:buNone/>
                      </a:pPr>
                      <a:r>
                        <a:rPr lang="en-US" sz="2400" b="1" dirty="0"/>
                        <a:t>Example Baseline Model</a:t>
                      </a:r>
                    </a:p>
                  </a:txBody>
                  <a:tcPr marL="35085" marR="35085" marT="17542" marB="17542" anchor="ctr"/>
                </a:tc>
                <a:tc>
                  <a:txBody>
                    <a:bodyPr/>
                    <a:lstStyle/>
                    <a:p>
                      <a:pPr>
                        <a:buNone/>
                      </a:pPr>
                      <a:r>
                        <a:rPr lang="en-US" sz="2400" b="1" dirty="0"/>
                        <a:t>What the Baseline Does</a:t>
                      </a:r>
                    </a:p>
                  </a:txBody>
                  <a:tcPr marL="35085" marR="35085" marT="17542" marB="17542" anchor="ctr"/>
                </a:tc>
                <a:tc>
                  <a:txBody>
                    <a:bodyPr/>
                    <a:lstStyle/>
                    <a:p>
                      <a:pPr>
                        <a:buNone/>
                      </a:pPr>
                      <a:r>
                        <a:rPr lang="en-US" sz="2400" b="1" dirty="0"/>
                        <a:t>Possible Models for Later Comparison</a:t>
                      </a:r>
                    </a:p>
                  </a:txBody>
                  <a:tcPr marL="35085" marR="35085" marT="17542" marB="17542" anchor="ctr"/>
                </a:tc>
                <a:extLst>
                  <a:ext uri="{0D108BD9-81ED-4DB2-BD59-A6C34878D82A}">
                    <a16:rowId xmlns:a16="http://schemas.microsoft.com/office/drawing/2014/main" val="2123534867"/>
                  </a:ext>
                </a:extLst>
              </a:tr>
              <a:tr h="778681">
                <a:tc>
                  <a:txBody>
                    <a:bodyPr/>
                    <a:lstStyle/>
                    <a:p>
                      <a:pPr>
                        <a:buNone/>
                      </a:pPr>
                      <a:r>
                        <a:rPr lang="en-US" sz="2400" b="1" dirty="0"/>
                        <a:t>Student Academic Risk Classification</a:t>
                      </a:r>
                    </a:p>
                  </a:txBody>
                  <a:tcPr marL="35085" marR="35085" marT="17542" marB="17542" anchor="ctr"/>
                </a:tc>
                <a:tc>
                  <a:txBody>
                    <a:bodyPr/>
                    <a:lstStyle/>
                    <a:p>
                      <a:pPr>
                        <a:buNone/>
                      </a:pPr>
                      <a:r>
                        <a:rPr lang="en-US" sz="2400"/>
                        <a:t>Dummy Classifier</a:t>
                      </a:r>
                    </a:p>
                  </a:txBody>
                  <a:tcPr marL="35085" marR="35085" marT="17542" marB="17542" anchor="ctr"/>
                </a:tc>
                <a:tc>
                  <a:txBody>
                    <a:bodyPr/>
                    <a:lstStyle/>
                    <a:p>
                      <a:pPr>
                        <a:buNone/>
                      </a:pPr>
                      <a:r>
                        <a:rPr lang="en-US" sz="2400"/>
                        <a:t>Predicts the majority class, e.g., Not at Risk</a:t>
                      </a:r>
                    </a:p>
                  </a:txBody>
                  <a:tcPr marL="35085" marR="35085" marT="17542" marB="17542" anchor="ctr"/>
                </a:tc>
                <a:tc>
                  <a:txBody>
                    <a:bodyPr/>
                    <a:lstStyle/>
                    <a:p>
                      <a:pPr>
                        <a:buNone/>
                      </a:pPr>
                      <a:r>
                        <a:rPr lang="en-US" sz="2400"/>
                        <a:t>Logistic Regression, Decision Tree, KNN, Random Forest</a:t>
                      </a:r>
                    </a:p>
                  </a:txBody>
                  <a:tcPr marL="35085" marR="35085" marT="17542" marB="17542" anchor="ctr"/>
                </a:tc>
                <a:extLst>
                  <a:ext uri="{0D108BD9-81ED-4DB2-BD59-A6C34878D82A}">
                    <a16:rowId xmlns:a16="http://schemas.microsoft.com/office/drawing/2014/main" val="1626050508"/>
                  </a:ext>
                </a:extLst>
              </a:tr>
              <a:tr h="892783">
                <a:tc>
                  <a:txBody>
                    <a:bodyPr/>
                    <a:lstStyle/>
                    <a:p>
                      <a:pPr>
                        <a:buNone/>
                      </a:pPr>
                      <a:r>
                        <a:rPr lang="en-US" sz="2400" b="1"/>
                        <a:t>Student Academic Risk Classification</a:t>
                      </a:r>
                    </a:p>
                  </a:txBody>
                  <a:tcPr marL="35085" marR="35085" marT="17542" marB="17542" anchor="ctr"/>
                </a:tc>
                <a:tc>
                  <a:txBody>
                    <a:bodyPr/>
                    <a:lstStyle/>
                    <a:p>
                      <a:pPr>
                        <a:buNone/>
                      </a:pPr>
                      <a:r>
                        <a:rPr lang="en-US" sz="2400"/>
                        <a:t>Logistic Regression</a:t>
                      </a:r>
                    </a:p>
                  </a:txBody>
                  <a:tcPr marL="35085" marR="35085" marT="17542" marB="17542" anchor="ctr"/>
                </a:tc>
                <a:tc>
                  <a:txBody>
                    <a:bodyPr/>
                    <a:lstStyle/>
                    <a:p>
                      <a:pPr>
                        <a:buNone/>
                      </a:pPr>
                      <a:r>
                        <a:rPr lang="en-US" sz="2400"/>
                        <a:t>Establishes a simple learned classification baseline</a:t>
                      </a:r>
                    </a:p>
                  </a:txBody>
                  <a:tcPr marL="35085" marR="35085" marT="17542" marB="17542" anchor="ctr"/>
                </a:tc>
                <a:tc>
                  <a:txBody>
                    <a:bodyPr/>
                    <a:lstStyle/>
                    <a:p>
                      <a:pPr>
                        <a:buNone/>
                      </a:pPr>
                      <a:r>
                        <a:rPr lang="en-US" sz="2400"/>
                        <a:t>Decision Tree, Random Forest, SVM, boosting</a:t>
                      </a:r>
                    </a:p>
                  </a:txBody>
                  <a:tcPr marL="35085" marR="35085" marT="17542" marB="17542" anchor="ctr"/>
                </a:tc>
                <a:extLst>
                  <a:ext uri="{0D108BD9-81ED-4DB2-BD59-A6C34878D82A}">
                    <a16:rowId xmlns:a16="http://schemas.microsoft.com/office/drawing/2014/main" val="1549968826"/>
                  </a:ext>
                </a:extLst>
              </a:tr>
              <a:tr h="778681">
                <a:tc>
                  <a:txBody>
                    <a:bodyPr/>
                    <a:lstStyle/>
                    <a:p>
                      <a:pPr>
                        <a:buNone/>
                      </a:pPr>
                      <a:r>
                        <a:rPr lang="en-US" sz="2400" b="1" dirty="0"/>
                        <a:t>Spam Email Detection</a:t>
                      </a:r>
                    </a:p>
                  </a:txBody>
                  <a:tcPr marL="35085" marR="35085" marT="17542" marB="17542" anchor="ctr"/>
                </a:tc>
                <a:tc>
                  <a:txBody>
                    <a:bodyPr/>
                    <a:lstStyle/>
                    <a:p>
                      <a:pPr>
                        <a:buNone/>
                      </a:pPr>
                      <a:r>
                        <a:rPr lang="en-US" sz="2400"/>
                        <a:t>Logistic Regression</a:t>
                      </a:r>
                    </a:p>
                  </a:txBody>
                  <a:tcPr marL="35085" marR="35085" marT="17542" marB="17542" anchor="ctr"/>
                </a:tc>
                <a:tc>
                  <a:txBody>
                    <a:bodyPr/>
                    <a:lstStyle/>
                    <a:p>
                      <a:pPr>
                        <a:buNone/>
                      </a:pPr>
                      <a:r>
                        <a:rPr lang="en-US" sz="2400"/>
                        <a:t>Classifies TF-IDF email features as Spam/Not Spam</a:t>
                      </a:r>
                    </a:p>
                  </a:txBody>
                  <a:tcPr marL="35085" marR="35085" marT="17542" marB="17542" anchor="ctr"/>
                </a:tc>
                <a:tc>
                  <a:txBody>
                    <a:bodyPr/>
                    <a:lstStyle/>
                    <a:p>
                      <a:pPr>
                        <a:buNone/>
                      </a:pPr>
                      <a:r>
                        <a:rPr lang="en-US" sz="2400"/>
                        <a:t>Naive Bayes, Linear SVM, Random Forest</a:t>
                      </a:r>
                    </a:p>
                  </a:txBody>
                  <a:tcPr marL="35085" marR="35085" marT="17542" marB="17542" anchor="ctr"/>
                </a:tc>
                <a:extLst>
                  <a:ext uri="{0D108BD9-81ED-4DB2-BD59-A6C34878D82A}">
                    <a16:rowId xmlns:a16="http://schemas.microsoft.com/office/drawing/2014/main" val="2993578991"/>
                  </a:ext>
                </a:extLst>
              </a:tr>
              <a:tr h="778681">
                <a:tc>
                  <a:txBody>
                    <a:bodyPr/>
                    <a:lstStyle/>
                    <a:p>
                      <a:pPr>
                        <a:buNone/>
                      </a:pPr>
                      <a:r>
                        <a:rPr lang="en-US" sz="2400" b="1" dirty="0"/>
                        <a:t>Sentiment Analysis</a:t>
                      </a:r>
                    </a:p>
                  </a:txBody>
                  <a:tcPr marL="35085" marR="35085" marT="17542" marB="17542" anchor="ctr"/>
                </a:tc>
                <a:tc>
                  <a:txBody>
                    <a:bodyPr/>
                    <a:lstStyle/>
                    <a:p>
                      <a:pPr>
                        <a:buNone/>
                      </a:pPr>
                      <a:r>
                        <a:rPr lang="en-US" sz="2400"/>
                        <a:t>TF-IDF + Logistic Regression</a:t>
                      </a:r>
                    </a:p>
                  </a:txBody>
                  <a:tcPr marL="35085" marR="35085" marT="17542" marB="17542" anchor="ctr"/>
                </a:tc>
                <a:tc>
                  <a:txBody>
                    <a:bodyPr/>
                    <a:lstStyle/>
                    <a:p>
                      <a:pPr>
                        <a:buNone/>
                      </a:pPr>
                      <a:r>
                        <a:rPr lang="en-US" sz="2400"/>
                        <a:t>Classifies text as Positive/Negative/Neutral</a:t>
                      </a:r>
                    </a:p>
                  </a:txBody>
                  <a:tcPr marL="35085" marR="35085" marT="17542" marB="17542" anchor="ctr"/>
                </a:tc>
                <a:tc>
                  <a:txBody>
                    <a:bodyPr/>
                    <a:lstStyle/>
                    <a:p>
                      <a:pPr>
                        <a:buNone/>
                      </a:pPr>
                      <a:r>
                        <a:rPr lang="en-US" sz="2400"/>
                        <a:t>Naive Bayes, Linear SVM, transformers</a:t>
                      </a:r>
                    </a:p>
                  </a:txBody>
                  <a:tcPr marL="35085" marR="35085" marT="17542" marB="17542" anchor="ctr"/>
                </a:tc>
                <a:extLst>
                  <a:ext uri="{0D108BD9-81ED-4DB2-BD59-A6C34878D82A}">
                    <a16:rowId xmlns:a16="http://schemas.microsoft.com/office/drawing/2014/main" val="2220347276"/>
                  </a:ext>
                </a:extLst>
              </a:tr>
              <a:tr h="892783">
                <a:tc>
                  <a:txBody>
                    <a:bodyPr/>
                    <a:lstStyle/>
                    <a:p>
                      <a:pPr>
                        <a:buNone/>
                      </a:pPr>
                      <a:r>
                        <a:rPr lang="en-US" sz="2400" b="1" dirty="0"/>
                        <a:t>Disease Classification</a:t>
                      </a:r>
                    </a:p>
                  </a:txBody>
                  <a:tcPr marL="35085" marR="35085" marT="17542" marB="17542" anchor="ctr"/>
                </a:tc>
                <a:tc>
                  <a:txBody>
                    <a:bodyPr/>
                    <a:lstStyle/>
                    <a:p>
                      <a:pPr>
                        <a:buNone/>
                      </a:pPr>
                      <a:r>
                        <a:rPr lang="en-US" sz="2400"/>
                        <a:t>Logistic Regression</a:t>
                      </a:r>
                    </a:p>
                  </a:txBody>
                  <a:tcPr marL="35085" marR="35085" marT="17542" marB="17542" anchor="ctr"/>
                </a:tc>
                <a:tc>
                  <a:txBody>
                    <a:bodyPr/>
                    <a:lstStyle/>
                    <a:p>
                      <a:pPr>
                        <a:buNone/>
                      </a:pPr>
                      <a:r>
                        <a:rPr lang="en-US" sz="2400"/>
                        <a:t>Establishes an interpretable initial classifier from structured features</a:t>
                      </a:r>
                    </a:p>
                  </a:txBody>
                  <a:tcPr marL="35085" marR="35085" marT="17542" marB="17542" anchor="ctr"/>
                </a:tc>
                <a:tc>
                  <a:txBody>
                    <a:bodyPr/>
                    <a:lstStyle/>
                    <a:p>
                      <a:pPr>
                        <a:buNone/>
                      </a:pPr>
                      <a:r>
                        <a:rPr lang="en-US" sz="2400"/>
                        <a:t>Decision Tree, Random Forest, SVM, neural network</a:t>
                      </a:r>
                    </a:p>
                  </a:txBody>
                  <a:tcPr marL="35085" marR="35085" marT="17542" marB="17542" anchor="ctr"/>
                </a:tc>
                <a:extLst>
                  <a:ext uri="{0D108BD9-81ED-4DB2-BD59-A6C34878D82A}">
                    <a16:rowId xmlns:a16="http://schemas.microsoft.com/office/drawing/2014/main" val="2290886930"/>
                  </a:ext>
                </a:extLst>
              </a:tr>
              <a:tr h="892783">
                <a:tc>
                  <a:txBody>
                    <a:bodyPr/>
                    <a:lstStyle/>
                    <a:p>
                      <a:pPr>
                        <a:buNone/>
                      </a:pPr>
                      <a:r>
                        <a:rPr lang="en-US" sz="2400" b="1" dirty="0"/>
                        <a:t>Final Grade Prediction</a:t>
                      </a:r>
                    </a:p>
                  </a:txBody>
                  <a:tcPr marL="35085" marR="35085" marT="17542" marB="17542" anchor="ctr"/>
                </a:tc>
                <a:tc>
                  <a:txBody>
                    <a:bodyPr/>
                    <a:lstStyle/>
                    <a:p>
                      <a:pPr>
                        <a:buNone/>
                      </a:pPr>
                      <a:r>
                        <a:rPr lang="en-US" sz="2400" dirty="0"/>
                        <a:t>Dummy Regressor</a:t>
                      </a:r>
                    </a:p>
                  </a:txBody>
                  <a:tcPr marL="35085" marR="35085" marT="17542" marB="17542" anchor="ctr"/>
                </a:tc>
                <a:tc>
                  <a:txBody>
                    <a:bodyPr/>
                    <a:lstStyle/>
                    <a:p>
                      <a:pPr>
                        <a:buNone/>
                      </a:pPr>
                      <a:r>
                        <a:rPr lang="en-US" sz="2400"/>
                        <a:t>Predicts the mean training-set grade for every case</a:t>
                      </a:r>
                    </a:p>
                  </a:txBody>
                  <a:tcPr marL="35085" marR="35085" marT="17542" marB="17542" anchor="ctr"/>
                </a:tc>
                <a:tc>
                  <a:txBody>
                    <a:bodyPr/>
                    <a:lstStyle/>
                    <a:p>
                      <a:pPr>
                        <a:buNone/>
                      </a:pPr>
                      <a:r>
                        <a:rPr lang="en-US" sz="2400"/>
                        <a:t>Linear Regression, Decision Tree Regressor, Random Forest</a:t>
                      </a:r>
                    </a:p>
                  </a:txBody>
                  <a:tcPr marL="35085" marR="35085" marT="17542" marB="17542" anchor="ctr"/>
                </a:tc>
                <a:extLst>
                  <a:ext uri="{0D108BD9-81ED-4DB2-BD59-A6C34878D82A}">
                    <a16:rowId xmlns:a16="http://schemas.microsoft.com/office/drawing/2014/main" val="3602219847"/>
                  </a:ext>
                </a:extLst>
              </a:tr>
              <a:tr h="778681">
                <a:tc>
                  <a:txBody>
                    <a:bodyPr/>
                    <a:lstStyle/>
                    <a:p>
                      <a:pPr>
                        <a:buNone/>
                      </a:pPr>
                      <a:r>
                        <a:rPr lang="en-US" sz="2400" b="1" dirty="0"/>
                        <a:t>Final Grade Prediction</a:t>
                      </a:r>
                    </a:p>
                  </a:txBody>
                  <a:tcPr marL="35085" marR="35085" marT="17542" marB="17542" anchor="ctr"/>
                </a:tc>
                <a:tc>
                  <a:txBody>
                    <a:bodyPr/>
                    <a:lstStyle/>
                    <a:p>
                      <a:pPr>
                        <a:buNone/>
                      </a:pPr>
                      <a:r>
                        <a:rPr lang="en-US" sz="2400"/>
                        <a:t>Linear Regression</a:t>
                      </a:r>
                    </a:p>
                  </a:txBody>
                  <a:tcPr marL="35085" marR="35085" marT="17542" marB="17542" anchor="ctr"/>
                </a:tc>
                <a:tc>
                  <a:txBody>
                    <a:bodyPr/>
                    <a:lstStyle/>
                    <a:p>
                      <a:pPr>
                        <a:buNone/>
                      </a:pPr>
                      <a:r>
                        <a:rPr lang="en-US" sz="2400"/>
                        <a:t>Establishes a simple learned numerical prediction baseline</a:t>
                      </a:r>
                    </a:p>
                  </a:txBody>
                  <a:tcPr marL="35085" marR="35085" marT="17542" marB="17542" anchor="ctr"/>
                </a:tc>
                <a:tc>
                  <a:txBody>
                    <a:bodyPr/>
                    <a:lstStyle/>
                    <a:p>
                      <a:pPr>
                        <a:buNone/>
                      </a:pPr>
                      <a:r>
                        <a:rPr lang="en-US" sz="2400"/>
                        <a:t>Random Forest Regressor, Gradient Boosting</a:t>
                      </a:r>
                    </a:p>
                  </a:txBody>
                  <a:tcPr marL="35085" marR="35085" marT="17542" marB="17542" anchor="ctr"/>
                </a:tc>
                <a:extLst>
                  <a:ext uri="{0D108BD9-81ED-4DB2-BD59-A6C34878D82A}">
                    <a16:rowId xmlns:a16="http://schemas.microsoft.com/office/drawing/2014/main" val="2881631667"/>
                  </a:ext>
                </a:extLst>
              </a:tr>
              <a:tr h="1098809">
                <a:tc>
                  <a:txBody>
                    <a:bodyPr/>
                    <a:lstStyle/>
                    <a:p>
                      <a:pPr>
                        <a:buNone/>
                      </a:pPr>
                      <a:r>
                        <a:rPr lang="en-US" sz="2400" b="1" dirty="0"/>
                        <a:t>House Price Prediction</a:t>
                      </a:r>
                    </a:p>
                  </a:txBody>
                  <a:tcPr marL="35085" marR="35085" marT="17542" marB="17542" anchor="ctr"/>
                </a:tc>
                <a:tc>
                  <a:txBody>
                    <a:bodyPr/>
                    <a:lstStyle/>
                    <a:p>
                      <a:pPr>
                        <a:buNone/>
                      </a:pPr>
                      <a:r>
                        <a:rPr lang="en-US" sz="2400"/>
                        <a:t>Linear Regression</a:t>
                      </a:r>
                    </a:p>
                  </a:txBody>
                  <a:tcPr marL="35085" marR="35085" marT="17542" marB="17542" anchor="ctr"/>
                </a:tc>
                <a:tc>
                  <a:txBody>
                    <a:bodyPr/>
                    <a:lstStyle/>
                    <a:p>
                      <a:pPr>
                        <a:buNone/>
                      </a:pPr>
                      <a:r>
                        <a:rPr lang="en-US" sz="2400"/>
                        <a:t>Estimates price using a linear relationship with house characteristics</a:t>
                      </a:r>
                    </a:p>
                  </a:txBody>
                  <a:tcPr marL="35085" marR="35085" marT="17542" marB="17542" anchor="ctr"/>
                </a:tc>
                <a:tc>
                  <a:txBody>
                    <a:bodyPr/>
                    <a:lstStyle/>
                    <a:p>
                      <a:pPr>
                        <a:buNone/>
                      </a:pPr>
                      <a:r>
                        <a:rPr lang="en-US" sz="2400"/>
                        <a:t>Decision Tree, Random Forest, boosting</a:t>
                      </a:r>
                    </a:p>
                  </a:txBody>
                  <a:tcPr marL="35085" marR="35085" marT="17542" marB="17542" anchor="ctr"/>
                </a:tc>
                <a:extLst>
                  <a:ext uri="{0D108BD9-81ED-4DB2-BD59-A6C34878D82A}">
                    <a16:rowId xmlns:a16="http://schemas.microsoft.com/office/drawing/2014/main" val="3240367084"/>
                  </a:ext>
                </a:extLst>
              </a:tr>
              <a:tr h="778681">
                <a:tc>
                  <a:txBody>
                    <a:bodyPr/>
                    <a:lstStyle/>
                    <a:p>
                      <a:pPr>
                        <a:buNone/>
                      </a:pPr>
                      <a:r>
                        <a:rPr lang="en-US" sz="2400" b="1" dirty="0"/>
                        <a:t>Rainfall Prediction</a:t>
                      </a:r>
                    </a:p>
                  </a:txBody>
                  <a:tcPr marL="35085" marR="35085" marT="17542" marB="17542" anchor="ctr"/>
                </a:tc>
                <a:tc>
                  <a:txBody>
                    <a:bodyPr/>
                    <a:lstStyle/>
                    <a:p>
                      <a:pPr>
                        <a:buNone/>
                      </a:pPr>
                      <a:r>
                        <a:rPr lang="en-US" sz="2400" dirty="0"/>
                        <a:t>Mean Dummy Regressor / Linear Regression</a:t>
                      </a:r>
                    </a:p>
                  </a:txBody>
                  <a:tcPr marL="35085" marR="35085" marT="17542" marB="17542" anchor="ctr"/>
                </a:tc>
                <a:tc>
                  <a:txBody>
                    <a:bodyPr/>
                    <a:lstStyle/>
                    <a:p>
                      <a:pPr>
                        <a:buNone/>
                      </a:pPr>
                      <a:r>
                        <a:rPr lang="en-US" sz="2400"/>
                        <a:t>Provides a simple numerical reference</a:t>
                      </a:r>
                    </a:p>
                  </a:txBody>
                  <a:tcPr marL="35085" marR="35085" marT="17542" marB="17542" anchor="ctr"/>
                </a:tc>
                <a:tc>
                  <a:txBody>
                    <a:bodyPr/>
                    <a:lstStyle/>
                    <a:p>
                      <a:pPr>
                        <a:buNone/>
                      </a:pPr>
                      <a:r>
                        <a:rPr lang="en-US" sz="2400"/>
                        <a:t>Random Forest Regressor, Gradient Boosting</a:t>
                      </a:r>
                    </a:p>
                  </a:txBody>
                  <a:tcPr marL="35085" marR="35085" marT="17542" marB="17542" anchor="ctr"/>
                </a:tc>
                <a:extLst>
                  <a:ext uri="{0D108BD9-81ED-4DB2-BD59-A6C34878D82A}">
                    <a16:rowId xmlns:a16="http://schemas.microsoft.com/office/drawing/2014/main" val="202832733"/>
                  </a:ext>
                </a:extLst>
              </a:tr>
              <a:tr h="480729">
                <a:tc>
                  <a:txBody>
                    <a:bodyPr/>
                    <a:lstStyle/>
                    <a:p>
                      <a:pPr>
                        <a:buNone/>
                      </a:pPr>
                      <a:r>
                        <a:rPr lang="en-US" sz="2400" b="1" dirty="0"/>
                        <a:t>Student Profile Clustering</a:t>
                      </a:r>
                    </a:p>
                  </a:txBody>
                  <a:tcPr marL="35085" marR="35085" marT="17542" marB="17542" anchor="ctr"/>
                </a:tc>
                <a:tc>
                  <a:txBody>
                    <a:bodyPr/>
                    <a:lstStyle/>
                    <a:p>
                      <a:pPr>
                        <a:buNone/>
                      </a:pPr>
                      <a:r>
                        <a:rPr lang="en-US" sz="2400"/>
                        <a:t>K-Means</a:t>
                      </a:r>
                    </a:p>
                  </a:txBody>
                  <a:tcPr marL="35085" marR="35085" marT="17542" marB="17542" anchor="ctr"/>
                </a:tc>
                <a:tc>
                  <a:txBody>
                    <a:bodyPr/>
                    <a:lstStyle/>
                    <a:p>
                      <a:pPr>
                        <a:buNone/>
                      </a:pPr>
                      <a:r>
                        <a:rPr lang="en-US" sz="2400"/>
                        <a:t>Provides an initial clustering solution</a:t>
                      </a:r>
                    </a:p>
                  </a:txBody>
                  <a:tcPr marL="35085" marR="35085" marT="17542" marB="17542" anchor="ctr"/>
                </a:tc>
                <a:tc>
                  <a:txBody>
                    <a:bodyPr/>
                    <a:lstStyle/>
                    <a:p>
                      <a:pPr>
                        <a:buNone/>
                      </a:pPr>
                      <a:r>
                        <a:rPr lang="en-US" sz="2400"/>
                        <a:t>Hierarchical Clustering, DBSCAN</a:t>
                      </a:r>
                    </a:p>
                  </a:txBody>
                  <a:tcPr marL="35085" marR="35085" marT="17542" marB="17542" anchor="ctr"/>
                </a:tc>
                <a:extLst>
                  <a:ext uri="{0D108BD9-81ED-4DB2-BD59-A6C34878D82A}">
                    <a16:rowId xmlns:a16="http://schemas.microsoft.com/office/drawing/2014/main" val="3594712539"/>
                  </a:ext>
                </a:extLst>
              </a:tr>
              <a:tr h="778681">
                <a:tc>
                  <a:txBody>
                    <a:bodyPr/>
                    <a:lstStyle/>
                    <a:p>
                      <a:pPr>
                        <a:buNone/>
                      </a:pPr>
                      <a:r>
                        <a:rPr lang="en-US" sz="2400" b="1" dirty="0"/>
                        <a:t>Document Clustering</a:t>
                      </a:r>
                    </a:p>
                  </a:txBody>
                  <a:tcPr marL="35085" marR="35085" marT="17542" marB="17542" anchor="ctr"/>
                </a:tc>
                <a:tc>
                  <a:txBody>
                    <a:bodyPr/>
                    <a:lstStyle/>
                    <a:p>
                      <a:pPr>
                        <a:buNone/>
                      </a:pPr>
                      <a:r>
                        <a:rPr lang="en-US" sz="2400"/>
                        <a:t>TF-IDF + K-Means</a:t>
                      </a:r>
                    </a:p>
                  </a:txBody>
                  <a:tcPr marL="35085" marR="35085" marT="17542" marB="17542" anchor="ctr"/>
                </a:tc>
                <a:tc>
                  <a:txBody>
                    <a:bodyPr/>
                    <a:lstStyle/>
                    <a:p>
                      <a:pPr>
                        <a:buNone/>
                      </a:pPr>
                      <a:r>
                        <a:rPr lang="en-US" sz="2400"/>
                        <a:t>Groups documents using text-feature similarity</a:t>
                      </a:r>
                    </a:p>
                  </a:txBody>
                  <a:tcPr marL="35085" marR="35085" marT="17542" marB="17542" anchor="ctr"/>
                </a:tc>
                <a:tc>
                  <a:txBody>
                    <a:bodyPr/>
                    <a:lstStyle/>
                    <a:p>
                      <a:pPr>
                        <a:buNone/>
                      </a:pPr>
                      <a:r>
                        <a:rPr lang="en-US" sz="2400" dirty="0"/>
                        <a:t>Embedding-based clustering, </a:t>
                      </a:r>
                      <a:r>
                        <a:rPr lang="en-US" sz="2400" dirty="0" err="1"/>
                        <a:t>BERTopic</a:t>
                      </a:r>
                      <a:endParaRPr lang="en-US" sz="2400" dirty="0"/>
                    </a:p>
                  </a:txBody>
                  <a:tcPr marL="35085" marR="35085" marT="17542" marB="17542" anchor="ctr"/>
                </a:tc>
                <a:extLst>
                  <a:ext uri="{0D108BD9-81ED-4DB2-BD59-A6C34878D82A}">
                    <a16:rowId xmlns:a16="http://schemas.microsoft.com/office/drawing/2014/main" val="175992441"/>
                  </a:ext>
                </a:extLst>
              </a:tr>
            </a:tbl>
          </a:graphicData>
        </a:graphic>
      </p:graphicFrame>
    </p:spTree>
    <p:extLst>
      <p:ext uri="{BB962C8B-B14F-4D97-AF65-F5344CB8AC3E}">
        <p14:creationId xmlns:p14="http://schemas.microsoft.com/office/powerpoint/2010/main" val="39106715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F16AC-7170-38EE-764A-C0FEABD0AC5A}"/>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2B683131-83A8-7EFE-3496-352DCCB86F7F}"/>
              </a:ext>
            </a:extLst>
          </p:cNvPr>
          <p:cNvSpPr txBox="1"/>
          <p:nvPr/>
        </p:nvSpPr>
        <p:spPr>
          <a:xfrm>
            <a:off x="304800" y="15688"/>
            <a:ext cx="14817190" cy="1038746"/>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Preparing Data for Model Training</a:t>
            </a:r>
          </a:p>
        </p:txBody>
      </p:sp>
      <p:sp>
        <p:nvSpPr>
          <p:cNvPr id="4" name="TextBox 3">
            <a:extLst>
              <a:ext uri="{FF2B5EF4-FFF2-40B4-BE49-F238E27FC236}">
                <a16:creationId xmlns:a16="http://schemas.microsoft.com/office/drawing/2014/main" id="{30899DA7-3D86-F670-7886-962D2DD37257}"/>
              </a:ext>
            </a:extLst>
          </p:cNvPr>
          <p:cNvSpPr txBox="1"/>
          <p:nvPr/>
        </p:nvSpPr>
        <p:spPr>
          <a:xfrm>
            <a:off x="304800" y="1054434"/>
            <a:ext cx="17465936" cy="6740307"/>
          </a:xfrm>
          <a:prstGeom prst="rect">
            <a:avLst/>
          </a:prstGeom>
          <a:noFill/>
        </p:spPr>
        <p:txBody>
          <a:bodyPr wrap="square">
            <a:spAutoFit/>
          </a:bodyPr>
          <a:lstStyle/>
          <a:p>
            <a:r>
              <a:rPr lang="en-US" sz="4800" dirty="0"/>
              <a:t>Tabular classification: </a:t>
            </a:r>
          </a:p>
          <a:p>
            <a:pPr marL="685800" indent="-685800">
              <a:buFont typeface="Arial" panose="020B0604020202020204" pitchFamily="34" charset="0"/>
              <a:buChar char="•"/>
            </a:pPr>
            <a:r>
              <a:rPr lang="en-US" sz="4800" dirty="0"/>
              <a:t>inspect missing values and duplicates; </a:t>
            </a:r>
          </a:p>
          <a:p>
            <a:pPr marL="685800" indent="-685800">
              <a:buFont typeface="Arial" panose="020B0604020202020204" pitchFamily="34" charset="0"/>
              <a:buChar char="•"/>
            </a:pPr>
            <a:r>
              <a:rPr lang="en-US" sz="4800" dirty="0"/>
              <a:t>remove identifiers; </a:t>
            </a:r>
          </a:p>
          <a:p>
            <a:pPr marL="685800" indent="-685800">
              <a:buFont typeface="Arial" panose="020B0604020202020204" pitchFamily="34" charset="0"/>
              <a:buChar char="•"/>
            </a:pPr>
            <a:r>
              <a:rPr lang="en-US" sz="4800" dirty="0"/>
              <a:t>define numerical and categorical columns; </a:t>
            </a:r>
          </a:p>
          <a:p>
            <a:pPr marL="685800" indent="-685800">
              <a:buFont typeface="Arial" panose="020B0604020202020204" pitchFamily="34" charset="0"/>
              <a:buChar char="•"/>
            </a:pPr>
            <a:r>
              <a:rPr lang="en-US" sz="4800" dirty="0"/>
              <a:t>fit scaling to numerical variables and one-hot encoding to categorical variables through a preprocessing Pipeline. </a:t>
            </a:r>
          </a:p>
          <a:p>
            <a:pPr marL="685800" indent="-685800">
              <a:buFont typeface="Arial" panose="020B0604020202020204" pitchFamily="34" charset="0"/>
              <a:buChar char="•"/>
            </a:pPr>
            <a:endParaRPr lang="en-US" sz="4800" dirty="0"/>
          </a:p>
          <a:p>
            <a:r>
              <a:rPr lang="en-US" sz="4800" dirty="0"/>
              <a:t>This helps ensure that transformations learned from training data are applied consistently to unseen data.</a:t>
            </a:r>
            <a:endParaRPr lang="en-US" sz="9600" dirty="0"/>
          </a:p>
        </p:txBody>
      </p:sp>
    </p:spTree>
    <p:extLst>
      <p:ext uri="{BB962C8B-B14F-4D97-AF65-F5344CB8AC3E}">
        <p14:creationId xmlns:p14="http://schemas.microsoft.com/office/powerpoint/2010/main" val="26395070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D2ED3-C4F6-74B3-E15B-3BDF9587C9D2}"/>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45656F75-5879-E9B8-8115-802A01E38A70}"/>
              </a:ext>
            </a:extLst>
          </p:cNvPr>
          <p:cNvSpPr txBox="1"/>
          <p:nvPr/>
        </p:nvSpPr>
        <p:spPr>
          <a:xfrm>
            <a:off x="304800" y="15688"/>
            <a:ext cx="14817190" cy="1038746"/>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Preparing Data for Model Training</a:t>
            </a:r>
          </a:p>
        </p:txBody>
      </p:sp>
      <p:sp>
        <p:nvSpPr>
          <p:cNvPr id="4" name="TextBox 3">
            <a:extLst>
              <a:ext uri="{FF2B5EF4-FFF2-40B4-BE49-F238E27FC236}">
                <a16:creationId xmlns:a16="http://schemas.microsoft.com/office/drawing/2014/main" id="{24194153-CBCB-274D-1A6A-AFC61C80F32A}"/>
              </a:ext>
            </a:extLst>
          </p:cNvPr>
          <p:cNvSpPr txBox="1"/>
          <p:nvPr/>
        </p:nvSpPr>
        <p:spPr>
          <a:xfrm>
            <a:off x="304800" y="1054434"/>
            <a:ext cx="17465936" cy="3785652"/>
          </a:xfrm>
          <a:prstGeom prst="rect">
            <a:avLst/>
          </a:prstGeom>
          <a:noFill/>
        </p:spPr>
        <p:txBody>
          <a:bodyPr wrap="square">
            <a:spAutoFit/>
          </a:bodyPr>
          <a:lstStyle/>
          <a:p>
            <a:r>
              <a:rPr lang="en-US" sz="4800" dirty="0"/>
              <a:t>Clustering: </a:t>
            </a:r>
          </a:p>
          <a:p>
            <a:pPr marL="571500" indent="-571500">
              <a:buFont typeface="Arial" panose="020B0604020202020204" pitchFamily="34" charset="0"/>
              <a:buChar char="•"/>
            </a:pPr>
            <a:r>
              <a:rPr lang="en-US" sz="4800" dirty="0"/>
              <a:t>because K-Means uses distances, variables such as Attendance, GPA, </a:t>
            </a:r>
            <a:r>
              <a:rPr lang="en-US" sz="4800" dirty="0" err="1"/>
              <a:t>Study_Hours</a:t>
            </a:r>
            <a:r>
              <a:rPr lang="en-US" sz="4800" dirty="0"/>
              <a:t>, and </a:t>
            </a:r>
            <a:r>
              <a:rPr lang="en-US" sz="4800" dirty="0" err="1"/>
              <a:t>Failed_Subjects</a:t>
            </a:r>
            <a:r>
              <a:rPr lang="en-US" sz="4800" dirty="0"/>
              <a:t> should be standardized before clustering so that a variable with a larger numerical scale does not dominate the distance calculation.</a:t>
            </a:r>
          </a:p>
        </p:txBody>
      </p:sp>
      <p:sp>
        <p:nvSpPr>
          <p:cNvPr id="5" name="TextBox 4">
            <a:extLst>
              <a:ext uri="{FF2B5EF4-FFF2-40B4-BE49-F238E27FC236}">
                <a16:creationId xmlns:a16="http://schemas.microsoft.com/office/drawing/2014/main" id="{47FECAA4-5DD3-E472-FBD9-1C036039562D}"/>
              </a:ext>
            </a:extLst>
          </p:cNvPr>
          <p:cNvSpPr txBox="1"/>
          <p:nvPr/>
        </p:nvSpPr>
        <p:spPr>
          <a:xfrm>
            <a:off x="304800" y="4849988"/>
            <a:ext cx="16840200" cy="4652556"/>
          </a:xfrm>
          <a:prstGeom prst="rect">
            <a:avLst/>
          </a:prstGeom>
          <a:noFill/>
        </p:spPr>
        <p:txBody>
          <a:bodyPr wrap="square">
            <a:spAutoFit/>
          </a:bodyPr>
          <a:lstStyle/>
          <a:p>
            <a:pPr marL="0" marR="0">
              <a:lnSpc>
                <a:spcPct val="100000"/>
              </a:lnSpc>
              <a:spcAft>
                <a:spcPts val="1000"/>
              </a:spcAft>
              <a:buNone/>
            </a:pPr>
            <a:r>
              <a:rPr lang="en-US" sz="4800" dirty="0">
                <a:effectLst/>
                <a:latin typeface="+mn-lt"/>
                <a:ea typeface="MS Mincho" panose="02020609040205080304" pitchFamily="49" charset="-128"/>
                <a:cs typeface="Times New Roman" panose="02020603050405020304" pitchFamily="18" charset="0"/>
              </a:rPr>
              <a:t>NLP sentiment analysis: </a:t>
            </a:r>
          </a:p>
          <a:p>
            <a:pPr marL="571500" marR="0" indent="-571500">
              <a:lnSpc>
                <a:spcPct val="100000"/>
              </a:lnSpc>
              <a:spcAft>
                <a:spcPts val="1000"/>
              </a:spcAft>
              <a:buFont typeface="Arial" panose="020B0604020202020204" pitchFamily="34" charset="0"/>
              <a:buChar char="•"/>
            </a:pPr>
            <a:r>
              <a:rPr lang="en-US" sz="4800" dirty="0">
                <a:effectLst/>
                <a:latin typeface="+mn-lt"/>
                <a:ea typeface="MS Mincho" panose="02020609040205080304" pitchFamily="49" charset="-128"/>
                <a:cs typeface="Times New Roman" panose="02020603050405020304" pitchFamily="18" charset="0"/>
              </a:rPr>
              <a:t>inspect text and labels, remove duplicates where appropriate, normalize text only when justified, split text and labels into training/testing sets, and fit TF-IDF on the training text through a Pipeline. Do not fit the vectorizer on the full dataset before the split.</a:t>
            </a:r>
            <a:endParaRPr lang="en-US" sz="2800" dirty="0">
              <a:effectLst/>
              <a:latin typeface="Arial" panose="020B06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1789989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8FCD6-4A94-E268-C0BD-259311DC77D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5210F1D-D6A3-5723-9ABD-4205A095D0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38100"/>
            <a:ext cx="15697200" cy="10464800"/>
          </a:xfrm>
          <a:prstGeom prst="rect">
            <a:avLst/>
          </a:prstGeom>
        </p:spPr>
      </p:pic>
    </p:spTree>
    <p:extLst>
      <p:ext uri="{BB962C8B-B14F-4D97-AF65-F5344CB8AC3E}">
        <p14:creationId xmlns:p14="http://schemas.microsoft.com/office/powerpoint/2010/main" val="17518824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CB9AE-C535-3D9D-DCAE-215161CAC642}"/>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784BBAEA-8732-0F8C-0394-08A7FD5EF3AE}"/>
              </a:ext>
            </a:extLst>
          </p:cNvPr>
          <p:cNvSpPr txBox="1"/>
          <p:nvPr/>
        </p:nvSpPr>
        <p:spPr>
          <a:xfrm>
            <a:off x="304800" y="15688"/>
            <a:ext cx="14817190" cy="1038746"/>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Training, Validation, and Testing Data</a:t>
            </a:r>
          </a:p>
        </p:txBody>
      </p:sp>
      <p:sp>
        <p:nvSpPr>
          <p:cNvPr id="4" name="TextBox 3">
            <a:extLst>
              <a:ext uri="{FF2B5EF4-FFF2-40B4-BE49-F238E27FC236}">
                <a16:creationId xmlns:a16="http://schemas.microsoft.com/office/drawing/2014/main" id="{954794CB-9AB8-4CD2-BC74-69242FCB493D}"/>
              </a:ext>
            </a:extLst>
          </p:cNvPr>
          <p:cNvSpPr txBox="1"/>
          <p:nvPr/>
        </p:nvSpPr>
        <p:spPr>
          <a:xfrm>
            <a:off x="304800" y="1054434"/>
            <a:ext cx="17465936" cy="6001643"/>
          </a:xfrm>
          <a:prstGeom prst="rect">
            <a:avLst/>
          </a:prstGeom>
          <a:noFill/>
        </p:spPr>
        <p:txBody>
          <a:bodyPr wrap="square">
            <a:spAutoFit/>
          </a:bodyPr>
          <a:lstStyle/>
          <a:p>
            <a:r>
              <a:rPr lang="en-US" sz="4800" dirty="0"/>
              <a:t>Example: </a:t>
            </a:r>
          </a:p>
          <a:p>
            <a:pPr marL="685800" indent="-685800">
              <a:buFont typeface="Arial" panose="020B0604020202020204" pitchFamily="34" charset="0"/>
              <a:buChar char="•"/>
            </a:pPr>
            <a:r>
              <a:rPr lang="en-US" sz="4800" dirty="0"/>
              <a:t>With 300 labeled observations, an introductory experiment might reserve 20% as a held-out test set and use the remaining 80% for training and model development. </a:t>
            </a:r>
          </a:p>
          <a:p>
            <a:pPr marL="685800" indent="-685800">
              <a:buFont typeface="Arial" panose="020B0604020202020204" pitchFamily="34" charset="0"/>
              <a:buChar char="•"/>
            </a:pPr>
            <a:r>
              <a:rPr lang="en-US" sz="4800" dirty="0"/>
              <a:t>For classification, stratification can help preserve class proportions. </a:t>
            </a:r>
          </a:p>
          <a:p>
            <a:pPr marL="685800" indent="-685800">
              <a:buFont typeface="Arial" panose="020B0604020202020204" pitchFamily="34" charset="0"/>
              <a:buChar char="•"/>
            </a:pPr>
            <a:r>
              <a:rPr lang="en-US" sz="4800" dirty="0"/>
              <a:t>Cross-validation can then be applied within the training/model-development process to compare configurations more reliably.</a:t>
            </a:r>
          </a:p>
          <a:p>
            <a:pPr marL="685800" indent="-685800">
              <a:buFont typeface="Arial" panose="020B0604020202020204" pitchFamily="34" charset="0"/>
              <a:buChar char="•"/>
            </a:pPr>
            <a:r>
              <a:rPr lang="en-US" sz="4800" dirty="0"/>
              <a:t>The held-out test set should not become a repeated tuning target.</a:t>
            </a:r>
          </a:p>
        </p:txBody>
      </p:sp>
    </p:spTree>
    <p:extLst>
      <p:ext uri="{BB962C8B-B14F-4D97-AF65-F5344CB8AC3E}">
        <p14:creationId xmlns:p14="http://schemas.microsoft.com/office/powerpoint/2010/main" val="24329139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F8904-7FB0-8451-9573-1C30B3A803BE}"/>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19DC8561-EFD1-9FFE-0888-1A8FD7555635}"/>
              </a:ext>
            </a:extLst>
          </p:cNvPr>
          <p:cNvSpPr txBox="1"/>
          <p:nvPr/>
        </p:nvSpPr>
        <p:spPr>
          <a:xfrm>
            <a:off x="304800" y="15688"/>
            <a:ext cx="14817190" cy="1038746"/>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Training, Validation, and Testing Data</a:t>
            </a:r>
          </a:p>
        </p:txBody>
      </p:sp>
      <p:sp>
        <p:nvSpPr>
          <p:cNvPr id="4" name="TextBox 3">
            <a:extLst>
              <a:ext uri="{FF2B5EF4-FFF2-40B4-BE49-F238E27FC236}">
                <a16:creationId xmlns:a16="http://schemas.microsoft.com/office/drawing/2014/main" id="{C2BDBB38-C6D2-EEA6-1927-173C1F8BB2D7}"/>
              </a:ext>
            </a:extLst>
          </p:cNvPr>
          <p:cNvSpPr txBox="1"/>
          <p:nvPr/>
        </p:nvSpPr>
        <p:spPr>
          <a:xfrm>
            <a:off x="304800" y="1054434"/>
            <a:ext cx="17465936" cy="8402300"/>
          </a:xfrm>
          <a:prstGeom prst="rect">
            <a:avLst/>
          </a:prstGeom>
          <a:noFill/>
        </p:spPr>
        <p:txBody>
          <a:bodyPr wrap="square">
            <a:spAutoFit/>
          </a:bodyPr>
          <a:lstStyle/>
          <a:p>
            <a:pPr marL="685800" indent="-685800">
              <a:buFont typeface="Arial" panose="020B0604020202020204" pitchFamily="34" charset="0"/>
              <a:buChar char="•"/>
            </a:pPr>
            <a:r>
              <a:rPr lang="en-US" sz="5400" dirty="0"/>
              <a:t>The </a:t>
            </a:r>
            <a:r>
              <a:rPr lang="en-US" sz="5400" b="1" dirty="0"/>
              <a:t>training set </a:t>
            </a:r>
            <a:r>
              <a:rPr lang="en-US" sz="5400" dirty="0"/>
              <a:t>is used by the algorithm to learn patterns from known examples.</a:t>
            </a:r>
          </a:p>
          <a:p>
            <a:pPr marL="685800" indent="-685800">
              <a:buFont typeface="Arial" panose="020B0604020202020204" pitchFamily="34" charset="0"/>
              <a:buChar char="•"/>
            </a:pPr>
            <a:r>
              <a:rPr lang="en-US" sz="5400" dirty="0"/>
              <a:t>The </a:t>
            </a:r>
            <a:r>
              <a:rPr lang="en-US" sz="5400" b="1" dirty="0"/>
              <a:t>testing set </a:t>
            </a:r>
            <a:r>
              <a:rPr lang="en-US" sz="5400" dirty="0"/>
              <a:t>is held out and used to estimate how the trained model performs on unseen observations.</a:t>
            </a:r>
          </a:p>
          <a:p>
            <a:pPr marL="685800" indent="-685800">
              <a:buFont typeface="Arial" panose="020B0604020202020204" pitchFamily="34" charset="0"/>
              <a:buChar char="•"/>
            </a:pPr>
            <a:r>
              <a:rPr lang="en-US" sz="5400" dirty="0"/>
              <a:t>A </a:t>
            </a:r>
            <a:r>
              <a:rPr lang="en-US" sz="5400" b="1" dirty="0"/>
              <a:t>validation set </a:t>
            </a:r>
            <a:r>
              <a:rPr lang="en-US" sz="5400" dirty="0"/>
              <a:t>may be used during model selection and tuning. </a:t>
            </a:r>
          </a:p>
          <a:p>
            <a:pPr marL="685800" indent="-685800">
              <a:buFont typeface="Arial" panose="020B0604020202020204" pitchFamily="34" charset="0"/>
              <a:buChar char="•"/>
            </a:pPr>
            <a:r>
              <a:rPr lang="en-US" sz="5400" dirty="0"/>
              <a:t>In introductory activities, students may initially use a train-test split and later learn cross-validation. An 80:20 split is a common example, but the appropriate proportion depends on dataset size and research design.</a:t>
            </a:r>
          </a:p>
        </p:txBody>
      </p:sp>
    </p:spTree>
    <p:extLst>
      <p:ext uri="{BB962C8B-B14F-4D97-AF65-F5344CB8AC3E}">
        <p14:creationId xmlns:p14="http://schemas.microsoft.com/office/powerpoint/2010/main" val="41391004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D15CE-54BF-A79A-6EBD-67DFB85A76C7}"/>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E93B3AE5-6B78-0F9D-1559-1B71D40A5BD7}"/>
              </a:ext>
            </a:extLst>
          </p:cNvPr>
          <p:cNvSpPr txBox="1"/>
          <p:nvPr/>
        </p:nvSpPr>
        <p:spPr>
          <a:xfrm>
            <a:off x="304800" y="15688"/>
            <a:ext cx="14817190" cy="1038746"/>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Data Leakage</a:t>
            </a:r>
          </a:p>
        </p:txBody>
      </p:sp>
      <p:sp>
        <p:nvSpPr>
          <p:cNvPr id="4" name="TextBox 3">
            <a:extLst>
              <a:ext uri="{FF2B5EF4-FFF2-40B4-BE49-F238E27FC236}">
                <a16:creationId xmlns:a16="http://schemas.microsoft.com/office/drawing/2014/main" id="{D15B86E9-237B-2E8B-4470-FE0436B007E8}"/>
              </a:ext>
            </a:extLst>
          </p:cNvPr>
          <p:cNvSpPr txBox="1"/>
          <p:nvPr/>
        </p:nvSpPr>
        <p:spPr>
          <a:xfrm>
            <a:off x="304800" y="1054434"/>
            <a:ext cx="17907000" cy="8402300"/>
          </a:xfrm>
          <a:prstGeom prst="rect">
            <a:avLst/>
          </a:prstGeom>
          <a:noFill/>
        </p:spPr>
        <p:txBody>
          <a:bodyPr wrap="square">
            <a:spAutoFit/>
          </a:bodyPr>
          <a:lstStyle/>
          <a:p>
            <a:r>
              <a:rPr lang="en-US" sz="5400" dirty="0"/>
              <a:t>leakage examples:</a:t>
            </a:r>
          </a:p>
          <a:p>
            <a:pPr marL="914400" indent="-914400">
              <a:buAutoNum type="arabicParenBoth"/>
            </a:pPr>
            <a:r>
              <a:rPr lang="en-US" sz="5400" dirty="0"/>
              <a:t>encoding </a:t>
            </a:r>
            <a:r>
              <a:rPr lang="en-US" sz="5400" dirty="0" err="1"/>
              <a:t>Risk_Status</a:t>
            </a:r>
            <a:r>
              <a:rPr lang="en-US" sz="5400" dirty="0"/>
              <a:t> as an input feature; </a:t>
            </a:r>
          </a:p>
          <a:p>
            <a:pPr marL="914400" indent="-914400">
              <a:buAutoNum type="arabicParenBoth"/>
            </a:pPr>
            <a:r>
              <a:rPr lang="en-US" sz="5400" dirty="0"/>
              <a:t>fitting </a:t>
            </a:r>
            <a:r>
              <a:rPr lang="en-US" sz="5400" dirty="0" err="1"/>
              <a:t>StandardScaler</a:t>
            </a:r>
            <a:r>
              <a:rPr lang="en-US" sz="5400" dirty="0"/>
              <a:t> or TF-IDF using the complete dataset before evaluation;</a:t>
            </a:r>
          </a:p>
          <a:p>
            <a:pPr marL="914400" indent="-914400">
              <a:buAutoNum type="arabicParenBoth"/>
            </a:pPr>
            <a:r>
              <a:rPr lang="en-US" sz="5400" dirty="0"/>
              <a:t>using a future-semester outcome to predict an earlier event; and </a:t>
            </a:r>
          </a:p>
          <a:p>
            <a:pPr marL="914400" indent="-914400">
              <a:buAutoNum type="arabicParenBoth"/>
            </a:pPr>
            <a:r>
              <a:rPr lang="en-US" sz="5400" dirty="0"/>
              <a:t>allowing duplicate or near-duplicate cases to appear in both training and testing sets. </a:t>
            </a:r>
          </a:p>
          <a:p>
            <a:r>
              <a:rPr lang="en-US" sz="5400" dirty="0"/>
              <a:t>Extremely high performance should therefore trigger a leakage check rather than immediate acceptance of the result.</a:t>
            </a:r>
          </a:p>
        </p:txBody>
      </p:sp>
    </p:spTree>
    <p:extLst>
      <p:ext uri="{BB962C8B-B14F-4D97-AF65-F5344CB8AC3E}">
        <p14:creationId xmlns:p14="http://schemas.microsoft.com/office/powerpoint/2010/main" val="26478915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9D006-E7B8-AF23-6388-73310ED5C2C4}"/>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3898704A-EFBE-9EFC-8FA3-C039EB0526C6}"/>
              </a:ext>
            </a:extLst>
          </p:cNvPr>
          <p:cNvSpPr txBox="1"/>
          <p:nvPr/>
        </p:nvSpPr>
        <p:spPr>
          <a:xfrm>
            <a:off x="304800" y="15688"/>
            <a:ext cx="14817190" cy="1038746"/>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Data Leakage</a:t>
            </a:r>
          </a:p>
        </p:txBody>
      </p:sp>
      <p:sp>
        <p:nvSpPr>
          <p:cNvPr id="4" name="TextBox 3">
            <a:extLst>
              <a:ext uri="{FF2B5EF4-FFF2-40B4-BE49-F238E27FC236}">
                <a16:creationId xmlns:a16="http://schemas.microsoft.com/office/drawing/2014/main" id="{6FA87420-AE75-5549-2170-63B07F7F08DF}"/>
              </a:ext>
            </a:extLst>
          </p:cNvPr>
          <p:cNvSpPr txBox="1"/>
          <p:nvPr/>
        </p:nvSpPr>
        <p:spPr>
          <a:xfrm>
            <a:off x="304800" y="1054434"/>
            <a:ext cx="17465936" cy="8956298"/>
          </a:xfrm>
          <a:prstGeom prst="rect">
            <a:avLst/>
          </a:prstGeom>
          <a:noFill/>
        </p:spPr>
        <p:txBody>
          <a:bodyPr wrap="square">
            <a:spAutoFit/>
          </a:bodyPr>
          <a:lstStyle/>
          <a:p>
            <a:r>
              <a:rPr lang="en-US" sz="4800" dirty="0"/>
              <a:t>Data leakage occurs when information that should not be available during training improperly influences the model or evaluation process. Leakage can produce unrealistically high performance.</a:t>
            </a:r>
          </a:p>
          <a:p>
            <a:pPr marL="571500" lvl="0" indent="-571500">
              <a:buFont typeface="Arial" panose="020B0604020202020204" pitchFamily="34" charset="0"/>
              <a:buChar char="•"/>
            </a:pPr>
            <a:r>
              <a:rPr lang="en-US" sz="4800" dirty="0"/>
              <a:t>Including the target variable or a direct proxy for it among the features.</a:t>
            </a:r>
          </a:p>
          <a:p>
            <a:pPr marL="571500" lvl="0" indent="-571500">
              <a:buFont typeface="Arial" panose="020B0604020202020204" pitchFamily="34" charset="0"/>
              <a:buChar char="•"/>
            </a:pPr>
            <a:r>
              <a:rPr lang="en-US" sz="4800" dirty="0"/>
              <a:t>Using information from the test set improperly during preprocessing or model selection.</a:t>
            </a:r>
          </a:p>
          <a:p>
            <a:pPr marL="571500" lvl="0" indent="-571500">
              <a:buFont typeface="Arial" panose="020B0604020202020204" pitchFamily="34" charset="0"/>
              <a:buChar char="•"/>
            </a:pPr>
            <a:r>
              <a:rPr lang="en-US" sz="4800" dirty="0"/>
              <a:t>Using future information to predict an earlier event.</a:t>
            </a:r>
          </a:p>
          <a:p>
            <a:pPr marL="571500" lvl="0" indent="-571500">
              <a:buFont typeface="Arial" panose="020B0604020202020204" pitchFamily="34" charset="0"/>
              <a:buChar char="•"/>
            </a:pPr>
            <a:r>
              <a:rPr lang="en-US" sz="4800" dirty="0"/>
              <a:t>Allowing duplicate or near-duplicate observations to appear in both training and test sets when they should be treated as related.</a:t>
            </a:r>
          </a:p>
          <a:p>
            <a:pPr marL="571500" indent="-571500">
              <a:buFont typeface="Arial" panose="020B0604020202020204" pitchFamily="34" charset="0"/>
              <a:buChar char="•"/>
            </a:pPr>
            <a:r>
              <a:rPr lang="en-US" sz="4800" dirty="0"/>
              <a:t>Preventing leakage is essential for trustworthy and defensible thesis results.</a:t>
            </a:r>
          </a:p>
        </p:txBody>
      </p:sp>
    </p:spTree>
    <p:extLst>
      <p:ext uri="{BB962C8B-B14F-4D97-AF65-F5344CB8AC3E}">
        <p14:creationId xmlns:p14="http://schemas.microsoft.com/office/powerpoint/2010/main" val="6390571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23B88-1B21-73AA-32DD-B846C4C75F6A}"/>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0826C25A-A55B-BABE-06BD-5CC3175386F2}"/>
              </a:ext>
            </a:extLst>
          </p:cNvPr>
          <p:cNvSpPr txBox="1"/>
          <p:nvPr/>
        </p:nvSpPr>
        <p:spPr>
          <a:xfrm>
            <a:off x="304800" y="15688"/>
            <a:ext cx="14817190" cy="1038746"/>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Training the Baseline Model</a:t>
            </a:r>
          </a:p>
        </p:txBody>
      </p:sp>
      <p:sp>
        <p:nvSpPr>
          <p:cNvPr id="4" name="TextBox 3">
            <a:extLst>
              <a:ext uri="{FF2B5EF4-FFF2-40B4-BE49-F238E27FC236}">
                <a16:creationId xmlns:a16="http://schemas.microsoft.com/office/drawing/2014/main" id="{144EABBD-C6C5-C765-E22C-1C9211C4AE4B}"/>
              </a:ext>
            </a:extLst>
          </p:cNvPr>
          <p:cNvSpPr txBox="1"/>
          <p:nvPr/>
        </p:nvSpPr>
        <p:spPr>
          <a:xfrm>
            <a:off x="304800" y="1054434"/>
            <a:ext cx="17465936" cy="8956298"/>
          </a:xfrm>
          <a:prstGeom prst="rect">
            <a:avLst/>
          </a:prstGeom>
          <a:noFill/>
        </p:spPr>
        <p:txBody>
          <a:bodyPr wrap="square">
            <a:spAutoFit/>
          </a:bodyPr>
          <a:lstStyle/>
          <a:p>
            <a:pPr marL="685800" indent="-685800">
              <a:buFont typeface="Arial" panose="020B0604020202020204" pitchFamily="34" charset="0"/>
              <a:buChar char="•"/>
            </a:pPr>
            <a:r>
              <a:rPr lang="en-US" sz="4800" dirty="0"/>
              <a:t>Classification example: after preprocessing, train Logistic Regression on </a:t>
            </a:r>
            <a:r>
              <a:rPr lang="en-US" sz="4800" dirty="0" err="1"/>
              <a:t>X_train</a:t>
            </a:r>
            <a:r>
              <a:rPr lang="en-US" sz="4800" dirty="0"/>
              <a:t> and </a:t>
            </a:r>
            <a:r>
              <a:rPr lang="en-US" sz="4800" dirty="0" err="1"/>
              <a:t>y_train</a:t>
            </a:r>
            <a:r>
              <a:rPr lang="en-US" sz="4800" dirty="0"/>
              <a:t>, then generate predictions only for </a:t>
            </a:r>
            <a:r>
              <a:rPr lang="en-US" sz="4800" dirty="0" err="1"/>
              <a:t>X_test</a:t>
            </a:r>
            <a:r>
              <a:rPr lang="en-US" sz="4800" dirty="0"/>
              <a:t>. </a:t>
            </a:r>
          </a:p>
          <a:p>
            <a:pPr marL="685800" indent="-685800">
              <a:buFont typeface="Arial" panose="020B0604020202020204" pitchFamily="34" charset="0"/>
              <a:buChar char="•"/>
            </a:pPr>
            <a:r>
              <a:rPr lang="en-US" sz="4800" dirty="0"/>
              <a:t>Regression example: train Linear Regression using the training subset and estimate continuous values for the held-out subset. </a:t>
            </a:r>
          </a:p>
          <a:p>
            <a:pPr marL="685800" indent="-685800">
              <a:buFont typeface="Arial" panose="020B0604020202020204" pitchFamily="34" charset="0"/>
              <a:buChar char="•"/>
            </a:pPr>
            <a:r>
              <a:rPr lang="en-US" sz="4800" dirty="0"/>
              <a:t>Unsupervised example: K-Means is fitted to a prepared feature matrix without y because clustering has no predefined target.</a:t>
            </a:r>
          </a:p>
          <a:p>
            <a:pPr marL="685800" indent="-685800">
              <a:buFont typeface="Arial" panose="020B0604020202020204" pitchFamily="34" charset="0"/>
              <a:buChar char="•"/>
            </a:pPr>
            <a:r>
              <a:rPr lang="en-US" sz="4800" dirty="0"/>
              <a:t>Reinforcement-learning example follows a different training structure: define the environment, states, actions, and rewards; initialize action values; allow exploration and exploitation; update Q-values after interactions; then evaluate the learned policy by observing whether it reaches the goal efficiently.</a:t>
            </a:r>
          </a:p>
        </p:txBody>
      </p:sp>
    </p:spTree>
    <p:extLst>
      <p:ext uri="{BB962C8B-B14F-4D97-AF65-F5344CB8AC3E}">
        <p14:creationId xmlns:p14="http://schemas.microsoft.com/office/powerpoint/2010/main" val="16645194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B9DA5-F984-6364-A92F-256D8BE9EC41}"/>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1488DB51-B33C-1423-45EE-192F96C80FF7}"/>
              </a:ext>
            </a:extLst>
          </p:cNvPr>
          <p:cNvSpPr txBox="1"/>
          <p:nvPr/>
        </p:nvSpPr>
        <p:spPr>
          <a:xfrm>
            <a:off x="304800" y="15688"/>
            <a:ext cx="14817190" cy="1038746"/>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Training the Baseline Model</a:t>
            </a:r>
          </a:p>
        </p:txBody>
      </p:sp>
      <p:sp>
        <p:nvSpPr>
          <p:cNvPr id="4" name="TextBox 3">
            <a:extLst>
              <a:ext uri="{FF2B5EF4-FFF2-40B4-BE49-F238E27FC236}">
                <a16:creationId xmlns:a16="http://schemas.microsoft.com/office/drawing/2014/main" id="{D8ED4C61-BDD6-A4BC-6047-3987C8D13BF5}"/>
              </a:ext>
            </a:extLst>
          </p:cNvPr>
          <p:cNvSpPr txBox="1"/>
          <p:nvPr/>
        </p:nvSpPr>
        <p:spPr>
          <a:xfrm>
            <a:off x="304800" y="1054434"/>
            <a:ext cx="17465936" cy="1446550"/>
          </a:xfrm>
          <a:prstGeom prst="rect">
            <a:avLst/>
          </a:prstGeom>
          <a:noFill/>
        </p:spPr>
        <p:txBody>
          <a:bodyPr wrap="square">
            <a:spAutoFit/>
          </a:bodyPr>
          <a:lstStyle/>
          <a:p>
            <a:r>
              <a:rPr lang="en-US" sz="4400" dirty="0"/>
              <a:t>Model training is the process in which an algorithm identifies relationships between input features and known target values in the training data.</a:t>
            </a:r>
          </a:p>
        </p:txBody>
      </p:sp>
      <p:pic>
        <p:nvPicPr>
          <p:cNvPr id="6" name="Picture 5">
            <a:extLst>
              <a:ext uri="{FF2B5EF4-FFF2-40B4-BE49-F238E27FC236}">
                <a16:creationId xmlns:a16="http://schemas.microsoft.com/office/drawing/2014/main" id="{E3C51175-4460-B054-B71E-6BD9EC3E0B8B}"/>
              </a:ext>
            </a:extLst>
          </p:cNvPr>
          <p:cNvPicPr>
            <a:picLocks noChangeAspect="1"/>
          </p:cNvPicPr>
          <p:nvPr/>
        </p:nvPicPr>
        <p:blipFill>
          <a:blip r:embed="rId2"/>
          <a:stretch>
            <a:fillRect/>
          </a:stretch>
        </p:blipFill>
        <p:spPr>
          <a:xfrm>
            <a:off x="1371600" y="2533705"/>
            <a:ext cx="8001000" cy="5700918"/>
          </a:xfrm>
          <a:prstGeom prst="rect">
            <a:avLst/>
          </a:prstGeom>
        </p:spPr>
      </p:pic>
      <p:sp>
        <p:nvSpPr>
          <p:cNvPr id="8" name="TextBox 7">
            <a:extLst>
              <a:ext uri="{FF2B5EF4-FFF2-40B4-BE49-F238E27FC236}">
                <a16:creationId xmlns:a16="http://schemas.microsoft.com/office/drawing/2014/main" id="{78D2EA12-36FF-4381-BB58-18A167585F68}"/>
              </a:ext>
            </a:extLst>
          </p:cNvPr>
          <p:cNvSpPr txBox="1"/>
          <p:nvPr/>
        </p:nvSpPr>
        <p:spPr>
          <a:xfrm>
            <a:off x="533400" y="8784366"/>
            <a:ext cx="17237336" cy="1200329"/>
          </a:xfrm>
          <a:prstGeom prst="rect">
            <a:avLst/>
          </a:prstGeom>
          <a:noFill/>
        </p:spPr>
        <p:txBody>
          <a:bodyPr wrap="square">
            <a:spAutoFit/>
          </a:bodyPr>
          <a:lstStyle/>
          <a:p>
            <a:pPr marL="0" marR="0">
              <a:lnSpc>
                <a:spcPct val="100000"/>
              </a:lnSpc>
              <a:spcAft>
                <a:spcPts val="1000"/>
              </a:spcAft>
              <a:buNone/>
            </a:pPr>
            <a:r>
              <a:rPr lang="en-US" sz="3600" dirty="0">
                <a:effectLst/>
                <a:latin typeface="+mn-lt"/>
                <a:ea typeface="MS Mincho" panose="02020609040205080304" pitchFamily="49" charset="-128"/>
                <a:cs typeface="Times New Roman" panose="02020603050405020304" pitchFamily="18" charset="0"/>
              </a:rPr>
              <a:t>Students should modify the code according to their own dataset and problem. The code is not the research method by itself; students must understand and document each step.</a:t>
            </a:r>
            <a:endParaRPr lang="en-US" dirty="0">
              <a:effectLst/>
              <a:latin typeface="Arial" panose="020B06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9923265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785BA-3954-3987-57B1-10E36BE6A578}"/>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A651439A-0C34-1C86-5249-FC03F705BDB1}"/>
              </a:ext>
            </a:extLst>
          </p:cNvPr>
          <p:cNvSpPr txBox="1"/>
          <p:nvPr/>
        </p:nvSpPr>
        <p:spPr>
          <a:xfrm>
            <a:off x="304800" y="15688"/>
            <a:ext cx="14817190" cy="1038746"/>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Initial Model Evaluation</a:t>
            </a:r>
          </a:p>
        </p:txBody>
      </p:sp>
      <p:sp>
        <p:nvSpPr>
          <p:cNvPr id="4" name="TextBox 3">
            <a:extLst>
              <a:ext uri="{FF2B5EF4-FFF2-40B4-BE49-F238E27FC236}">
                <a16:creationId xmlns:a16="http://schemas.microsoft.com/office/drawing/2014/main" id="{DF61E1CF-F54F-0247-8C56-554C9B75E066}"/>
              </a:ext>
            </a:extLst>
          </p:cNvPr>
          <p:cNvSpPr txBox="1"/>
          <p:nvPr/>
        </p:nvSpPr>
        <p:spPr>
          <a:xfrm>
            <a:off x="304800" y="1054434"/>
            <a:ext cx="17465936" cy="7478970"/>
          </a:xfrm>
          <a:prstGeom prst="rect">
            <a:avLst/>
          </a:prstGeom>
          <a:noFill/>
        </p:spPr>
        <p:txBody>
          <a:bodyPr wrap="square">
            <a:spAutoFit/>
          </a:bodyPr>
          <a:lstStyle/>
          <a:p>
            <a:r>
              <a:rPr lang="en-US" sz="4800" b="1" dirty="0"/>
              <a:t>Classification example: </a:t>
            </a:r>
            <a:r>
              <a:rPr lang="en-US" sz="4800" dirty="0"/>
              <a:t>suppose 20 students are actually At Risk and the model detects 18. Recall for the At Risk class is high, but precision may still be lower if many Not At Risk students are incorrectly flagged. Accuracy alone therefore cannot describe the consequences of the model's errors.</a:t>
            </a:r>
          </a:p>
          <a:p>
            <a:r>
              <a:rPr lang="en-US" sz="4800" b="1" dirty="0"/>
              <a:t>Regression example: </a:t>
            </a:r>
            <a:r>
              <a:rPr lang="en-US" sz="4800" dirty="0"/>
              <a:t>MAE expresses the average absolute error in the target's unit; MSE penalizes larger errors more strongly; RMSE returns the error to approximately the original unit; and R-squared describes performance relative to a mean-prediction reference. These metrics should be interpreted together rather than in isolation.</a:t>
            </a:r>
          </a:p>
        </p:txBody>
      </p:sp>
    </p:spTree>
    <p:extLst>
      <p:ext uri="{BB962C8B-B14F-4D97-AF65-F5344CB8AC3E}">
        <p14:creationId xmlns:p14="http://schemas.microsoft.com/office/powerpoint/2010/main" val="4171056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A9873-5712-34A0-18B9-45554346B496}"/>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C99E5A7E-9F03-37C8-88E5-C012BA4D43B0}"/>
              </a:ext>
            </a:extLst>
          </p:cNvPr>
          <p:cNvSpPr txBox="1"/>
          <p:nvPr/>
        </p:nvSpPr>
        <p:spPr>
          <a:xfrm>
            <a:off x="304800" y="15688"/>
            <a:ext cx="14817190" cy="1038746"/>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Initial Model Evaluation</a:t>
            </a:r>
          </a:p>
        </p:txBody>
      </p:sp>
      <p:sp>
        <p:nvSpPr>
          <p:cNvPr id="4" name="TextBox 3">
            <a:extLst>
              <a:ext uri="{FF2B5EF4-FFF2-40B4-BE49-F238E27FC236}">
                <a16:creationId xmlns:a16="http://schemas.microsoft.com/office/drawing/2014/main" id="{586376F1-1E89-2679-1A57-1474619FC7D8}"/>
              </a:ext>
            </a:extLst>
          </p:cNvPr>
          <p:cNvSpPr txBox="1"/>
          <p:nvPr/>
        </p:nvSpPr>
        <p:spPr>
          <a:xfrm>
            <a:off x="304800" y="1054434"/>
            <a:ext cx="17465936" cy="8094524"/>
          </a:xfrm>
          <a:prstGeom prst="rect">
            <a:avLst/>
          </a:prstGeom>
          <a:noFill/>
        </p:spPr>
        <p:txBody>
          <a:bodyPr wrap="square">
            <a:spAutoFit/>
          </a:bodyPr>
          <a:lstStyle/>
          <a:p>
            <a:r>
              <a:rPr lang="en-US" sz="4000" dirty="0"/>
              <a:t>Evaluation metrics should match the Machine Learning task and the consequences of possible errors.</a:t>
            </a:r>
          </a:p>
          <a:p>
            <a:r>
              <a:rPr lang="en-US" sz="4000" b="1" dirty="0"/>
              <a:t>Classification Metrics</a:t>
            </a:r>
          </a:p>
          <a:p>
            <a:pPr marL="571500" lvl="0" indent="-571500">
              <a:buFont typeface="Arial" panose="020B0604020202020204" pitchFamily="34" charset="0"/>
              <a:buChar char="•"/>
            </a:pPr>
            <a:r>
              <a:rPr lang="en-US" sz="4000" dirty="0"/>
              <a:t>Accuracy: proportion of predictions that are correct.</a:t>
            </a:r>
          </a:p>
          <a:p>
            <a:pPr marL="571500" lvl="0" indent="-571500">
              <a:buFont typeface="Arial" panose="020B0604020202020204" pitchFamily="34" charset="0"/>
              <a:buChar char="•"/>
            </a:pPr>
            <a:r>
              <a:rPr lang="en-US" sz="4000" dirty="0"/>
              <a:t>Precision: among predicted positive cases, how many were actually positive?</a:t>
            </a:r>
          </a:p>
          <a:p>
            <a:pPr marL="571500" lvl="0" indent="-571500">
              <a:buFont typeface="Arial" panose="020B0604020202020204" pitchFamily="34" charset="0"/>
              <a:buChar char="•"/>
            </a:pPr>
            <a:r>
              <a:rPr lang="en-US" sz="4000" dirty="0"/>
              <a:t>Recall: among actual positive cases, how many were correctly identified?</a:t>
            </a:r>
          </a:p>
          <a:p>
            <a:pPr marL="571500" lvl="0" indent="-571500">
              <a:buFont typeface="Arial" panose="020B0604020202020204" pitchFamily="34" charset="0"/>
              <a:buChar char="•"/>
            </a:pPr>
            <a:r>
              <a:rPr lang="en-US" sz="4000" dirty="0"/>
              <a:t>F1-score: a harmonic balance between precision and recall.</a:t>
            </a:r>
          </a:p>
          <a:p>
            <a:r>
              <a:rPr lang="en-US" sz="4000" dirty="0"/>
              <a:t>Accuracy alone can be misleading, particularly when classes are imbalanced.</a:t>
            </a:r>
          </a:p>
          <a:p>
            <a:r>
              <a:rPr lang="en-US" sz="4000" b="1" dirty="0"/>
              <a:t>Regression Metrics</a:t>
            </a:r>
          </a:p>
          <a:p>
            <a:pPr marL="571500" lvl="0" indent="-571500">
              <a:buFont typeface="Arial" panose="020B0604020202020204" pitchFamily="34" charset="0"/>
              <a:buChar char="•"/>
            </a:pPr>
            <a:r>
              <a:rPr lang="en-US" sz="4000" dirty="0"/>
              <a:t>Mean Absolute Error (MAE)</a:t>
            </a:r>
          </a:p>
          <a:p>
            <a:pPr marL="571500" lvl="0" indent="-571500">
              <a:buFont typeface="Arial" panose="020B0604020202020204" pitchFamily="34" charset="0"/>
              <a:buChar char="•"/>
            </a:pPr>
            <a:r>
              <a:rPr lang="en-US" sz="4000" dirty="0"/>
              <a:t>Mean Squared Error (MSE)</a:t>
            </a:r>
          </a:p>
          <a:p>
            <a:pPr marL="571500" lvl="0" indent="-571500">
              <a:buFont typeface="Arial" panose="020B0604020202020204" pitchFamily="34" charset="0"/>
              <a:buChar char="•"/>
            </a:pPr>
            <a:r>
              <a:rPr lang="en-US" sz="4000" dirty="0"/>
              <a:t>Root Mean Squared Error (RMSE)</a:t>
            </a:r>
          </a:p>
          <a:p>
            <a:pPr marL="571500" lvl="0" indent="-571500">
              <a:buFont typeface="Arial" panose="020B0604020202020204" pitchFamily="34" charset="0"/>
              <a:buChar char="•"/>
            </a:pPr>
            <a:r>
              <a:rPr lang="en-US" sz="4000" dirty="0"/>
              <a:t>Coefficient of Determination (R²)</a:t>
            </a:r>
          </a:p>
        </p:txBody>
      </p:sp>
    </p:spTree>
    <p:extLst>
      <p:ext uri="{BB962C8B-B14F-4D97-AF65-F5344CB8AC3E}">
        <p14:creationId xmlns:p14="http://schemas.microsoft.com/office/powerpoint/2010/main" val="18733721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54C1C-F227-69F3-0238-E5E382D27529}"/>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9E7A4D3D-A622-B595-96DA-DF997ED72A15}"/>
              </a:ext>
            </a:extLst>
          </p:cNvPr>
          <p:cNvSpPr txBox="1"/>
          <p:nvPr/>
        </p:nvSpPr>
        <p:spPr>
          <a:xfrm>
            <a:off x="304800" y="15688"/>
            <a:ext cx="14817190" cy="1038746"/>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Initial Model Evaluation</a:t>
            </a:r>
          </a:p>
        </p:txBody>
      </p:sp>
      <p:pic>
        <p:nvPicPr>
          <p:cNvPr id="5" name="Picture 4">
            <a:extLst>
              <a:ext uri="{FF2B5EF4-FFF2-40B4-BE49-F238E27FC236}">
                <a16:creationId xmlns:a16="http://schemas.microsoft.com/office/drawing/2014/main" id="{F3A8BBF5-92B2-A37C-C34C-D61DCB0F8280}"/>
              </a:ext>
            </a:extLst>
          </p:cNvPr>
          <p:cNvPicPr>
            <a:picLocks noChangeAspect="1"/>
          </p:cNvPicPr>
          <p:nvPr/>
        </p:nvPicPr>
        <p:blipFill>
          <a:blip r:embed="rId2"/>
          <a:stretch>
            <a:fillRect/>
          </a:stretch>
        </p:blipFill>
        <p:spPr>
          <a:xfrm>
            <a:off x="1066800" y="2476500"/>
            <a:ext cx="16807880" cy="3657600"/>
          </a:xfrm>
          <a:prstGeom prst="rect">
            <a:avLst/>
          </a:prstGeom>
        </p:spPr>
      </p:pic>
    </p:spTree>
    <p:extLst>
      <p:ext uri="{BB962C8B-B14F-4D97-AF65-F5344CB8AC3E}">
        <p14:creationId xmlns:p14="http://schemas.microsoft.com/office/powerpoint/2010/main" val="3851427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7A2D1-E6AC-E716-9FBB-220BDEBAE258}"/>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AD207A56-7B07-70EE-0DBC-E877B3A6321B}"/>
              </a:ext>
            </a:extLst>
          </p:cNvPr>
          <p:cNvSpPr txBox="1"/>
          <p:nvPr/>
        </p:nvSpPr>
        <p:spPr>
          <a:xfrm>
            <a:off x="304800" y="15688"/>
            <a:ext cx="14817190" cy="1038746"/>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22588D"/>
                </a:solidFill>
                <a:latin typeface="Museo Moderno Bold"/>
                <a:ea typeface="Museo Moderno Bold"/>
                <a:cs typeface="Museo Moderno Bold"/>
                <a:sym typeface="Museo Moderno Bold"/>
              </a:rPr>
              <a:t>The Confusion Matrix</a:t>
            </a:r>
          </a:p>
        </p:txBody>
      </p:sp>
      <p:sp>
        <p:nvSpPr>
          <p:cNvPr id="4" name="TextBox 3">
            <a:extLst>
              <a:ext uri="{FF2B5EF4-FFF2-40B4-BE49-F238E27FC236}">
                <a16:creationId xmlns:a16="http://schemas.microsoft.com/office/drawing/2014/main" id="{34B2ECA8-770A-CAC5-3CF7-0777638ED270}"/>
              </a:ext>
            </a:extLst>
          </p:cNvPr>
          <p:cNvSpPr txBox="1"/>
          <p:nvPr/>
        </p:nvSpPr>
        <p:spPr>
          <a:xfrm>
            <a:off x="304800" y="1044739"/>
            <a:ext cx="17221200" cy="7509748"/>
          </a:xfrm>
          <a:prstGeom prst="rect">
            <a:avLst/>
          </a:prstGeom>
          <a:noFill/>
        </p:spPr>
        <p:txBody>
          <a:bodyPr wrap="square">
            <a:spAutoFit/>
          </a:bodyPr>
          <a:lstStyle/>
          <a:p>
            <a:pPr marL="0" marR="0">
              <a:lnSpc>
                <a:spcPct val="100000"/>
              </a:lnSpc>
              <a:spcAft>
                <a:spcPts val="1000"/>
              </a:spcAft>
              <a:buNone/>
            </a:pPr>
            <a:r>
              <a:rPr lang="en-US" sz="3600" dirty="0">
                <a:effectLst/>
                <a:latin typeface="+mn-lt"/>
                <a:ea typeface="MS Mincho" panose="02020609040205080304" pitchFamily="49" charset="-128"/>
                <a:cs typeface="Times New Roman" panose="02020603050405020304" pitchFamily="18" charset="0"/>
              </a:rPr>
              <a:t>Example interpretation: A false negative in academic-risk prediction means an actually At Risk student is predicted as Not At Risk. A false positive means a Not At Risk student is flagged as At Risk. Which error is more serious depends on the research application, available interventions, and consequences of incorrect decisions.</a:t>
            </a:r>
          </a:p>
          <a:p>
            <a:pPr marL="0" marR="0">
              <a:lnSpc>
                <a:spcPct val="100000"/>
              </a:lnSpc>
              <a:spcAft>
                <a:spcPts val="1000"/>
              </a:spcAft>
              <a:buNone/>
            </a:pPr>
            <a:r>
              <a:rPr lang="en-US" sz="3600" dirty="0">
                <a:effectLst/>
                <a:latin typeface="+mn-lt"/>
                <a:ea typeface="MS Mincho" panose="02020609040205080304" pitchFamily="49" charset="-128"/>
                <a:cs typeface="Times New Roman" panose="02020603050405020304" pitchFamily="18" charset="0"/>
              </a:rPr>
              <a:t>For classification, a confusion matrix summarizes correct and incorrect predictions by class.</a:t>
            </a:r>
          </a:p>
          <a:p>
            <a:pPr marL="342900" marR="0" lvl="0" indent="-342900">
              <a:lnSpc>
                <a:spcPct val="100000"/>
              </a:lnSpc>
              <a:spcAft>
                <a:spcPts val="1000"/>
              </a:spcAft>
              <a:buFont typeface="Symbol" panose="05050102010706020507" pitchFamily="18" charset="2"/>
              <a:buChar char=""/>
              <a:tabLst>
                <a:tab pos="228600" algn="l"/>
              </a:tabLst>
            </a:pPr>
            <a:r>
              <a:rPr lang="en-US" sz="3600" dirty="0">
                <a:effectLst/>
                <a:latin typeface="+mn-lt"/>
                <a:ea typeface="MS Mincho" panose="02020609040205080304" pitchFamily="49" charset="-128"/>
                <a:cs typeface="Times New Roman" panose="02020603050405020304" pitchFamily="18" charset="0"/>
              </a:rPr>
              <a:t>True Positive (TP)</a:t>
            </a:r>
          </a:p>
          <a:p>
            <a:pPr marL="342900" marR="0" lvl="0" indent="-342900">
              <a:lnSpc>
                <a:spcPct val="100000"/>
              </a:lnSpc>
              <a:spcAft>
                <a:spcPts val="1000"/>
              </a:spcAft>
              <a:buFont typeface="Symbol" panose="05050102010706020507" pitchFamily="18" charset="2"/>
              <a:buChar char=""/>
              <a:tabLst>
                <a:tab pos="228600" algn="l"/>
              </a:tabLst>
            </a:pPr>
            <a:r>
              <a:rPr lang="en-US" sz="3600" dirty="0">
                <a:effectLst/>
                <a:latin typeface="+mn-lt"/>
                <a:ea typeface="MS Mincho" panose="02020609040205080304" pitchFamily="49" charset="-128"/>
                <a:cs typeface="Times New Roman" panose="02020603050405020304" pitchFamily="18" charset="0"/>
              </a:rPr>
              <a:t>True Negative (TN)</a:t>
            </a:r>
          </a:p>
          <a:p>
            <a:pPr marL="342900" marR="0" lvl="0" indent="-342900">
              <a:lnSpc>
                <a:spcPct val="100000"/>
              </a:lnSpc>
              <a:spcAft>
                <a:spcPts val="1000"/>
              </a:spcAft>
              <a:buFont typeface="Symbol" panose="05050102010706020507" pitchFamily="18" charset="2"/>
              <a:buChar char=""/>
              <a:tabLst>
                <a:tab pos="228600" algn="l"/>
              </a:tabLst>
            </a:pPr>
            <a:r>
              <a:rPr lang="en-US" sz="3600" dirty="0">
                <a:effectLst/>
                <a:latin typeface="+mn-lt"/>
                <a:ea typeface="MS Mincho" panose="02020609040205080304" pitchFamily="49" charset="-128"/>
                <a:cs typeface="Times New Roman" panose="02020603050405020304" pitchFamily="18" charset="0"/>
              </a:rPr>
              <a:t>False Positive (FP)</a:t>
            </a:r>
          </a:p>
          <a:p>
            <a:pPr marL="342900" marR="0" lvl="0" indent="-342900">
              <a:lnSpc>
                <a:spcPct val="100000"/>
              </a:lnSpc>
              <a:spcAft>
                <a:spcPts val="1000"/>
              </a:spcAft>
              <a:buFont typeface="Symbol" panose="05050102010706020507" pitchFamily="18" charset="2"/>
              <a:buChar char=""/>
              <a:tabLst>
                <a:tab pos="228600" algn="l"/>
              </a:tabLst>
            </a:pPr>
            <a:r>
              <a:rPr lang="en-US" sz="3600" dirty="0">
                <a:effectLst/>
                <a:latin typeface="+mn-lt"/>
                <a:ea typeface="MS Mincho" panose="02020609040205080304" pitchFamily="49" charset="-128"/>
                <a:cs typeface="Times New Roman" panose="02020603050405020304" pitchFamily="18" charset="0"/>
              </a:rPr>
              <a:t>False Negative (FN)</a:t>
            </a:r>
          </a:p>
          <a:p>
            <a:pPr marL="0" marR="0" algn="just">
              <a:lnSpc>
                <a:spcPct val="100000"/>
              </a:lnSpc>
              <a:spcAft>
                <a:spcPts val="1000"/>
              </a:spcAft>
              <a:buNone/>
            </a:pPr>
            <a:r>
              <a:rPr lang="en-US" sz="3600" dirty="0">
                <a:effectLst/>
                <a:latin typeface="+mn-lt"/>
                <a:ea typeface="MS Mincho" panose="02020609040205080304" pitchFamily="49" charset="-128"/>
                <a:cs typeface="Times New Roman" panose="02020603050405020304" pitchFamily="18" charset="0"/>
              </a:rPr>
              <a:t>Students should consider the consequences of different errors. In some applications, failing to identify a true positive case may be more serious than incorrectly flagging a negative case.</a:t>
            </a:r>
            <a:endParaRPr lang="en-US" dirty="0">
              <a:effectLst/>
              <a:latin typeface="Arial" panose="020B06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6846061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408AA-AF05-8878-EFC3-4F3E2D70F91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E4F2274-24D7-FD78-CC39-15914DBA87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0"/>
            <a:ext cx="15773400" cy="10515600"/>
          </a:xfrm>
          <a:prstGeom prst="rect">
            <a:avLst/>
          </a:prstGeom>
        </p:spPr>
      </p:pic>
    </p:spTree>
    <p:extLst>
      <p:ext uri="{BB962C8B-B14F-4D97-AF65-F5344CB8AC3E}">
        <p14:creationId xmlns:p14="http://schemas.microsoft.com/office/powerpoint/2010/main" val="16800390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BF597-9018-26AA-C12C-FFFD5918D521}"/>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D7B9081B-5934-5ACB-3138-CE79E363412E}"/>
              </a:ext>
            </a:extLst>
          </p:cNvPr>
          <p:cNvSpPr txBox="1"/>
          <p:nvPr/>
        </p:nvSpPr>
        <p:spPr>
          <a:xfrm>
            <a:off x="281262" y="16329"/>
            <a:ext cx="17016137"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Overfitting and Underfitting</a:t>
            </a:r>
          </a:p>
        </p:txBody>
      </p:sp>
      <p:sp>
        <p:nvSpPr>
          <p:cNvPr id="5" name="TextBox 4">
            <a:extLst>
              <a:ext uri="{FF2B5EF4-FFF2-40B4-BE49-F238E27FC236}">
                <a16:creationId xmlns:a16="http://schemas.microsoft.com/office/drawing/2014/main" id="{738EE273-255A-2C96-008F-B2A1199012E3}"/>
              </a:ext>
            </a:extLst>
          </p:cNvPr>
          <p:cNvSpPr txBox="1"/>
          <p:nvPr/>
        </p:nvSpPr>
        <p:spPr>
          <a:xfrm>
            <a:off x="262436" y="1181100"/>
            <a:ext cx="17489710" cy="8217634"/>
          </a:xfrm>
          <a:prstGeom prst="rect">
            <a:avLst/>
          </a:prstGeom>
          <a:noFill/>
        </p:spPr>
        <p:txBody>
          <a:bodyPr wrap="square">
            <a:spAutoFit/>
          </a:bodyPr>
          <a:lstStyle/>
          <a:p>
            <a:pPr marL="571500" indent="-571500">
              <a:buFont typeface="Arial" panose="020B0604020202020204" pitchFamily="34" charset="0"/>
              <a:buChar char="•"/>
            </a:pPr>
            <a:r>
              <a:rPr lang="en-US" sz="4400" dirty="0"/>
              <a:t>a </a:t>
            </a:r>
            <a:r>
              <a:rPr lang="en-US" sz="4400" b="1" dirty="0"/>
              <a:t>Decision Tree </a:t>
            </a:r>
            <a:r>
              <a:rPr lang="en-US" sz="4400" dirty="0"/>
              <a:t>with very shallow depth may perform poorly on both training and testing data, suggesting underfitting. A fully grown tree may achieve nearly perfect training accuracy but noticeably weaker test accuracy, suggesting overfitting. Students should compare training and unseen-data behavior rather than reporting training performance alone.</a:t>
            </a:r>
          </a:p>
          <a:p>
            <a:pPr marL="571500" indent="-571500">
              <a:buFont typeface="Arial" panose="020B0604020202020204" pitchFamily="34" charset="0"/>
              <a:buChar char="•"/>
            </a:pPr>
            <a:r>
              <a:rPr lang="en-US" sz="4400" b="1" dirty="0"/>
              <a:t>Underfitting</a:t>
            </a:r>
            <a:r>
              <a:rPr lang="en-US" sz="4400" dirty="0"/>
              <a:t> occurs when a model is too simple or insufficiently trained to capture important patterns. Performance may be poor even on training data.</a:t>
            </a:r>
          </a:p>
          <a:p>
            <a:pPr marL="571500" indent="-571500">
              <a:buFont typeface="Arial" panose="020B0604020202020204" pitchFamily="34" charset="0"/>
              <a:buChar char="•"/>
            </a:pPr>
            <a:r>
              <a:rPr lang="en-US" sz="4400" b="1" dirty="0"/>
              <a:t>Overfitting </a:t>
            </a:r>
            <a:r>
              <a:rPr lang="en-US" sz="4400" dirty="0"/>
              <a:t>occurs when a model learns patterns that are overly specific to the training data, including noise, and performs poorly on unseen data. The goal is not simply to maximize training performance but to generalize reasonably well.</a:t>
            </a:r>
          </a:p>
        </p:txBody>
      </p:sp>
    </p:spTree>
    <p:extLst>
      <p:ext uri="{BB962C8B-B14F-4D97-AF65-F5344CB8AC3E}">
        <p14:creationId xmlns:p14="http://schemas.microsoft.com/office/powerpoint/2010/main" val="13691646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95F53-FD8C-A5B7-39B6-B6D4B44D4F7C}"/>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EB615251-BFEF-1F84-E5E2-EE6F013A7491}"/>
              </a:ext>
            </a:extLst>
          </p:cNvPr>
          <p:cNvSpPr txBox="1"/>
          <p:nvPr/>
        </p:nvSpPr>
        <p:spPr>
          <a:xfrm>
            <a:off x="281262" y="16329"/>
            <a:ext cx="17016137"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Reproducibility in Thesis Experiments</a:t>
            </a:r>
          </a:p>
        </p:txBody>
      </p:sp>
      <p:sp>
        <p:nvSpPr>
          <p:cNvPr id="5" name="TextBox 4">
            <a:extLst>
              <a:ext uri="{FF2B5EF4-FFF2-40B4-BE49-F238E27FC236}">
                <a16:creationId xmlns:a16="http://schemas.microsoft.com/office/drawing/2014/main" id="{1D5CF24D-E819-735C-A8D4-A884DA28BF1A}"/>
              </a:ext>
            </a:extLst>
          </p:cNvPr>
          <p:cNvSpPr txBox="1"/>
          <p:nvPr/>
        </p:nvSpPr>
        <p:spPr>
          <a:xfrm>
            <a:off x="262436" y="1181100"/>
            <a:ext cx="17489710" cy="6740307"/>
          </a:xfrm>
          <a:prstGeom prst="rect">
            <a:avLst/>
          </a:prstGeom>
          <a:noFill/>
        </p:spPr>
        <p:txBody>
          <a:bodyPr wrap="square">
            <a:spAutoFit/>
          </a:bodyPr>
          <a:lstStyle/>
          <a:p>
            <a:pPr marL="571500" indent="-571500">
              <a:buFont typeface="Arial" panose="020B0604020202020204" pitchFamily="34" charset="0"/>
              <a:buChar char="•"/>
            </a:pPr>
            <a:r>
              <a:rPr lang="en-US" sz="4800" dirty="0"/>
              <a:t>For every experiment, record the dataset source/version, observations used, features and target, preprocessing procedures, split or validation method, algorithm, important hyperparameters, random seed, evaluation metrics, results, and interpretation. </a:t>
            </a:r>
          </a:p>
          <a:p>
            <a:pPr marL="571500" indent="-571500">
              <a:buFont typeface="Arial" panose="020B0604020202020204" pitchFamily="34" charset="0"/>
              <a:buChar char="•"/>
            </a:pPr>
            <a:r>
              <a:rPr lang="en-US" sz="4800" dirty="0"/>
              <a:t>For text experiments, also document normalization, tokenization or vectorization settings; for clustering, document scaling and number of clusters; for reinforcement learning, document states, actions, reward design, learning rate, discount factor, exploration strategy, and number of episodes.</a:t>
            </a:r>
          </a:p>
        </p:txBody>
      </p:sp>
    </p:spTree>
    <p:extLst>
      <p:ext uri="{BB962C8B-B14F-4D97-AF65-F5344CB8AC3E}">
        <p14:creationId xmlns:p14="http://schemas.microsoft.com/office/powerpoint/2010/main" val="16761999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526E8-84C6-20A9-AB8D-44048DE33A56}"/>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C4A63FD3-D361-2E2D-D7D9-25B4F28E01CF}"/>
              </a:ext>
            </a:extLst>
          </p:cNvPr>
          <p:cNvSpPr txBox="1"/>
          <p:nvPr/>
        </p:nvSpPr>
        <p:spPr>
          <a:xfrm>
            <a:off x="281262" y="16329"/>
            <a:ext cx="17016137"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Reproducibility in Thesis Experiments</a:t>
            </a:r>
          </a:p>
        </p:txBody>
      </p:sp>
      <p:sp>
        <p:nvSpPr>
          <p:cNvPr id="5" name="TextBox 4">
            <a:extLst>
              <a:ext uri="{FF2B5EF4-FFF2-40B4-BE49-F238E27FC236}">
                <a16:creationId xmlns:a16="http://schemas.microsoft.com/office/drawing/2014/main" id="{5B23A7F8-4574-2CAF-6C8B-6AFD4236EF44}"/>
              </a:ext>
            </a:extLst>
          </p:cNvPr>
          <p:cNvSpPr txBox="1"/>
          <p:nvPr/>
        </p:nvSpPr>
        <p:spPr>
          <a:xfrm>
            <a:off x="262436" y="1181100"/>
            <a:ext cx="17489710" cy="8710077"/>
          </a:xfrm>
          <a:prstGeom prst="rect">
            <a:avLst/>
          </a:prstGeom>
          <a:noFill/>
        </p:spPr>
        <p:txBody>
          <a:bodyPr wrap="square">
            <a:spAutoFit/>
          </a:bodyPr>
          <a:lstStyle/>
          <a:p>
            <a:r>
              <a:rPr lang="en-US" sz="4000" dirty="0"/>
              <a:t>Students should document experiments so that the work can be repeated and verified.</a:t>
            </a:r>
          </a:p>
          <a:p>
            <a:pPr marL="571500" lvl="0" indent="-571500">
              <a:buFont typeface="Arial" panose="020B0604020202020204" pitchFamily="34" charset="0"/>
              <a:buChar char="•"/>
            </a:pPr>
            <a:r>
              <a:rPr lang="en-US" sz="4000" dirty="0"/>
              <a:t>Dataset source and version</a:t>
            </a:r>
          </a:p>
          <a:p>
            <a:pPr marL="571500" lvl="0" indent="-571500">
              <a:buFont typeface="Arial" panose="020B0604020202020204" pitchFamily="34" charset="0"/>
              <a:buChar char="•"/>
            </a:pPr>
            <a:r>
              <a:rPr lang="en-US" sz="4000" dirty="0"/>
              <a:t>Number of observations used</a:t>
            </a:r>
          </a:p>
          <a:p>
            <a:pPr marL="571500" lvl="0" indent="-571500">
              <a:buFont typeface="Arial" panose="020B0604020202020204" pitchFamily="34" charset="0"/>
              <a:buChar char="•"/>
            </a:pPr>
            <a:r>
              <a:rPr lang="en-US" sz="4000" dirty="0"/>
              <a:t>Features and target variable</a:t>
            </a:r>
          </a:p>
          <a:p>
            <a:pPr marL="571500" lvl="0" indent="-571500">
              <a:buFont typeface="Arial" panose="020B0604020202020204" pitchFamily="34" charset="0"/>
              <a:buChar char="•"/>
            </a:pPr>
            <a:r>
              <a:rPr lang="en-US" sz="4000" dirty="0"/>
              <a:t>Preprocessing procedures</a:t>
            </a:r>
          </a:p>
          <a:p>
            <a:pPr marL="571500" lvl="0" indent="-571500">
              <a:buFont typeface="Arial" panose="020B0604020202020204" pitchFamily="34" charset="0"/>
              <a:buChar char="•"/>
            </a:pPr>
            <a:r>
              <a:rPr lang="en-US" sz="4000" dirty="0"/>
              <a:t>Train-test split or validation procedure</a:t>
            </a:r>
          </a:p>
          <a:p>
            <a:pPr marL="571500" lvl="0" indent="-571500">
              <a:buFont typeface="Arial" panose="020B0604020202020204" pitchFamily="34" charset="0"/>
              <a:buChar char="•"/>
            </a:pPr>
            <a:r>
              <a:rPr lang="en-US" sz="4000" dirty="0"/>
              <a:t>Algorithm used</a:t>
            </a:r>
          </a:p>
          <a:p>
            <a:pPr marL="571500" lvl="0" indent="-571500">
              <a:buFont typeface="Arial" panose="020B0604020202020204" pitchFamily="34" charset="0"/>
              <a:buChar char="•"/>
            </a:pPr>
            <a:r>
              <a:rPr lang="en-US" sz="4000" dirty="0"/>
              <a:t>Important model parameters</a:t>
            </a:r>
          </a:p>
          <a:p>
            <a:pPr marL="571500" lvl="0" indent="-571500">
              <a:buFont typeface="Arial" panose="020B0604020202020204" pitchFamily="34" charset="0"/>
              <a:buChar char="•"/>
            </a:pPr>
            <a:r>
              <a:rPr lang="en-US" sz="4000" dirty="0"/>
              <a:t>Random seed, where applicable</a:t>
            </a:r>
          </a:p>
          <a:p>
            <a:pPr marL="571500" lvl="0" indent="-571500">
              <a:buFont typeface="Arial" panose="020B0604020202020204" pitchFamily="34" charset="0"/>
              <a:buChar char="•"/>
            </a:pPr>
            <a:r>
              <a:rPr lang="en-US" sz="4000" dirty="0"/>
              <a:t>Evaluation metrics</a:t>
            </a:r>
          </a:p>
          <a:p>
            <a:pPr marL="571500" lvl="0" indent="-571500">
              <a:buFont typeface="Arial" panose="020B0604020202020204" pitchFamily="34" charset="0"/>
              <a:buChar char="•"/>
            </a:pPr>
            <a:r>
              <a:rPr lang="en-US" sz="4000" dirty="0"/>
              <a:t>Results and interpretation</a:t>
            </a:r>
          </a:p>
          <a:p>
            <a:r>
              <a:rPr lang="en-US" sz="4000" dirty="0"/>
              <a:t>This documentation will later support the methodology and results sections of the thesis.</a:t>
            </a:r>
          </a:p>
        </p:txBody>
      </p:sp>
    </p:spTree>
    <p:extLst>
      <p:ext uri="{BB962C8B-B14F-4D97-AF65-F5344CB8AC3E}">
        <p14:creationId xmlns:p14="http://schemas.microsoft.com/office/powerpoint/2010/main" val="35699505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0805F-5543-DB64-975A-0367240242D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E59C05-75BE-B237-549F-6B4DD8086CBD}"/>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DD6004F5-B0DC-D612-6617-53083ED97E4A}"/>
              </a:ext>
            </a:extLst>
          </p:cNvPr>
          <p:cNvSpPr txBox="1"/>
          <p:nvPr/>
        </p:nvSpPr>
        <p:spPr>
          <a:xfrm>
            <a:off x="281262" y="16329"/>
            <a:ext cx="17016137"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Interpreting Baseline Results</a:t>
            </a:r>
          </a:p>
        </p:txBody>
      </p:sp>
      <p:sp>
        <p:nvSpPr>
          <p:cNvPr id="5" name="TextBox 4">
            <a:extLst>
              <a:ext uri="{FF2B5EF4-FFF2-40B4-BE49-F238E27FC236}">
                <a16:creationId xmlns:a16="http://schemas.microsoft.com/office/drawing/2014/main" id="{0A67F554-A331-7C22-4FF8-3507FD7C2A76}"/>
              </a:ext>
            </a:extLst>
          </p:cNvPr>
          <p:cNvSpPr txBox="1"/>
          <p:nvPr/>
        </p:nvSpPr>
        <p:spPr>
          <a:xfrm>
            <a:off x="341090" y="1485900"/>
            <a:ext cx="17794510" cy="8956298"/>
          </a:xfrm>
          <a:prstGeom prst="rect">
            <a:avLst/>
          </a:prstGeom>
          <a:noFill/>
        </p:spPr>
        <p:txBody>
          <a:bodyPr wrap="square">
            <a:spAutoFit/>
          </a:bodyPr>
          <a:lstStyle/>
          <a:p>
            <a:r>
              <a:rPr lang="en-US" sz="4800" dirty="0"/>
              <a:t>Model comparison should be evidence-based. </a:t>
            </a:r>
          </a:p>
          <a:p>
            <a:pPr marL="685800" indent="-685800">
              <a:buFont typeface="Arial" panose="020B0604020202020204" pitchFamily="34" charset="0"/>
              <a:buChar char="•"/>
            </a:pPr>
            <a:r>
              <a:rPr lang="en-US" sz="4800" dirty="0"/>
              <a:t>For classification, compare the naive baseline and learned models using metrics relevant to the problem and inspect confusion-matrix errors. </a:t>
            </a:r>
          </a:p>
          <a:p>
            <a:pPr marL="685800" indent="-685800">
              <a:buFont typeface="Arial" panose="020B0604020202020204" pitchFamily="34" charset="0"/>
              <a:buChar char="•"/>
            </a:pPr>
            <a:r>
              <a:rPr lang="en-US" sz="4800" dirty="0"/>
              <a:t>For regression, compare MAE/RMSE/R-squared and inspect large residuals. </a:t>
            </a:r>
          </a:p>
          <a:p>
            <a:pPr marL="685800" indent="-685800">
              <a:buFont typeface="Arial" panose="020B0604020202020204" pitchFamily="34" charset="0"/>
              <a:buChar char="•"/>
            </a:pPr>
            <a:r>
              <a:rPr lang="en-US" sz="4800" dirty="0"/>
              <a:t>For clustering, inspect silhouette score together with cluster profiles. </a:t>
            </a:r>
          </a:p>
          <a:p>
            <a:pPr marL="685800" indent="-685800">
              <a:buFont typeface="Arial" panose="020B0604020202020204" pitchFamily="34" charset="0"/>
              <a:buChar char="•"/>
            </a:pPr>
            <a:r>
              <a:rPr lang="en-US" sz="4800" dirty="0"/>
              <a:t>For reinforcement learning, inspect the learned policy, path efficiency, and accumulated reward. </a:t>
            </a:r>
          </a:p>
          <a:p>
            <a:r>
              <a:rPr lang="en-US" sz="4800" dirty="0"/>
              <a:t>A more complex model should be retained only when its improvement is meaningful for the research objective.</a:t>
            </a:r>
          </a:p>
        </p:txBody>
      </p:sp>
    </p:spTree>
    <p:extLst>
      <p:ext uri="{BB962C8B-B14F-4D97-AF65-F5344CB8AC3E}">
        <p14:creationId xmlns:p14="http://schemas.microsoft.com/office/powerpoint/2010/main" val="3359671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34635-81C4-E150-7955-06B8CC92CAA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729C5BE-FE51-50EA-34EF-D289CD6539BF}"/>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96048B12-44AE-9503-1D7B-B038051AAD6E}"/>
              </a:ext>
            </a:extLst>
          </p:cNvPr>
          <p:cNvSpPr txBox="1"/>
          <p:nvPr/>
        </p:nvSpPr>
        <p:spPr>
          <a:xfrm>
            <a:off x="281262" y="16329"/>
            <a:ext cx="17016137"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Key Takeaways</a:t>
            </a:r>
          </a:p>
        </p:txBody>
      </p:sp>
      <p:sp>
        <p:nvSpPr>
          <p:cNvPr id="5" name="TextBox 4">
            <a:extLst>
              <a:ext uri="{FF2B5EF4-FFF2-40B4-BE49-F238E27FC236}">
                <a16:creationId xmlns:a16="http://schemas.microsoft.com/office/drawing/2014/main" id="{3D7C96A6-988E-4DA5-A83C-81E59D8DF010}"/>
              </a:ext>
            </a:extLst>
          </p:cNvPr>
          <p:cNvSpPr txBox="1"/>
          <p:nvPr/>
        </p:nvSpPr>
        <p:spPr>
          <a:xfrm>
            <a:off x="341090" y="1485900"/>
            <a:ext cx="17489710" cy="7540526"/>
          </a:xfrm>
          <a:prstGeom prst="rect">
            <a:avLst/>
          </a:prstGeom>
          <a:noFill/>
        </p:spPr>
        <p:txBody>
          <a:bodyPr wrap="square">
            <a:spAutoFit/>
          </a:bodyPr>
          <a:lstStyle/>
          <a:p>
            <a:pPr lvl="0"/>
            <a:r>
              <a:rPr lang="en-US" sz="4400" dirty="0"/>
              <a:t>A baseline result should not simply be described as good or bad. Students should ask:</a:t>
            </a:r>
          </a:p>
          <a:p>
            <a:pPr marL="742950" lvl="0" indent="-742950">
              <a:buFont typeface="Arial" panose="020B0604020202020204" pitchFamily="34" charset="0"/>
              <a:buChar char="•"/>
            </a:pPr>
            <a:r>
              <a:rPr lang="en-US" sz="4400" dirty="0"/>
              <a:t>Does the model perform better than a trivial or naive approach?</a:t>
            </a:r>
          </a:p>
          <a:p>
            <a:pPr marL="742950" lvl="0" indent="-742950">
              <a:buFont typeface="Arial" panose="020B0604020202020204" pitchFamily="34" charset="0"/>
              <a:buChar char="•"/>
            </a:pPr>
            <a:r>
              <a:rPr lang="en-US" sz="4400" dirty="0"/>
              <a:t>Which classes are predicted well or poorly?</a:t>
            </a:r>
          </a:p>
          <a:p>
            <a:pPr marL="742950" lvl="0" indent="-742950">
              <a:buFont typeface="Arial" panose="020B0604020202020204" pitchFamily="34" charset="0"/>
              <a:buChar char="•"/>
            </a:pPr>
            <a:r>
              <a:rPr lang="en-US" sz="4400" dirty="0"/>
              <a:t>Is the dataset imbalanced?</a:t>
            </a:r>
          </a:p>
          <a:p>
            <a:pPr marL="742950" lvl="0" indent="-742950">
              <a:buFont typeface="Arial" panose="020B0604020202020204" pitchFamily="34" charset="0"/>
              <a:buChar char="•"/>
            </a:pPr>
            <a:r>
              <a:rPr lang="en-US" sz="4400" dirty="0"/>
              <a:t>Are some features missing or unreliable?</a:t>
            </a:r>
          </a:p>
          <a:p>
            <a:pPr marL="742950" lvl="0" indent="-742950">
              <a:buFont typeface="Arial" panose="020B0604020202020204" pitchFamily="34" charset="0"/>
              <a:buChar char="•"/>
            </a:pPr>
            <a:r>
              <a:rPr lang="en-US" sz="4400" dirty="0"/>
              <a:t>Could preprocessing be improved?</a:t>
            </a:r>
          </a:p>
          <a:p>
            <a:pPr marL="742950" lvl="0" indent="-742950">
              <a:buFont typeface="Arial" panose="020B0604020202020204" pitchFamily="34" charset="0"/>
              <a:buChar char="•"/>
            </a:pPr>
            <a:r>
              <a:rPr lang="en-US" sz="4400" dirty="0"/>
              <a:t>Should another algorithm be tested?</a:t>
            </a:r>
          </a:p>
          <a:p>
            <a:pPr marL="742950" lvl="0" indent="-742950">
              <a:buFont typeface="Arial" panose="020B0604020202020204" pitchFamily="34" charset="0"/>
              <a:buChar char="•"/>
            </a:pPr>
            <a:r>
              <a:rPr lang="en-US" sz="4400" dirty="0"/>
              <a:t>Are the results sufficient to justify continuing the proposed approach?</a:t>
            </a:r>
          </a:p>
          <a:p>
            <a:pPr lvl="0"/>
            <a:r>
              <a:rPr lang="en-US" sz="4400" dirty="0"/>
              <a:t>The baseline is the beginning of systematic experimentation, not the final answer.</a:t>
            </a:r>
          </a:p>
        </p:txBody>
      </p:sp>
    </p:spTree>
    <p:extLst>
      <p:ext uri="{BB962C8B-B14F-4D97-AF65-F5344CB8AC3E}">
        <p14:creationId xmlns:p14="http://schemas.microsoft.com/office/powerpoint/2010/main" val="4104164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5017C-AA99-6811-E857-8722942BF33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AF093FE-51DB-031E-1910-C005A23CBB2C}"/>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E4AADA9F-89A7-E45F-882F-E685A9851B40}"/>
              </a:ext>
            </a:extLst>
          </p:cNvPr>
          <p:cNvSpPr txBox="1"/>
          <p:nvPr/>
        </p:nvSpPr>
        <p:spPr>
          <a:xfrm>
            <a:off x="281262" y="16329"/>
            <a:ext cx="17016137"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Baseline Model for NLP Thesis Projects</a:t>
            </a:r>
          </a:p>
        </p:txBody>
      </p:sp>
      <p:sp>
        <p:nvSpPr>
          <p:cNvPr id="5" name="TextBox 4">
            <a:extLst>
              <a:ext uri="{FF2B5EF4-FFF2-40B4-BE49-F238E27FC236}">
                <a16:creationId xmlns:a16="http://schemas.microsoft.com/office/drawing/2014/main" id="{13675B3C-5EAC-BBB4-DCEA-AED3013736FB}"/>
              </a:ext>
            </a:extLst>
          </p:cNvPr>
          <p:cNvSpPr txBox="1"/>
          <p:nvPr/>
        </p:nvSpPr>
        <p:spPr>
          <a:xfrm>
            <a:off x="257954" y="1257300"/>
            <a:ext cx="17489710" cy="8894743"/>
          </a:xfrm>
          <a:prstGeom prst="rect">
            <a:avLst/>
          </a:prstGeom>
          <a:noFill/>
        </p:spPr>
        <p:txBody>
          <a:bodyPr wrap="square">
            <a:spAutoFit/>
          </a:bodyPr>
          <a:lstStyle/>
          <a:p>
            <a:pPr lvl="0"/>
            <a:r>
              <a:rPr lang="en-US" sz="4400" dirty="0"/>
              <a:t>Sentiment-analysis example: </a:t>
            </a:r>
          </a:p>
          <a:p>
            <a:pPr marL="571500" lvl="0" indent="-571500">
              <a:buFont typeface="Arial" panose="020B0604020202020204" pitchFamily="34" charset="0"/>
              <a:buChar char="•"/>
            </a:pPr>
            <a:r>
              <a:rPr lang="en-US" sz="4400" dirty="0"/>
              <a:t>create or acquire labeled feedback with Positive, Negative, and Neutral classes; </a:t>
            </a:r>
          </a:p>
          <a:p>
            <a:pPr marL="571500" lvl="0" indent="-571500">
              <a:buFont typeface="Arial" panose="020B0604020202020204" pitchFamily="34" charset="0"/>
              <a:buChar char="•"/>
            </a:pPr>
            <a:r>
              <a:rPr lang="en-US" sz="4400" dirty="0"/>
              <a:t>inspect duplicates and class distribution; </a:t>
            </a:r>
          </a:p>
          <a:p>
            <a:pPr marL="571500" lvl="0" indent="-571500">
              <a:buFont typeface="Arial" panose="020B0604020202020204" pitchFamily="34" charset="0"/>
              <a:buChar char="•"/>
            </a:pPr>
            <a:r>
              <a:rPr lang="en-US" sz="4400" dirty="0"/>
              <a:t>split the original text and labels; </a:t>
            </a:r>
          </a:p>
          <a:p>
            <a:pPr marL="571500" lvl="0" indent="-571500">
              <a:buFont typeface="Arial" panose="020B0604020202020204" pitchFamily="34" charset="0"/>
              <a:buChar char="•"/>
            </a:pPr>
            <a:r>
              <a:rPr lang="en-US" sz="4400" dirty="0"/>
              <a:t>normalize text conservatively; </a:t>
            </a:r>
          </a:p>
          <a:p>
            <a:pPr marL="571500" lvl="0" indent="-571500">
              <a:buFont typeface="Arial" panose="020B0604020202020204" pitchFamily="34" charset="0"/>
              <a:buChar char="•"/>
            </a:pPr>
            <a:r>
              <a:rPr lang="en-US" sz="4400" dirty="0"/>
              <a:t>extract TF-IDF features through a Pipeline; </a:t>
            </a:r>
          </a:p>
          <a:p>
            <a:pPr marL="571500" lvl="0" indent="-571500">
              <a:buFont typeface="Arial" panose="020B0604020202020204" pitchFamily="34" charset="0"/>
              <a:buChar char="•"/>
            </a:pPr>
            <a:r>
              <a:rPr lang="en-US" sz="4400" dirty="0"/>
              <a:t>compare a Dummy Classifier with Logistic Regression, Multinomial Naive Bayes, or Linear SVM; </a:t>
            </a:r>
          </a:p>
          <a:p>
            <a:pPr marL="571500" lvl="0" indent="-571500">
              <a:buFont typeface="Arial" panose="020B0604020202020204" pitchFamily="34" charset="0"/>
              <a:buChar char="•"/>
            </a:pPr>
            <a:r>
              <a:rPr lang="en-US" sz="4400" dirty="0"/>
              <a:t>evaluate accuracy and macro/weighted F1; </a:t>
            </a:r>
          </a:p>
          <a:p>
            <a:pPr marL="571500" lvl="0" indent="-571500">
              <a:buFont typeface="Arial" panose="020B0604020202020204" pitchFamily="34" charset="0"/>
              <a:buChar char="•"/>
            </a:pPr>
            <a:r>
              <a:rPr lang="en-US" sz="4400" dirty="0"/>
              <a:t>display a confusion matrix;</a:t>
            </a:r>
          </a:p>
          <a:p>
            <a:pPr marL="571500" lvl="0" indent="-571500">
              <a:buFont typeface="Arial" panose="020B0604020202020204" pitchFamily="34" charset="0"/>
              <a:buChar char="•"/>
            </a:pPr>
            <a:r>
              <a:rPr lang="en-US" sz="4400" dirty="0"/>
              <a:t>and read misclassified statements to identify ambiguity, negation, slang, code-switching, or insufficient context.</a:t>
            </a:r>
          </a:p>
        </p:txBody>
      </p:sp>
    </p:spTree>
    <p:extLst>
      <p:ext uri="{BB962C8B-B14F-4D97-AF65-F5344CB8AC3E}">
        <p14:creationId xmlns:p14="http://schemas.microsoft.com/office/powerpoint/2010/main" val="20066230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DA350-A3B9-D20F-5734-6F1F40C547D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AD3BDAC-0C30-8089-9754-CE4F96E10B17}"/>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0EC0813F-4678-41E1-0F2E-1867EA2B84AB}"/>
              </a:ext>
            </a:extLst>
          </p:cNvPr>
          <p:cNvSpPr txBox="1"/>
          <p:nvPr/>
        </p:nvSpPr>
        <p:spPr>
          <a:xfrm>
            <a:off x="281262" y="16329"/>
            <a:ext cx="17016137"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Baseline Model for NLP Thesis Projects</a:t>
            </a:r>
          </a:p>
        </p:txBody>
      </p:sp>
      <p:sp>
        <p:nvSpPr>
          <p:cNvPr id="5" name="TextBox 4">
            <a:extLst>
              <a:ext uri="{FF2B5EF4-FFF2-40B4-BE49-F238E27FC236}">
                <a16:creationId xmlns:a16="http://schemas.microsoft.com/office/drawing/2014/main" id="{A2510BDB-505E-A1B5-8D41-B754C9BF1566}"/>
              </a:ext>
            </a:extLst>
          </p:cNvPr>
          <p:cNvSpPr txBox="1"/>
          <p:nvPr/>
        </p:nvSpPr>
        <p:spPr>
          <a:xfrm>
            <a:off x="257954" y="1257300"/>
            <a:ext cx="17489710" cy="7540526"/>
          </a:xfrm>
          <a:prstGeom prst="rect">
            <a:avLst/>
          </a:prstGeom>
          <a:noFill/>
        </p:spPr>
        <p:txBody>
          <a:bodyPr wrap="square">
            <a:spAutoFit/>
          </a:bodyPr>
          <a:lstStyle/>
          <a:p>
            <a:pPr lvl="0"/>
            <a:r>
              <a:rPr lang="en-US" sz="4400" dirty="0"/>
              <a:t>Example statements: </a:t>
            </a:r>
          </a:p>
          <a:p>
            <a:pPr marL="571500" lvl="0" indent="-571500">
              <a:buFont typeface="Arial" panose="020B0604020202020204" pitchFamily="34" charset="0"/>
              <a:buChar char="•"/>
            </a:pPr>
            <a:r>
              <a:rPr lang="en-US" sz="4400" dirty="0"/>
              <a:t>'The application is easy to use' -&gt; Positive; </a:t>
            </a:r>
          </a:p>
          <a:p>
            <a:pPr marL="571500" lvl="0" indent="-571500">
              <a:buFont typeface="Arial" panose="020B0604020202020204" pitchFamily="34" charset="0"/>
              <a:buChar char="•"/>
            </a:pPr>
            <a:r>
              <a:rPr lang="en-US" sz="4400" dirty="0"/>
              <a:t>'The system keeps crashing during submission' -&gt; Negative; </a:t>
            </a:r>
          </a:p>
          <a:p>
            <a:pPr marL="571500" lvl="0" indent="-571500">
              <a:buFont typeface="Arial" panose="020B0604020202020204" pitchFamily="34" charset="0"/>
              <a:buChar char="•"/>
            </a:pPr>
            <a:r>
              <a:rPr lang="en-US" sz="4400" dirty="0"/>
              <a:t>'The update was installed yesterday' -&gt; Neutral. </a:t>
            </a:r>
          </a:p>
          <a:p>
            <a:pPr lvl="0"/>
            <a:r>
              <a:rPr lang="en-US" sz="4400" dirty="0"/>
              <a:t>These are instructional examples. Actual thesis labels should follow a documented annotation procedure appropriate to the research design.</a:t>
            </a:r>
          </a:p>
          <a:p>
            <a:pPr lvl="0"/>
            <a:endParaRPr lang="en-US" sz="4400" dirty="0"/>
          </a:p>
          <a:p>
            <a:pPr lvl="0"/>
            <a:r>
              <a:rPr lang="en-US" sz="4400" dirty="0"/>
              <a:t>For NLP theses, the same baseline principle applies, but the input consists of textual data. A practical introductory text-classification pipeline is:</a:t>
            </a:r>
          </a:p>
          <a:p>
            <a:pPr lvl="0"/>
            <a:r>
              <a:rPr lang="en-US" sz="4400" dirty="0"/>
              <a:t>Text → Cleaning/Normalization → TF-IDF Vectorization → Logistic Regression or Naive Bayes → Prediction → Evaluation</a:t>
            </a:r>
          </a:p>
        </p:txBody>
      </p:sp>
    </p:spTree>
    <p:extLst>
      <p:ext uri="{BB962C8B-B14F-4D97-AF65-F5344CB8AC3E}">
        <p14:creationId xmlns:p14="http://schemas.microsoft.com/office/powerpoint/2010/main" val="23211148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0DF45-75D9-3D0C-C128-B58777AD53C2}"/>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1BBFDC74-DE1E-D5BF-6D56-92251F6F62EA}"/>
              </a:ext>
            </a:extLst>
          </p:cNvPr>
          <p:cNvSpPr txBox="1"/>
          <p:nvPr/>
        </p:nvSpPr>
        <p:spPr>
          <a:xfrm>
            <a:off x="281262" y="16329"/>
            <a:ext cx="17016137"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Baseline Model for NLP Thesis Projects</a:t>
            </a:r>
          </a:p>
        </p:txBody>
      </p:sp>
      <p:sp>
        <p:nvSpPr>
          <p:cNvPr id="5" name="TextBox 4">
            <a:extLst>
              <a:ext uri="{FF2B5EF4-FFF2-40B4-BE49-F238E27FC236}">
                <a16:creationId xmlns:a16="http://schemas.microsoft.com/office/drawing/2014/main" id="{55D125B3-A6FB-4E72-BF88-08E9D9A87E52}"/>
              </a:ext>
            </a:extLst>
          </p:cNvPr>
          <p:cNvSpPr txBox="1"/>
          <p:nvPr/>
        </p:nvSpPr>
        <p:spPr>
          <a:xfrm>
            <a:off x="257954" y="1257300"/>
            <a:ext cx="17489710" cy="2123658"/>
          </a:xfrm>
          <a:prstGeom prst="rect">
            <a:avLst/>
          </a:prstGeom>
          <a:noFill/>
        </p:spPr>
        <p:txBody>
          <a:bodyPr wrap="square">
            <a:spAutoFit/>
          </a:bodyPr>
          <a:lstStyle/>
          <a:p>
            <a:pPr lvl="0"/>
            <a:r>
              <a:rPr lang="en-US" sz="4400" dirty="0"/>
              <a:t>TF-IDF converts text into numerical features based on term importance. Logistic Regression or Multinomial Naive Bayes can then use those features for classification.</a:t>
            </a:r>
          </a:p>
        </p:txBody>
      </p:sp>
      <p:pic>
        <p:nvPicPr>
          <p:cNvPr id="6" name="Picture 5">
            <a:extLst>
              <a:ext uri="{FF2B5EF4-FFF2-40B4-BE49-F238E27FC236}">
                <a16:creationId xmlns:a16="http://schemas.microsoft.com/office/drawing/2014/main" id="{A23CC7D3-CCC0-C391-E679-500DBB992E4C}"/>
              </a:ext>
            </a:extLst>
          </p:cNvPr>
          <p:cNvPicPr>
            <a:picLocks noChangeAspect="1"/>
          </p:cNvPicPr>
          <p:nvPr/>
        </p:nvPicPr>
        <p:blipFill>
          <a:blip r:embed="rId2"/>
          <a:stretch>
            <a:fillRect/>
          </a:stretch>
        </p:blipFill>
        <p:spPr>
          <a:xfrm>
            <a:off x="3886200" y="3380958"/>
            <a:ext cx="10058400" cy="5153971"/>
          </a:xfrm>
          <a:prstGeom prst="rect">
            <a:avLst/>
          </a:prstGeom>
        </p:spPr>
      </p:pic>
      <p:sp>
        <p:nvSpPr>
          <p:cNvPr id="2" name="Freeform 2">
            <a:extLst>
              <a:ext uri="{FF2B5EF4-FFF2-40B4-BE49-F238E27FC236}">
                <a16:creationId xmlns:a16="http://schemas.microsoft.com/office/drawing/2014/main" id="{23FC6400-7561-8EA1-9885-83E307D37BF4}"/>
              </a:ext>
            </a:extLst>
          </p:cNvPr>
          <p:cNvSpPr/>
          <p:nvPr/>
        </p:nvSpPr>
        <p:spPr>
          <a:xfrm flipH="1">
            <a:off x="12877799" y="2476500"/>
            <a:ext cx="6592359" cy="91236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7">
            <a:extLst>
              <a:ext uri="{FF2B5EF4-FFF2-40B4-BE49-F238E27FC236}">
                <a16:creationId xmlns:a16="http://schemas.microsoft.com/office/drawing/2014/main" id="{FA69EC88-8354-5929-D310-47F1EA7637F8}"/>
              </a:ext>
            </a:extLst>
          </p:cNvPr>
          <p:cNvSpPr txBox="1"/>
          <p:nvPr/>
        </p:nvSpPr>
        <p:spPr>
          <a:xfrm>
            <a:off x="152400" y="9029700"/>
            <a:ext cx="14020800" cy="1077218"/>
          </a:xfrm>
          <a:prstGeom prst="rect">
            <a:avLst/>
          </a:prstGeom>
          <a:noFill/>
        </p:spPr>
        <p:txBody>
          <a:bodyPr wrap="square">
            <a:spAutoFit/>
          </a:bodyPr>
          <a:lstStyle/>
          <a:p>
            <a:pPr marL="0" marR="0">
              <a:lnSpc>
                <a:spcPct val="100000"/>
              </a:lnSpc>
              <a:spcAft>
                <a:spcPts val="1000"/>
              </a:spcAft>
              <a:buNone/>
            </a:pPr>
            <a:r>
              <a:rPr lang="en-US" sz="3200" dirty="0">
                <a:effectLst/>
                <a:latin typeface="+mn-lt"/>
                <a:ea typeface="MS Mincho" panose="02020609040205080304" pitchFamily="49" charset="-128"/>
                <a:cs typeface="Times New Roman" panose="02020603050405020304" pitchFamily="18" charset="0"/>
              </a:rPr>
              <a:t>This provides a transparent educational baseline that can later be compared with word embeddings, pretrained language models, or transformer-based approaches.</a:t>
            </a:r>
            <a:endParaRPr lang="en-US" sz="1600" dirty="0">
              <a:effectLst/>
              <a:latin typeface="Arial" panose="020B06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2755494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444E0-FF6B-0913-9786-AE0BB3FA782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6D6CEEE-1B12-753E-E066-1CED8027B17B}"/>
              </a:ext>
            </a:extLst>
          </p:cNvPr>
          <p:cNvSpPr/>
          <p:nvPr/>
        </p:nvSpPr>
        <p:spPr>
          <a:xfrm flipH="1">
            <a:off x="12877799" y="2476500"/>
            <a:ext cx="6592359" cy="91236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pic>
        <p:nvPicPr>
          <p:cNvPr id="4" name="Picture 3">
            <a:extLst>
              <a:ext uri="{FF2B5EF4-FFF2-40B4-BE49-F238E27FC236}">
                <a16:creationId xmlns:a16="http://schemas.microsoft.com/office/drawing/2014/main" id="{F81C4236-29A8-60E4-CB47-1F190CADF8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1800" y="0"/>
            <a:ext cx="12344400" cy="10287000"/>
          </a:xfrm>
          <a:prstGeom prst="rect">
            <a:avLst/>
          </a:prstGeom>
        </p:spPr>
      </p:pic>
    </p:spTree>
    <p:extLst>
      <p:ext uri="{BB962C8B-B14F-4D97-AF65-F5344CB8AC3E}">
        <p14:creationId xmlns:p14="http://schemas.microsoft.com/office/powerpoint/2010/main" val="17917928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6DD09-BD34-ED65-092C-32058EE4595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50DDFD2-FD39-2009-966E-292BAF12A71B}"/>
              </a:ext>
            </a:extLst>
          </p:cNvPr>
          <p:cNvSpPr/>
          <p:nvPr/>
        </p:nvSpPr>
        <p:spPr>
          <a:xfrm flipH="1">
            <a:off x="12877799" y="2476500"/>
            <a:ext cx="6592359" cy="91236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pic>
        <p:nvPicPr>
          <p:cNvPr id="5" name="Picture 4">
            <a:extLst>
              <a:ext uri="{FF2B5EF4-FFF2-40B4-BE49-F238E27FC236}">
                <a16:creationId xmlns:a16="http://schemas.microsoft.com/office/drawing/2014/main" id="{43C6D4A6-E3F3-D62A-71A2-2EF3ADF179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1800" y="0"/>
            <a:ext cx="12344400" cy="10287000"/>
          </a:xfrm>
          <a:prstGeom prst="rect">
            <a:avLst/>
          </a:prstGeom>
        </p:spPr>
      </p:pic>
    </p:spTree>
    <p:extLst>
      <p:ext uri="{BB962C8B-B14F-4D97-AF65-F5344CB8AC3E}">
        <p14:creationId xmlns:p14="http://schemas.microsoft.com/office/powerpoint/2010/main" val="28743454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F3535-BE49-FB44-C4B7-8661B8DACB5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FB81C2D-F6B0-F3EE-1B88-06C1E9505FE8}"/>
              </a:ext>
            </a:extLst>
          </p:cNvPr>
          <p:cNvSpPr/>
          <p:nvPr/>
        </p:nvSpPr>
        <p:spPr>
          <a:xfrm flipH="1">
            <a:off x="12877799" y="2476500"/>
            <a:ext cx="6592359" cy="91236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pic>
        <p:nvPicPr>
          <p:cNvPr id="7" name="Picture 6">
            <a:extLst>
              <a:ext uri="{FF2B5EF4-FFF2-40B4-BE49-F238E27FC236}">
                <a16:creationId xmlns:a16="http://schemas.microsoft.com/office/drawing/2014/main" id="{9548AD18-2546-0FFA-0BA1-2CA5D59609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1800" y="0"/>
            <a:ext cx="12344400" cy="10287000"/>
          </a:xfrm>
          <a:prstGeom prst="rect">
            <a:avLst/>
          </a:prstGeom>
        </p:spPr>
      </p:pic>
    </p:spTree>
    <p:extLst>
      <p:ext uri="{BB962C8B-B14F-4D97-AF65-F5344CB8AC3E}">
        <p14:creationId xmlns:p14="http://schemas.microsoft.com/office/powerpoint/2010/main" val="7330061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AB805-11D7-DD30-8BC1-6CDCB8A82AC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CCFA5A1-5335-0179-65CC-BFB866AFC6D4}"/>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0263553B-9E85-2DFF-4C92-7B991378B6D7}"/>
              </a:ext>
            </a:extLst>
          </p:cNvPr>
          <p:cNvSpPr txBox="1"/>
          <p:nvPr/>
        </p:nvSpPr>
        <p:spPr>
          <a:xfrm>
            <a:off x="281262" y="16329"/>
            <a:ext cx="17016137"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Class Discussion Questions</a:t>
            </a:r>
          </a:p>
        </p:txBody>
      </p:sp>
      <p:sp>
        <p:nvSpPr>
          <p:cNvPr id="5" name="TextBox 4">
            <a:extLst>
              <a:ext uri="{FF2B5EF4-FFF2-40B4-BE49-F238E27FC236}">
                <a16:creationId xmlns:a16="http://schemas.microsoft.com/office/drawing/2014/main" id="{32CCD40A-A144-5036-D8BB-1B06B805DCC0}"/>
              </a:ext>
            </a:extLst>
          </p:cNvPr>
          <p:cNvSpPr txBox="1"/>
          <p:nvPr/>
        </p:nvSpPr>
        <p:spPr>
          <a:xfrm>
            <a:off x="257954" y="1257300"/>
            <a:ext cx="17489710" cy="7478970"/>
          </a:xfrm>
          <a:prstGeom prst="rect">
            <a:avLst/>
          </a:prstGeom>
          <a:noFill/>
        </p:spPr>
        <p:txBody>
          <a:bodyPr wrap="square">
            <a:spAutoFit/>
          </a:bodyPr>
          <a:lstStyle/>
          <a:p>
            <a:pPr lvl="0"/>
            <a:r>
              <a:rPr lang="en-US" sz="4800" dirty="0"/>
              <a:t>Integrated application summary: </a:t>
            </a:r>
          </a:p>
          <a:p>
            <a:pPr marL="571500" lvl="0" indent="-571500">
              <a:buFont typeface="Arial" panose="020B0604020202020204" pitchFamily="34" charset="0"/>
              <a:buChar char="•"/>
            </a:pPr>
            <a:r>
              <a:rPr lang="en-US" sz="4800" dirty="0"/>
              <a:t>Academic Risk Prediction demonstrates supervised classification; </a:t>
            </a:r>
          </a:p>
          <a:p>
            <a:pPr marL="571500" lvl="0" indent="-571500">
              <a:buFont typeface="Arial" panose="020B0604020202020204" pitchFamily="34" charset="0"/>
              <a:buChar char="•"/>
            </a:pPr>
            <a:r>
              <a:rPr lang="en-US" sz="4800" dirty="0"/>
              <a:t>Final Grade Estimation demonstrates supervised regression; </a:t>
            </a:r>
          </a:p>
          <a:p>
            <a:pPr marL="571500" lvl="0" indent="-571500">
              <a:buFont typeface="Arial" panose="020B0604020202020204" pitchFamily="34" charset="0"/>
              <a:buChar char="•"/>
            </a:pPr>
            <a:r>
              <a:rPr lang="en-US" sz="4800" dirty="0"/>
              <a:t>Student Profile Discovery demonstrates unsupervised clustering; </a:t>
            </a:r>
          </a:p>
          <a:p>
            <a:pPr marL="571500" lvl="0" indent="-571500">
              <a:buFont typeface="Arial" panose="020B0604020202020204" pitchFamily="34" charset="0"/>
              <a:buChar char="•"/>
            </a:pPr>
            <a:r>
              <a:rPr lang="en-US" sz="4800" dirty="0"/>
              <a:t>Grid-World Navigation demonstrates reinforcement learning; </a:t>
            </a:r>
          </a:p>
          <a:p>
            <a:pPr marL="571500" lvl="0" indent="-571500">
              <a:buFont typeface="Arial" panose="020B0604020202020204" pitchFamily="34" charset="0"/>
              <a:buChar char="•"/>
            </a:pPr>
            <a:r>
              <a:rPr lang="en-US" sz="4800" dirty="0"/>
              <a:t>and Student Feedback Sentiment demonstrates supervised NLP classification. </a:t>
            </a:r>
          </a:p>
          <a:p>
            <a:pPr lvl="0"/>
            <a:r>
              <a:rPr lang="en-US" sz="4800" dirty="0"/>
              <a:t>Across examples, students should move systematically from problem formulation and data preparation to modeling, evaluation, error analysis, interpretation, and documentation.</a:t>
            </a:r>
          </a:p>
        </p:txBody>
      </p:sp>
    </p:spTree>
    <p:extLst>
      <p:ext uri="{BB962C8B-B14F-4D97-AF65-F5344CB8AC3E}">
        <p14:creationId xmlns:p14="http://schemas.microsoft.com/office/powerpoint/2010/main" val="26024979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AB8B7-ADA7-4AD2-DB07-67144844BBC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48684DC-0712-F2A8-BA17-F51957A7BACA}"/>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13F875DF-0C1A-914C-3DC9-8474847F9D9D}"/>
              </a:ext>
            </a:extLst>
          </p:cNvPr>
          <p:cNvSpPr txBox="1"/>
          <p:nvPr/>
        </p:nvSpPr>
        <p:spPr>
          <a:xfrm>
            <a:off x="281262" y="16329"/>
            <a:ext cx="17016137"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Class Discussion Questions</a:t>
            </a:r>
          </a:p>
        </p:txBody>
      </p:sp>
      <p:sp>
        <p:nvSpPr>
          <p:cNvPr id="5" name="TextBox 4">
            <a:extLst>
              <a:ext uri="{FF2B5EF4-FFF2-40B4-BE49-F238E27FC236}">
                <a16:creationId xmlns:a16="http://schemas.microsoft.com/office/drawing/2014/main" id="{44E160E6-076E-9722-73D6-AB050E752C3A}"/>
              </a:ext>
            </a:extLst>
          </p:cNvPr>
          <p:cNvSpPr txBox="1"/>
          <p:nvPr/>
        </p:nvSpPr>
        <p:spPr>
          <a:xfrm>
            <a:off x="257954" y="1257300"/>
            <a:ext cx="17489710" cy="8217634"/>
          </a:xfrm>
          <a:prstGeom prst="rect">
            <a:avLst/>
          </a:prstGeom>
          <a:noFill/>
        </p:spPr>
        <p:txBody>
          <a:bodyPr wrap="square">
            <a:spAutoFit/>
          </a:bodyPr>
          <a:lstStyle/>
          <a:p>
            <a:pPr marL="914400" lvl="0" indent="-914400">
              <a:buFont typeface="+mj-lt"/>
              <a:buAutoNum type="arabicPeriod"/>
            </a:pPr>
            <a:r>
              <a:rPr lang="en-US" sz="4800" dirty="0"/>
              <a:t>What exactly should your thesis model predict or classify?</a:t>
            </a:r>
          </a:p>
          <a:p>
            <a:pPr marL="914400" lvl="0" indent="-914400">
              <a:buFont typeface="+mj-lt"/>
              <a:buAutoNum type="arabicPeriod"/>
            </a:pPr>
            <a:r>
              <a:rPr lang="en-US" sz="4800" dirty="0"/>
              <a:t>What does one observation in your dataset represent?</a:t>
            </a:r>
          </a:p>
          <a:p>
            <a:pPr marL="914400" lvl="0" indent="-914400">
              <a:buFont typeface="+mj-lt"/>
              <a:buAutoNum type="arabicPeriod"/>
            </a:pPr>
            <a:r>
              <a:rPr lang="en-US" sz="4800" dirty="0"/>
              <a:t>Which variables should be used as input features?</a:t>
            </a:r>
          </a:p>
          <a:p>
            <a:pPr marL="914400" lvl="0" indent="-914400">
              <a:buFont typeface="+mj-lt"/>
              <a:buAutoNum type="arabicPeriod"/>
            </a:pPr>
            <a:r>
              <a:rPr lang="en-US" sz="4800" dirty="0"/>
              <a:t>Which variable is the target?</a:t>
            </a:r>
          </a:p>
          <a:p>
            <a:pPr marL="914400" lvl="0" indent="-914400">
              <a:buFont typeface="+mj-lt"/>
              <a:buAutoNum type="arabicPeriod"/>
            </a:pPr>
            <a:r>
              <a:rPr lang="en-US" sz="4800" dirty="0"/>
              <a:t>Why is a simple baseline useful before testing a complex model?</a:t>
            </a:r>
          </a:p>
          <a:p>
            <a:pPr marL="914400" lvl="0" indent="-914400">
              <a:buFont typeface="+mj-lt"/>
              <a:buAutoNum type="arabicPeriod"/>
            </a:pPr>
            <a:r>
              <a:rPr lang="en-US" sz="4800" dirty="0"/>
              <a:t>How can a model obtain high accuracy but still be ineffective?</a:t>
            </a:r>
          </a:p>
          <a:p>
            <a:pPr marL="914400" lvl="0" indent="-914400">
              <a:buFont typeface="+mj-lt"/>
              <a:buAutoNum type="arabicPeriod"/>
            </a:pPr>
            <a:r>
              <a:rPr lang="en-US" sz="4800" dirty="0"/>
              <a:t>What type of error would be most harmful in your thesis application?</a:t>
            </a:r>
          </a:p>
          <a:p>
            <a:pPr marL="914400" lvl="0" indent="-914400">
              <a:buFont typeface="+mj-lt"/>
              <a:buAutoNum type="arabicPeriod"/>
            </a:pPr>
            <a:r>
              <a:rPr lang="en-US" sz="4800" dirty="0"/>
              <a:t>How can you ensure that your experiment is reproducible?</a:t>
            </a:r>
          </a:p>
          <a:p>
            <a:pPr marL="914400" lvl="0" indent="-914400">
              <a:buFont typeface="+mj-lt"/>
              <a:buAutoNum type="arabicPeriod"/>
            </a:pPr>
            <a:r>
              <a:rPr lang="en-US" sz="4800" dirty="0"/>
              <a:t>For an NLP thesis, why might TF-IDF plus Logistic Regression be a useful baseline?</a:t>
            </a:r>
          </a:p>
        </p:txBody>
      </p:sp>
    </p:spTree>
    <p:extLst>
      <p:ext uri="{BB962C8B-B14F-4D97-AF65-F5344CB8AC3E}">
        <p14:creationId xmlns:p14="http://schemas.microsoft.com/office/powerpoint/2010/main" val="28839287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6A704-11DF-1A78-9FBA-F187D3C6E89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F87FCD4-515F-25A0-BA11-161286C33EFB}"/>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38067405-5DF9-9069-CB27-3AC705D37BF0}"/>
              </a:ext>
            </a:extLst>
          </p:cNvPr>
          <p:cNvSpPr txBox="1"/>
          <p:nvPr/>
        </p:nvSpPr>
        <p:spPr>
          <a:xfrm>
            <a:off x="281262" y="16329"/>
            <a:ext cx="17016137"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Week 5-8 Lecture Post-Requirement</a:t>
            </a:r>
          </a:p>
        </p:txBody>
      </p:sp>
      <p:sp>
        <p:nvSpPr>
          <p:cNvPr id="5" name="TextBox 4">
            <a:extLst>
              <a:ext uri="{FF2B5EF4-FFF2-40B4-BE49-F238E27FC236}">
                <a16:creationId xmlns:a16="http://schemas.microsoft.com/office/drawing/2014/main" id="{4EB80E0B-4F45-7EC2-3C45-0EDA6B67AC33}"/>
              </a:ext>
            </a:extLst>
          </p:cNvPr>
          <p:cNvSpPr txBox="1"/>
          <p:nvPr/>
        </p:nvSpPr>
        <p:spPr>
          <a:xfrm>
            <a:off x="257954" y="1257300"/>
            <a:ext cx="17489710" cy="1569660"/>
          </a:xfrm>
          <a:prstGeom prst="rect">
            <a:avLst/>
          </a:prstGeom>
          <a:noFill/>
        </p:spPr>
        <p:txBody>
          <a:bodyPr wrap="square">
            <a:spAutoFit/>
          </a:bodyPr>
          <a:lstStyle/>
          <a:p>
            <a:pPr lvl="0"/>
            <a:r>
              <a:rPr lang="en-US" sz="4800" dirty="0"/>
              <a:t>Baseline Model Planning Sheet. Students will prepare a concise plan before implementing their first baseline model.</a:t>
            </a:r>
          </a:p>
        </p:txBody>
      </p:sp>
      <p:graphicFrame>
        <p:nvGraphicFramePr>
          <p:cNvPr id="4" name="Table 3">
            <a:extLst>
              <a:ext uri="{FF2B5EF4-FFF2-40B4-BE49-F238E27FC236}">
                <a16:creationId xmlns:a16="http://schemas.microsoft.com/office/drawing/2014/main" id="{782CCFD3-7A02-DA94-A0F0-7DD19EC39DB0}"/>
              </a:ext>
            </a:extLst>
          </p:cNvPr>
          <p:cNvGraphicFramePr>
            <a:graphicFrameLocks noGrp="1"/>
          </p:cNvGraphicFramePr>
          <p:nvPr>
            <p:extLst>
              <p:ext uri="{D42A27DB-BD31-4B8C-83A1-F6EECF244321}">
                <p14:modId xmlns:p14="http://schemas.microsoft.com/office/powerpoint/2010/main" val="3156927002"/>
              </p:ext>
            </p:extLst>
          </p:nvPr>
        </p:nvGraphicFramePr>
        <p:xfrm>
          <a:off x="381000" y="2933700"/>
          <a:ext cx="17229292" cy="6297168"/>
        </p:xfrm>
        <a:graphic>
          <a:graphicData uri="http://schemas.openxmlformats.org/drawingml/2006/table">
            <a:tbl>
              <a:tblPr firstRow="1" firstCol="1" bandRow="1">
                <a:tableStyleId>{5C22544A-7EE6-4342-B048-85BDC9FD1C3A}</a:tableStyleId>
              </a:tblPr>
              <a:tblGrid>
                <a:gridCol w="6934200">
                  <a:extLst>
                    <a:ext uri="{9D8B030D-6E8A-4147-A177-3AD203B41FA5}">
                      <a16:colId xmlns:a16="http://schemas.microsoft.com/office/drawing/2014/main" val="1158693051"/>
                    </a:ext>
                  </a:extLst>
                </a:gridCol>
                <a:gridCol w="10295092">
                  <a:extLst>
                    <a:ext uri="{9D8B030D-6E8A-4147-A177-3AD203B41FA5}">
                      <a16:colId xmlns:a16="http://schemas.microsoft.com/office/drawing/2014/main" val="1481225650"/>
                    </a:ext>
                  </a:extLst>
                </a:gridCol>
              </a:tblGrid>
              <a:tr h="463550">
                <a:tc>
                  <a:txBody>
                    <a:bodyPr/>
                    <a:lstStyle/>
                    <a:p>
                      <a:pPr marL="0" marR="0">
                        <a:lnSpc>
                          <a:spcPct val="115000"/>
                        </a:lnSpc>
                        <a:spcAft>
                          <a:spcPts val="1000"/>
                        </a:spcAft>
                        <a:buNone/>
                      </a:pPr>
                      <a:r>
                        <a:rPr lang="en-US" sz="3200">
                          <a:effectLst/>
                        </a:rPr>
                        <a:t>Component</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tc>
                  <a:txBody>
                    <a:bodyPr/>
                    <a:lstStyle/>
                    <a:p>
                      <a:pPr marL="0" marR="0">
                        <a:lnSpc>
                          <a:spcPct val="115000"/>
                        </a:lnSpc>
                        <a:spcAft>
                          <a:spcPts val="1000"/>
                        </a:spcAft>
                        <a:buNone/>
                      </a:pPr>
                      <a:r>
                        <a:rPr lang="en-US" sz="3200">
                          <a:effectLst/>
                        </a:rPr>
                        <a:t>Required Student Response</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extLst>
                  <a:ext uri="{0D108BD9-81ED-4DB2-BD59-A6C34878D82A}">
                    <a16:rowId xmlns:a16="http://schemas.microsoft.com/office/drawing/2014/main" val="2140885613"/>
                  </a:ext>
                </a:extLst>
              </a:tr>
              <a:tr h="463550">
                <a:tc>
                  <a:txBody>
                    <a:bodyPr/>
                    <a:lstStyle/>
                    <a:p>
                      <a:pPr marL="0" marR="0">
                        <a:lnSpc>
                          <a:spcPct val="115000"/>
                        </a:lnSpc>
                        <a:spcAft>
                          <a:spcPts val="1000"/>
                        </a:spcAft>
                        <a:buNone/>
                      </a:pPr>
                      <a:r>
                        <a:rPr lang="en-US" sz="3200">
                          <a:effectLst/>
                        </a:rPr>
                        <a:t>Thesis Title</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tc>
                  <a:txBody>
                    <a:bodyPr/>
                    <a:lstStyle/>
                    <a:p>
                      <a:pPr marL="0" marR="0">
                        <a:lnSpc>
                          <a:spcPct val="115000"/>
                        </a:lnSpc>
                        <a:spcAft>
                          <a:spcPts val="1000"/>
                        </a:spcAft>
                        <a:buNone/>
                      </a:pPr>
                      <a:r>
                        <a:rPr lang="en-US" sz="3200">
                          <a:effectLst/>
                        </a:rPr>
                        <a:t>State the current thesis title.</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extLst>
                  <a:ext uri="{0D108BD9-81ED-4DB2-BD59-A6C34878D82A}">
                    <a16:rowId xmlns:a16="http://schemas.microsoft.com/office/drawing/2014/main" val="2724346947"/>
                  </a:ext>
                </a:extLst>
              </a:tr>
              <a:tr h="463550">
                <a:tc>
                  <a:txBody>
                    <a:bodyPr/>
                    <a:lstStyle/>
                    <a:p>
                      <a:pPr marL="0" marR="0">
                        <a:lnSpc>
                          <a:spcPct val="115000"/>
                        </a:lnSpc>
                        <a:spcAft>
                          <a:spcPts val="1000"/>
                        </a:spcAft>
                        <a:buNone/>
                      </a:pPr>
                      <a:r>
                        <a:rPr lang="en-US" sz="3200">
                          <a:effectLst/>
                        </a:rPr>
                        <a:t>Research Problem</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tc>
                  <a:txBody>
                    <a:bodyPr/>
                    <a:lstStyle/>
                    <a:p>
                      <a:pPr marL="0" marR="0">
                        <a:lnSpc>
                          <a:spcPct val="115000"/>
                        </a:lnSpc>
                        <a:spcAft>
                          <a:spcPts val="1000"/>
                        </a:spcAft>
                        <a:buNone/>
                      </a:pPr>
                      <a:r>
                        <a:rPr lang="en-US" sz="3200">
                          <a:effectLst/>
                        </a:rPr>
                        <a:t>Briefly state the problem to be addressed.</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extLst>
                  <a:ext uri="{0D108BD9-81ED-4DB2-BD59-A6C34878D82A}">
                    <a16:rowId xmlns:a16="http://schemas.microsoft.com/office/drawing/2014/main" val="562904875"/>
                  </a:ext>
                </a:extLst>
              </a:tr>
              <a:tr h="463550">
                <a:tc>
                  <a:txBody>
                    <a:bodyPr/>
                    <a:lstStyle/>
                    <a:p>
                      <a:pPr marL="0" marR="0">
                        <a:lnSpc>
                          <a:spcPct val="115000"/>
                        </a:lnSpc>
                        <a:spcAft>
                          <a:spcPts val="1000"/>
                        </a:spcAft>
                        <a:buNone/>
                      </a:pPr>
                      <a:r>
                        <a:rPr lang="en-US" sz="3200">
                          <a:effectLst/>
                        </a:rPr>
                        <a:t>ML Problem Formulation</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tc>
                  <a:txBody>
                    <a:bodyPr/>
                    <a:lstStyle/>
                    <a:p>
                      <a:pPr marL="0" marR="0">
                        <a:lnSpc>
                          <a:spcPct val="115000"/>
                        </a:lnSpc>
                        <a:spcAft>
                          <a:spcPts val="1000"/>
                        </a:spcAft>
                        <a:buNone/>
                      </a:pPr>
                      <a:r>
                        <a:rPr lang="en-US" sz="3200">
                          <a:effectLst/>
                        </a:rPr>
                        <a:t>Use the Given–Model–Purpose statement.</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extLst>
                  <a:ext uri="{0D108BD9-81ED-4DB2-BD59-A6C34878D82A}">
                    <a16:rowId xmlns:a16="http://schemas.microsoft.com/office/drawing/2014/main" val="3872997373"/>
                  </a:ext>
                </a:extLst>
              </a:tr>
              <a:tr h="463550">
                <a:tc>
                  <a:txBody>
                    <a:bodyPr/>
                    <a:lstStyle/>
                    <a:p>
                      <a:pPr marL="0" marR="0">
                        <a:lnSpc>
                          <a:spcPct val="115000"/>
                        </a:lnSpc>
                        <a:spcAft>
                          <a:spcPts val="1000"/>
                        </a:spcAft>
                        <a:buNone/>
                      </a:pPr>
                      <a:r>
                        <a:rPr lang="en-US" sz="3200">
                          <a:effectLst/>
                        </a:rPr>
                        <a:t>Task Type</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tc>
                  <a:txBody>
                    <a:bodyPr/>
                    <a:lstStyle/>
                    <a:p>
                      <a:pPr marL="0" marR="0">
                        <a:lnSpc>
                          <a:spcPct val="115000"/>
                        </a:lnSpc>
                        <a:spcAft>
                          <a:spcPts val="1000"/>
                        </a:spcAft>
                        <a:buNone/>
                      </a:pPr>
                      <a:r>
                        <a:rPr lang="en-US" sz="3200">
                          <a:effectLst/>
                        </a:rPr>
                        <a:t>Classification, regression, or another justified task.</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extLst>
                  <a:ext uri="{0D108BD9-81ED-4DB2-BD59-A6C34878D82A}">
                    <a16:rowId xmlns:a16="http://schemas.microsoft.com/office/drawing/2014/main" val="2593035527"/>
                  </a:ext>
                </a:extLst>
              </a:tr>
              <a:tr h="463550">
                <a:tc>
                  <a:txBody>
                    <a:bodyPr/>
                    <a:lstStyle/>
                    <a:p>
                      <a:pPr marL="0" marR="0">
                        <a:lnSpc>
                          <a:spcPct val="115000"/>
                        </a:lnSpc>
                        <a:spcAft>
                          <a:spcPts val="1000"/>
                        </a:spcAft>
                        <a:buNone/>
                      </a:pPr>
                      <a:r>
                        <a:rPr lang="en-US" sz="3200">
                          <a:effectLst/>
                        </a:rPr>
                        <a:t>Unit of Analysis</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tc>
                  <a:txBody>
                    <a:bodyPr/>
                    <a:lstStyle/>
                    <a:p>
                      <a:pPr marL="0" marR="0">
                        <a:lnSpc>
                          <a:spcPct val="115000"/>
                        </a:lnSpc>
                        <a:spcAft>
                          <a:spcPts val="1000"/>
                        </a:spcAft>
                        <a:buNone/>
                      </a:pPr>
                      <a:r>
                        <a:rPr lang="en-US" sz="3200">
                          <a:effectLst/>
                        </a:rPr>
                        <a:t>Explain what one row or observation represents.</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extLst>
                  <a:ext uri="{0D108BD9-81ED-4DB2-BD59-A6C34878D82A}">
                    <a16:rowId xmlns:a16="http://schemas.microsoft.com/office/drawing/2014/main" val="4229500576"/>
                  </a:ext>
                </a:extLst>
              </a:tr>
              <a:tr h="463550">
                <a:tc>
                  <a:txBody>
                    <a:bodyPr/>
                    <a:lstStyle/>
                    <a:p>
                      <a:pPr marL="0" marR="0">
                        <a:lnSpc>
                          <a:spcPct val="115000"/>
                        </a:lnSpc>
                        <a:spcAft>
                          <a:spcPts val="1000"/>
                        </a:spcAft>
                        <a:buNone/>
                      </a:pPr>
                      <a:r>
                        <a:rPr lang="en-US" sz="3200">
                          <a:effectLst/>
                        </a:rPr>
                        <a:t>Features</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tc>
                  <a:txBody>
                    <a:bodyPr/>
                    <a:lstStyle/>
                    <a:p>
                      <a:pPr marL="0" marR="0">
                        <a:lnSpc>
                          <a:spcPct val="115000"/>
                        </a:lnSpc>
                        <a:spcAft>
                          <a:spcPts val="1000"/>
                        </a:spcAft>
                        <a:buNone/>
                      </a:pPr>
                      <a:r>
                        <a:rPr lang="en-US" sz="3200">
                          <a:effectLst/>
                        </a:rPr>
                        <a:t>List the initial input variables.</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extLst>
                  <a:ext uri="{0D108BD9-81ED-4DB2-BD59-A6C34878D82A}">
                    <a16:rowId xmlns:a16="http://schemas.microsoft.com/office/drawing/2014/main" val="2892448496"/>
                  </a:ext>
                </a:extLst>
              </a:tr>
              <a:tr h="463550">
                <a:tc>
                  <a:txBody>
                    <a:bodyPr/>
                    <a:lstStyle/>
                    <a:p>
                      <a:pPr marL="0" marR="0">
                        <a:lnSpc>
                          <a:spcPct val="115000"/>
                        </a:lnSpc>
                        <a:spcAft>
                          <a:spcPts val="1000"/>
                        </a:spcAft>
                        <a:buNone/>
                      </a:pPr>
                      <a:r>
                        <a:rPr lang="en-US" sz="3200">
                          <a:effectLst/>
                        </a:rPr>
                        <a:t>Target</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tc>
                  <a:txBody>
                    <a:bodyPr/>
                    <a:lstStyle/>
                    <a:p>
                      <a:pPr marL="0" marR="0">
                        <a:lnSpc>
                          <a:spcPct val="115000"/>
                        </a:lnSpc>
                        <a:spcAft>
                          <a:spcPts val="1000"/>
                        </a:spcAft>
                        <a:buNone/>
                      </a:pPr>
                      <a:r>
                        <a:rPr lang="en-US" sz="3200">
                          <a:effectLst/>
                        </a:rPr>
                        <a:t>Identify the expected output or label.</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extLst>
                  <a:ext uri="{0D108BD9-81ED-4DB2-BD59-A6C34878D82A}">
                    <a16:rowId xmlns:a16="http://schemas.microsoft.com/office/drawing/2014/main" val="2650245386"/>
                  </a:ext>
                </a:extLst>
              </a:tr>
              <a:tr h="463550">
                <a:tc>
                  <a:txBody>
                    <a:bodyPr/>
                    <a:lstStyle/>
                    <a:p>
                      <a:pPr marL="0" marR="0">
                        <a:lnSpc>
                          <a:spcPct val="115000"/>
                        </a:lnSpc>
                        <a:spcAft>
                          <a:spcPts val="1000"/>
                        </a:spcAft>
                        <a:buNone/>
                      </a:pPr>
                      <a:r>
                        <a:rPr lang="en-US" sz="3200">
                          <a:effectLst/>
                        </a:rPr>
                        <a:t>Baseline Algorithm</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tc>
                  <a:txBody>
                    <a:bodyPr/>
                    <a:lstStyle/>
                    <a:p>
                      <a:pPr marL="0" marR="0">
                        <a:lnSpc>
                          <a:spcPct val="115000"/>
                        </a:lnSpc>
                        <a:spcAft>
                          <a:spcPts val="1000"/>
                        </a:spcAft>
                        <a:buNone/>
                      </a:pPr>
                      <a:r>
                        <a:rPr lang="en-US" sz="3200">
                          <a:effectLst/>
                        </a:rPr>
                        <a:t>Identify and justify the initial algorithm.</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extLst>
                  <a:ext uri="{0D108BD9-81ED-4DB2-BD59-A6C34878D82A}">
                    <a16:rowId xmlns:a16="http://schemas.microsoft.com/office/drawing/2014/main" val="2216093791"/>
                  </a:ext>
                </a:extLst>
              </a:tr>
              <a:tr h="463550">
                <a:tc>
                  <a:txBody>
                    <a:bodyPr/>
                    <a:lstStyle/>
                    <a:p>
                      <a:pPr marL="0" marR="0">
                        <a:lnSpc>
                          <a:spcPct val="115000"/>
                        </a:lnSpc>
                        <a:spcAft>
                          <a:spcPts val="1000"/>
                        </a:spcAft>
                        <a:buNone/>
                      </a:pPr>
                      <a:r>
                        <a:rPr lang="en-US" sz="3200">
                          <a:effectLst/>
                        </a:rPr>
                        <a:t>Data Split Plan</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tc>
                  <a:txBody>
                    <a:bodyPr/>
                    <a:lstStyle/>
                    <a:p>
                      <a:pPr marL="0" marR="0">
                        <a:lnSpc>
                          <a:spcPct val="115000"/>
                        </a:lnSpc>
                        <a:spcAft>
                          <a:spcPts val="1000"/>
                        </a:spcAft>
                        <a:buNone/>
                      </a:pPr>
                      <a:r>
                        <a:rPr lang="en-US" sz="3200">
                          <a:effectLst/>
                        </a:rPr>
                        <a:t>State the proposed train-test procedure.</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extLst>
                  <a:ext uri="{0D108BD9-81ED-4DB2-BD59-A6C34878D82A}">
                    <a16:rowId xmlns:a16="http://schemas.microsoft.com/office/drawing/2014/main" val="2126200177"/>
                  </a:ext>
                </a:extLst>
              </a:tr>
              <a:tr h="463550">
                <a:tc>
                  <a:txBody>
                    <a:bodyPr/>
                    <a:lstStyle/>
                    <a:p>
                      <a:pPr marL="0" marR="0">
                        <a:lnSpc>
                          <a:spcPct val="115000"/>
                        </a:lnSpc>
                        <a:spcAft>
                          <a:spcPts val="1000"/>
                        </a:spcAft>
                        <a:buNone/>
                      </a:pPr>
                      <a:r>
                        <a:rPr lang="en-US" sz="3200" dirty="0">
                          <a:effectLst/>
                        </a:rPr>
                        <a:t>Evaluation Metrics</a:t>
                      </a:r>
                      <a:endParaRPr lang="en-US" sz="3200" dirty="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tc>
                  <a:txBody>
                    <a:bodyPr/>
                    <a:lstStyle/>
                    <a:p>
                      <a:pPr marL="0" marR="0">
                        <a:lnSpc>
                          <a:spcPct val="115000"/>
                        </a:lnSpc>
                        <a:spcAft>
                          <a:spcPts val="1000"/>
                        </a:spcAft>
                        <a:buNone/>
                      </a:pPr>
                      <a:r>
                        <a:rPr lang="en-US" sz="3200">
                          <a:effectLst/>
                        </a:rPr>
                        <a:t>Identify appropriate metrics and justify them.</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extLst>
                  <a:ext uri="{0D108BD9-81ED-4DB2-BD59-A6C34878D82A}">
                    <a16:rowId xmlns:a16="http://schemas.microsoft.com/office/drawing/2014/main" val="1295891570"/>
                  </a:ext>
                </a:extLst>
              </a:tr>
              <a:tr h="463550">
                <a:tc>
                  <a:txBody>
                    <a:bodyPr/>
                    <a:lstStyle/>
                    <a:p>
                      <a:pPr marL="0" marR="0">
                        <a:lnSpc>
                          <a:spcPct val="115000"/>
                        </a:lnSpc>
                        <a:spcAft>
                          <a:spcPts val="1000"/>
                        </a:spcAft>
                        <a:buNone/>
                      </a:pPr>
                      <a:r>
                        <a:rPr lang="en-US" sz="3200">
                          <a:effectLst/>
                        </a:rPr>
                        <a:t>Expected Challenges</a:t>
                      </a:r>
                      <a:endParaRPr lang="en-US" sz="320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tc>
                  <a:txBody>
                    <a:bodyPr/>
                    <a:lstStyle/>
                    <a:p>
                      <a:pPr marL="0" marR="0">
                        <a:lnSpc>
                          <a:spcPct val="115000"/>
                        </a:lnSpc>
                        <a:spcAft>
                          <a:spcPts val="1000"/>
                        </a:spcAft>
                        <a:buNone/>
                      </a:pPr>
                      <a:r>
                        <a:rPr lang="en-US" sz="3200" dirty="0">
                          <a:effectLst/>
                        </a:rPr>
                        <a:t>Identify likely data or modeling problems.</a:t>
                      </a:r>
                      <a:endParaRPr lang="en-US" sz="3200" dirty="0">
                        <a:effectLst/>
                        <a:latin typeface="Arial" panose="020B0604020202020204" pitchFamily="34" charset="0"/>
                        <a:ea typeface="MS Mincho" panose="02020609040205080304" pitchFamily="49" charset="-128"/>
                        <a:cs typeface="Times New Roman" panose="02020603050405020304" pitchFamily="18" charset="0"/>
                      </a:endParaRPr>
                    </a:p>
                  </a:txBody>
                  <a:tcPr marL="184600" marR="184600" marT="0" marB="0"/>
                </a:tc>
                <a:extLst>
                  <a:ext uri="{0D108BD9-81ED-4DB2-BD59-A6C34878D82A}">
                    <a16:rowId xmlns:a16="http://schemas.microsoft.com/office/drawing/2014/main" val="1955253146"/>
                  </a:ext>
                </a:extLst>
              </a:tr>
            </a:tbl>
          </a:graphicData>
        </a:graphic>
      </p:graphicFrame>
    </p:spTree>
    <p:extLst>
      <p:ext uri="{BB962C8B-B14F-4D97-AF65-F5344CB8AC3E}">
        <p14:creationId xmlns:p14="http://schemas.microsoft.com/office/powerpoint/2010/main" val="39522164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D26CE-5B0A-72D8-00FA-0C92E5CD4E9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57FFEAE-5363-9489-D496-201E48D2D5AB}"/>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CA51AC54-269A-A90E-59F5-C766DCC0344F}"/>
              </a:ext>
            </a:extLst>
          </p:cNvPr>
          <p:cNvSpPr txBox="1"/>
          <p:nvPr/>
        </p:nvSpPr>
        <p:spPr>
          <a:xfrm>
            <a:off x="281262" y="16329"/>
            <a:ext cx="17016137" cy="1038746"/>
          </a:xfrm>
          <a:prstGeom prst="rect">
            <a:avLst/>
          </a:prstGeom>
        </p:spPr>
        <p:txBody>
          <a:bodyPr wrap="square" lIns="0" tIns="0" rIns="0" bIns="0" rtlCol="0" anchor="t">
            <a:spAutoFit/>
          </a:bodyPr>
          <a:lstStyle/>
          <a:p>
            <a:pPr marL="0" lvl="0" indent="0">
              <a:lnSpc>
                <a:spcPts val="8400"/>
              </a:lnSpc>
              <a:spcBef>
                <a:spcPct val="0"/>
              </a:spcBef>
            </a:pPr>
            <a:r>
              <a:rPr lang="en-US" sz="6000" b="1" dirty="0">
                <a:solidFill>
                  <a:srgbClr val="22588D"/>
                </a:solidFill>
                <a:latin typeface="Museo Moderno Bold"/>
                <a:ea typeface="Museo Moderno Bold"/>
                <a:cs typeface="Museo Moderno Bold"/>
                <a:sym typeface="Museo Moderno Bold"/>
              </a:rPr>
              <a:t>Key Takeaways</a:t>
            </a:r>
          </a:p>
        </p:txBody>
      </p:sp>
      <p:sp>
        <p:nvSpPr>
          <p:cNvPr id="5" name="TextBox 4">
            <a:extLst>
              <a:ext uri="{FF2B5EF4-FFF2-40B4-BE49-F238E27FC236}">
                <a16:creationId xmlns:a16="http://schemas.microsoft.com/office/drawing/2014/main" id="{3DB1B8C2-0F3B-5586-C301-9C98A8E4E8FA}"/>
              </a:ext>
            </a:extLst>
          </p:cNvPr>
          <p:cNvSpPr txBox="1"/>
          <p:nvPr/>
        </p:nvSpPr>
        <p:spPr>
          <a:xfrm>
            <a:off x="257954" y="1257300"/>
            <a:ext cx="14448646" cy="8402300"/>
          </a:xfrm>
          <a:prstGeom prst="rect">
            <a:avLst/>
          </a:prstGeom>
          <a:noFill/>
        </p:spPr>
        <p:txBody>
          <a:bodyPr wrap="square">
            <a:spAutoFit/>
          </a:bodyPr>
          <a:lstStyle/>
          <a:p>
            <a:pPr marL="914400" lvl="0" indent="-914400">
              <a:buFont typeface="+mj-lt"/>
              <a:buAutoNum type="arabicPeriod"/>
            </a:pPr>
            <a:r>
              <a:rPr lang="en-US" sz="3600" dirty="0"/>
              <a:t>A Machine Learning model begins with a clearly defined computational problem.</a:t>
            </a:r>
          </a:p>
          <a:p>
            <a:pPr marL="914400" lvl="0" indent="-914400">
              <a:buFont typeface="+mj-lt"/>
              <a:buAutoNum type="arabicPeriod"/>
            </a:pPr>
            <a:r>
              <a:rPr lang="en-US" sz="3600" dirty="0"/>
              <a:t>The selection of features and target variable determines what the model can learn.</a:t>
            </a:r>
          </a:p>
          <a:p>
            <a:pPr marL="914400" lvl="0" indent="-914400">
              <a:buFont typeface="+mj-lt"/>
              <a:buAutoNum type="arabicPeriod"/>
            </a:pPr>
            <a:r>
              <a:rPr lang="en-US" sz="3600" dirty="0"/>
              <a:t>A baseline model provides an essential reference for later experiments.</a:t>
            </a:r>
          </a:p>
          <a:p>
            <a:pPr marL="914400" lvl="0" indent="-914400">
              <a:buFont typeface="+mj-lt"/>
              <a:buAutoNum type="arabicPeriod"/>
            </a:pPr>
            <a:r>
              <a:rPr lang="en-US" sz="3600" dirty="0"/>
              <a:t>Training and testing must be separated to estimate performance on unseen data.</a:t>
            </a:r>
          </a:p>
          <a:p>
            <a:pPr marL="914400" lvl="0" indent="-914400">
              <a:buFont typeface="+mj-lt"/>
              <a:buAutoNum type="arabicPeriod"/>
            </a:pPr>
            <a:r>
              <a:rPr lang="en-US" sz="3600" dirty="0"/>
              <a:t>Evaluation metrics must match the research problem and the consequences of errors.</a:t>
            </a:r>
          </a:p>
          <a:p>
            <a:pPr marL="914400" lvl="0" indent="-914400">
              <a:buFont typeface="+mj-lt"/>
              <a:buAutoNum type="arabicPeriod"/>
            </a:pPr>
            <a:r>
              <a:rPr lang="en-US" sz="3600" dirty="0"/>
              <a:t>Baseline results should guide improvement, comparison, and further experimentation.</a:t>
            </a:r>
          </a:p>
          <a:p>
            <a:pPr marL="914400" lvl="0" indent="-914400">
              <a:buFont typeface="+mj-lt"/>
              <a:buAutoNum type="arabicPeriod"/>
            </a:pPr>
            <a:r>
              <a:rPr lang="en-US" sz="3600" dirty="0"/>
              <a:t>NLP projects can establish transparent traditional baselines before moving to advanced language models.</a:t>
            </a:r>
          </a:p>
          <a:p>
            <a:pPr marL="914400" lvl="0" indent="-914400">
              <a:buFont typeface="+mj-lt"/>
              <a:buAutoNum type="arabicPeriod"/>
            </a:pPr>
            <a:r>
              <a:rPr lang="en-US" sz="3600" dirty="0"/>
              <a:t>Every experiment should be documented for reproducibility and thesis writing.</a:t>
            </a:r>
          </a:p>
        </p:txBody>
      </p:sp>
    </p:spTree>
    <p:extLst>
      <p:ext uri="{BB962C8B-B14F-4D97-AF65-F5344CB8AC3E}">
        <p14:creationId xmlns:p14="http://schemas.microsoft.com/office/powerpoint/2010/main" val="38302232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0FBDD-2125-0D67-AEBE-EBB3B9D0736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3ED5904-604C-39E9-EA33-0B65C9471278}"/>
              </a:ext>
            </a:extLst>
          </p:cNvPr>
          <p:cNvSpPr/>
          <p:nvPr/>
        </p:nvSpPr>
        <p:spPr>
          <a:xfrm flipH="1">
            <a:off x="10744200" y="876300"/>
            <a:ext cx="8725959" cy="10723864"/>
          </a:xfrm>
          <a:custGeom>
            <a:avLst/>
            <a:gdLst/>
            <a:ahLst/>
            <a:cxnLst/>
            <a:rect l="l" t="t" r="r" b="b"/>
            <a:pathLst>
              <a:path w="10704366" h="10723864">
                <a:moveTo>
                  <a:pt x="0" y="0"/>
                </a:moveTo>
                <a:lnTo>
                  <a:pt x="10704366" y="0"/>
                </a:lnTo>
                <a:lnTo>
                  <a:pt x="10704366" y="10723864"/>
                </a:lnTo>
                <a:lnTo>
                  <a:pt x="0" y="10723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TextBox 4">
            <a:extLst>
              <a:ext uri="{FF2B5EF4-FFF2-40B4-BE49-F238E27FC236}">
                <a16:creationId xmlns:a16="http://schemas.microsoft.com/office/drawing/2014/main" id="{E3A8B0D5-3284-C6EA-9164-0A7FD486A4C4}"/>
              </a:ext>
            </a:extLst>
          </p:cNvPr>
          <p:cNvSpPr txBox="1"/>
          <p:nvPr/>
        </p:nvSpPr>
        <p:spPr>
          <a:xfrm>
            <a:off x="2286000" y="2933700"/>
            <a:ext cx="14448646" cy="5078313"/>
          </a:xfrm>
          <a:prstGeom prst="rect">
            <a:avLst/>
          </a:prstGeom>
          <a:noFill/>
        </p:spPr>
        <p:txBody>
          <a:bodyPr wrap="square">
            <a:spAutoFit/>
          </a:bodyPr>
          <a:lstStyle/>
          <a:p>
            <a:pPr algn="ctr"/>
            <a:r>
              <a:rPr lang="en-US" sz="5400" i="1" dirty="0"/>
              <a:t>“The purpose of a baseline model is not to prove that the first algorithm is the best. Its purpose is to establish a clear and measurable starting point. Once the researcher knows where the model begins, meaningful improvement and comparison can follow.”</a:t>
            </a:r>
            <a:endParaRPr lang="en-US" sz="5400" dirty="0"/>
          </a:p>
        </p:txBody>
      </p:sp>
    </p:spTree>
    <p:extLst>
      <p:ext uri="{BB962C8B-B14F-4D97-AF65-F5344CB8AC3E}">
        <p14:creationId xmlns:p14="http://schemas.microsoft.com/office/powerpoint/2010/main" val="24183919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 name="Freeform 2"/>
          <p:cNvSpPr/>
          <p:nvPr/>
        </p:nvSpPr>
        <p:spPr>
          <a:xfrm>
            <a:off x="-1066800" y="-1096249"/>
            <a:ext cx="12268200" cy="12030949"/>
          </a:xfrm>
          <a:custGeom>
            <a:avLst/>
            <a:gdLst/>
            <a:ahLst/>
            <a:cxnLst/>
            <a:rect l="l" t="t" r="r" b="b"/>
            <a:pathLst>
              <a:path w="6446938" h="6458681">
                <a:moveTo>
                  <a:pt x="0" y="0"/>
                </a:moveTo>
                <a:lnTo>
                  <a:pt x="6446937" y="0"/>
                </a:lnTo>
                <a:lnTo>
                  <a:pt x="6446937" y="6458681"/>
                </a:lnTo>
                <a:lnTo>
                  <a:pt x="0" y="645868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10130692" y="4267097"/>
            <a:ext cx="7128608" cy="1095335"/>
          </a:xfrm>
          <a:prstGeom prst="rect">
            <a:avLst/>
          </a:prstGeom>
        </p:spPr>
        <p:txBody>
          <a:bodyPr lIns="0" tIns="0" rIns="0" bIns="0" rtlCol="0" anchor="t">
            <a:spAutoFit/>
          </a:bodyPr>
          <a:lstStyle/>
          <a:p>
            <a:pPr marL="0" lvl="0" indent="0" algn="l">
              <a:lnSpc>
                <a:spcPts val="8099"/>
              </a:lnSpc>
              <a:spcBef>
                <a:spcPct val="0"/>
              </a:spcBef>
            </a:pPr>
            <a:r>
              <a:rPr lang="en-US" sz="8998" b="1" u="none" strike="noStrike">
                <a:solidFill>
                  <a:srgbClr val="22588D"/>
                </a:solidFill>
                <a:latin typeface="Museo Moderno Bold"/>
                <a:ea typeface="Museo Moderno Bold"/>
                <a:cs typeface="Museo Moderno Bold"/>
                <a:sym typeface="Museo Modern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5066</TotalTime>
  <Words>4608</Words>
  <Application>Microsoft Office PowerPoint</Application>
  <PresentationFormat>Custom</PresentationFormat>
  <Paragraphs>441</Paragraphs>
  <Slides>58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Museo Moderno Bold</vt:lpstr>
      <vt:lpstr>Calibri</vt:lpstr>
      <vt:lpstr>Symbol</vt:lpstr>
      <vt:lpstr>Arial</vt:lpstr>
      <vt:lpstr>MS Gothic</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Elective 3</dc:title>
  <dc:creator>Chicco_Sy</dc:creator>
  <cp:lastModifiedBy>Christian Sy</cp:lastModifiedBy>
  <cp:revision>11</cp:revision>
  <dcterms:created xsi:type="dcterms:W3CDTF">2006-08-16T00:00:00Z</dcterms:created>
  <dcterms:modified xsi:type="dcterms:W3CDTF">2026-09-20T09:34:45Z</dcterms:modified>
  <dc:identifier>DAHRrE2kD1o</dc:identifier>
</cp:coreProperties>
</file>